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8" r:id="rId1"/>
  </p:sldMasterIdLst>
  <p:notesMasterIdLst>
    <p:notesMasterId r:id="rId17"/>
  </p:notesMasterIdLst>
  <p:sldIdLst>
    <p:sldId id="256" r:id="rId2"/>
    <p:sldId id="257" r:id="rId3"/>
    <p:sldId id="258" r:id="rId4"/>
    <p:sldId id="268" r:id="rId5"/>
    <p:sldId id="267" r:id="rId6"/>
    <p:sldId id="269" r:id="rId7"/>
    <p:sldId id="270" r:id="rId8"/>
    <p:sldId id="259" r:id="rId9"/>
    <p:sldId id="275" r:id="rId10"/>
    <p:sldId id="276" r:id="rId11"/>
    <p:sldId id="277" r:id="rId12"/>
    <p:sldId id="278" r:id="rId13"/>
    <p:sldId id="271" r:id="rId14"/>
    <p:sldId id="263" r:id="rId15"/>
    <p:sldId id="274" r:id="rId1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148"/>
    <p:restoredTop sz="94659"/>
  </p:normalViewPr>
  <p:slideViewPr>
    <p:cSldViewPr snapToGrid="0">
      <p:cViewPr varScale="1">
        <p:scale>
          <a:sx n="195" d="100"/>
          <a:sy n="195" d="100"/>
        </p:scale>
        <p:origin x="1360"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
        <p:cNvGrpSpPr/>
        <p:nvPr/>
      </p:nvGrpSpPr>
      <p:grpSpPr>
        <a:xfrm>
          <a:off x="0" y="0"/>
          <a:ext cx="0" cy="0"/>
          <a:chOff x="0" y="0"/>
          <a:chExt cx="0" cy="0"/>
        </a:xfrm>
      </p:grpSpPr>
      <p:sp>
        <p:nvSpPr>
          <p:cNvPr id="55" name="Google Shape;55;g23d66680d4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 name="Google Shape;56;g23d66680d4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g23d66680d41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g23d66680d41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g23d66680d41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g23d66680d41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940007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a:extLst>
            <a:ext uri="{FF2B5EF4-FFF2-40B4-BE49-F238E27FC236}">
              <a16:creationId xmlns:a16="http://schemas.microsoft.com/office/drawing/2014/main" id="{5BB61AB7-0F58-96EF-9BCF-648C2623863C}"/>
            </a:ext>
          </a:extLst>
        </p:cNvPr>
        <p:cNvGrpSpPr/>
        <p:nvPr/>
      </p:nvGrpSpPr>
      <p:grpSpPr>
        <a:xfrm>
          <a:off x="0" y="0"/>
          <a:ext cx="0" cy="0"/>
          <a:chOff x="0" y="0"/>
          <a:chExt cx="0" cy="0"/>
        </a:xfrm>
      </p:grpSpPr>
      <p:sp>
        <p:nvSpPr>
          <p:cNvPr id="71" name="Google Shape;71;g23d66680d41_0_20:notes">
            <a:extLst>
              <a:ext uri="{FF2B5EF4-FFF2-40B4-BE49-F238E27FC236}">
                <a16:creationId xmlns:a16="http://schemas.microsoft.com/office/drawing/2014/main" id="{09B133AD-CF9A-AF03-1F59-5ADABC9410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23d66680d41_0_20:notes">
            <a:extLst>
              <a:ext uri="{FF2B5EF4-FFF2-40B4-BE49-F238E27FC236}">
                <a16:creationId xmlns:a16="http://schemas.microsoft.com/office/drawing/2014/main" id="{4B1EB55B-BBA9-3B69-BF3D-404849F0325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989292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a:extLst>
            <a:ext uri="{FF2B5EF4-FFF2-40B4-BE49-F238E27FC236}">
              <a16:creationId xmlns:a16="http://schemas.microsoft.com/office/drawing/2014/main" id="{5BB61AB7-0F58-96EF-9BCF-648C2623863C}"/>
            </a:ext>
          </a:extLst>
        </p:cNvPr>
        <p:cNvGrpSpPr/>
        <p:nvPr/>
      </p:nvGrpSpPr>
      <p:grpSpPr>
        <a:xfrm>
          <a:off x="0" y="0"/>
          <a:ext cx="0" cy="0"/>
          <a:chOff x="0" y="0"/>
          <a:chExt cx="0" cy="0"/>
        </a:xfrm>
      </p:grpSpPr>
      <p:sp>
        <p:nvSpPr>
          <p:cNvPr id="71" name="Google Shape;71;g23d66680d41_0_20:notes">
            <a:extLst>
              <a:ext uri="{FF2B5EF4-FFF2-40B4-BE49-F238E27FC236}">
                <a16:creationId xmlns:a16="http://schemas.microsoft.com/office/drawing/2014/main" id="{09B133AD-CF9A-AF03-1F59-5ADABC9410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23d66680d41_0_20:notes">
            <a:extLst>
              <a:ext uri="{FF2B5EF4-FFF2-40B4-BE49-F238E27FC236}">
                <a16:creationId xmlns:a16="http://schemas.microsoft.com/office/drawing/2014/main" id="{4B1EB55B-BBA9-3B69-BF3D-404849F0325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576451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23d66680d41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g23d66680d41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514243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3d66680d41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3d66680d41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6EA01C35-EF01-09F6-13AA-2A6011C4A72F}"/>
            </a:ext>
          </a:extLst>
        </p:cNvPr>
        <p:cNvGrpSpPr/>
        <p:nvPr/>
      </p:nvGrpSpPr>
      <p:grpSpPr>
        <a:xfrm>
          <a:off x="0" y="0"/>
          <a:ext cx="0" cy="0"/>
          <a:chOff x="0" y="0"/>
          <a:chExt cx="0" cy="0"/>
        </a:xfrm>
      </p:grpSpPr>
      <p:sp>
        <p:nvSpPr>
          <p:cNvPr id="63" name="Google Shape;63;g23d66680d41_0_10:notes">
            <a:extLst>
              <a:ext uri="{FF2B5EF4-FFF2-40B4-BE49-F238E27FC236}">
                <a16:creationId xmlns:a16="http://schemas.microsoft.com/office/drawing/2014/main" id="{9F7660D4-C614-4A53-E753-CC87CDD850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3d66680d41_0_10:notes">
            <a:extLst>
              <a:ext uri="{FF2B5EF4-FFF2-40B4-BE49-F238E27FC236}">
                <a16:creationId xmlns:a16="http://schemas.microsoft.com/office/drawing/2014/main" id="{91B74782-E5EF-C21E-8A4B-C94087813E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381755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B888C7BF-3976-CB1B-7C9A-3499EC72F1CE}"/>
            </a:ext>
          </a:extLst>
        </p:cNvPr>
        <p:cNvGrpSpPr/>
        <p:nvPr/>
      </p:nvGrpSpPr>
      <p:grpSpPr>
        <a:xfrm>
          <a:off x="0" y="0"/>
          <a:ext cx="0" cy="0"/>
          <a:chOff x="0" y="0"/>
          <a:chExt cx="0" cy="0"/>
        </a:xfrm>
      </p:grpSpPr>
      <p:sp>
        <p:nvSpPr>
          <p:cNvPr id="63" name="Google Shape;63;g23d66680d41_0_10:notes">
            <a:extLst>
              <a:ext uri="{FF2B5EF4-FFF2-40B4-BE49-F238E27FC236}">
                <a16:creationId xmlns:a16="http://schemas.microsoft.com/office/drawing/2014/main" id="{A65FEFAE-BBB7-DD8B-8526-043810A5692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3d66680d41_0_10:notes">
            <a:extLst>
              <a:ext uri="{FF2B5EF4-FFF2-40B4-BE49-F238E27FC236}">
                <a16:creationId xmlns:a16="http://schemas.microsoft.com/office/drawing/2014/main" id="{0EB2FB17-A110-745A-1263-F99942473F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61644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DE5CA573-F114-C57C-F1E2-8982BFD103C0}"/>
            </a:ext>
          </a:extLst>
        </p:cNvPr>
        <p:cNvGrpSpPr/>
        <p:nvPr/>
      </p:nvGrpSpPr>
      <p:grpSpPr>
        <a:xfrm>
          <a:off x="0" y="0"/>
          <a:ext cx="0" cy="0"/>
          <a:chOff x="0" y="0"/>
          <a:chExt cx="0" cy="0"/>
        </a:xfrm>
      </p:grpSpPr>
      <p:sp>
        <p:nvSpPr>
          <p:cNvPr id="63" name="Google Shape;63;g23d66680d41_0_10:notes">
            <a:extLst>
              <a:ext uri="{FF2B5EF4-FFF2-40B4-BE49-F238E27FC236}">
                <a16:creationId xmlns:a16="http://schemas.microsoft.com/office/drawing/2014/main" id="{3B06D5D1-49FC-3F3B-CABC-BED449F87DC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3d66680d41_0_10:notes">
            <a:extLst>
              <a:ext uri="{FF2B5EF4-FFF2-40B4-BE49-F238E27FC236}">
                <a16:creationId xmlns:a16="http://schemas.microsoft.com/office/drawing/2014/main" id="{BAACEEB2-CD47-E4D9-A746-BCAEFD7A09B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180534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3BAB5840-096A-D02D-6AEC-4397A305F030}"/>
            </a:ext>
          </a:extLst>
        </p:cNvPr>
        <p:cNvGrpSpPr/>
        <p:nvPr/>
      </p:nvGrpSpPr>
      <p:grpSpPr>
        <a:xfrm>
          <a:off x="0" y="0"/>
          <a:ext cx="0" cy="0"/>
          <a:chOff x="0" y="0"/>
          <a:chExt cx="0" cy="0"/>
        </a:xfrm>
      </p:grpSpPr>
      <p:sp>
        <p:nvSpPr>
          <p:cNvPr id="63" name="Google Shape;63;g23d66680d41_0_10:notes">
            <a:extLst>
              <a:ext uri="{FF2B5EF4-FFF2-40B4-BE49-F238E27FC236}">
                <a16:creationId xmlns:a16="http://schemas.microsoft.com/office/drawing/2014/main" id="{D89A71A8-2375-3DE0-CCFF-77938B0D6C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3d66680d41_0_10:notes">
            <a:extLst>
              <a:ext uri="{FF2B5EF4-FFF2-40B4-BE49-F238E27FC236}">
                <a16:creationId xmlns:a16="http://schemas.microsoft.com/office/drawing/2014/main" id="{54AFB4E8-1815-E8E6-75DC-A3B09D8341F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94390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a:extLst>
            <a:ext uri="{FF2B5EF4-FFF2-40B4-BE49-F238E27FC236}">
              <a16:creationId xmlns:a16="http://schemas.microsoft.com/office/drawing/2014/main" id="{C5C0422C-5211-8F42-43A7-95114523507D}"/>
            </a:ext>
          </a:extLst>
        </p:cNvPr>
        <p:cNvGrpSpPr/>
        <p:nvPr/>
      </p:nvGrpSpPr>
      <p:grpSpPr>
        <a:xfrm>
          <a:off x="0" y="0"/>
          <a:ext cx="0" cy="0"/>
          <a:chOff x="0" y="0"/>
          <a:chExt cx="0" cy="0"/>
        </a:xfrm>
      </p:grpSpPr>
      <p:sp>
        <p:nvSpPr>
          <p:cNvPr id="71" name="Google Shape;71;g23d66680d41_0_20:notes">
            <a:extLst>
              <a:ext uri="{FF2B5EF4-FFF2-40B4-BE49-F238E27FC236}">
                <a16:creationId xmlns:a16="http://schemas.microsoft.com/office/drawing/2014/main" id="{F48ED4B4-508D-0CF5-6F2A-F8A4A96C72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23d66680d41_0_20:notes">
            <a:extLst>
              <a:ext uri="{FF2B5EF4-FFF2-40B4-BE49-F238E27FC236}">
                <a16:creationId xmlns:a16="http://schemas.microsoft.com/office/drawing/2014/main" id="{2617C3DF-EE3C-BA1F-B4D1-1B85D5D69B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455170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a:extLst>
            <a:ext uri="{FF2B5EF4-FFF2-40B4-BE49-F238E27FC236}">
              <a16:creationId xmlns:a16="http://schemas.microsoft.com/office/drawing/2014/main" id="{2AA7229A-3916-7981-E59C-3C0F347621DA}"/>
            </a:ext>
          </a:extLst>
        </p:cNvPr>
        <p:cNvGrpSpPr/>
        <p:nvPr/>
      </p:nvGrpSpPr>
      <p:grpSpPr>
        <a:xfrm>
          <a:off x="0" y="0"/>
          <a:ext cx="0" cy="0"/>
          <a:chOff x="0" y="0"/>
          <a:chExt cx="0" cy="0"/>
        </a:xfrm>
      </p:grpSpPr>
      <p:sp>
        <p:nvSpPr>
          <p:cNvPr id="71" name="Google Shape;71;g23d66680d41_0_20:notes">
            <a:extLst>
              <a:ext uri="{FF2B5EF4-FFF2-40B4-BE49-F238E27FC236}">
                <a16:creationId xmlns:a16="http://schemas.microsoft.com/office/drawing/2014/main" id="{B4BC32AA-AA19-CD3A-C6CF-6BDEED7C40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23d66680d41_0_20:notes">
            <a:extLst>
              <a:ext uri="{FF2B5EF4-FFF2-40B4-BE49-F238E27FC236}">
                <a16:creationId xmlns:a16="http://schemas.microsoft.com/office/drawing/2014/main" id="{519B79FB-0D47-6169-1569-28A9160458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5429786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2" name="Google Shape;12;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3" name="Google Shape;13;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pic>
        <p:nvPicPr>
          <p:cNvPr id="14" name="Google Shape;14;p2"/>
          <p:cNvPicPr preferRelativeResize="0"/>
          <p:nvPr/>
        </p:nvPicPr>
        <p:blipFill>
          <a:blip r:embed="rId2">
            <a:alphaModFix/>
          </a:blip>
          <a:stretch>
            <a:fillRect/>
          </a:stretch>
        </p:blipFill>
        <p:spPr>
          <a:xfrm>
            <a:off x="3463213" y="4730051"/>
            <a:ext cx="2217574" cy="33725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5"/>
        <p:cNvGrpSpPr/>
        <p:nvPr/>
      </p:nvGrpSpPr>
      <p:grpSpPr>
        <a:xfrm>
          <a:off x="0" y="0"/>
          <a:ext cx="0" cy="0"/>
          <a:chOff x="0" y="0"/>
          <a:chExt cx="0" cy="0"/>
        </a:xfrm>
      </p:grpSpPr>
      <p:sp>
        <p:nvSpPr>
          <p:cNvPr id="16" name="Google Shape;16;p3"/>
          <p:cNvSpPr txBox="1">
            <a:spLocks noGrp="1"/>
          </p:cNvSpPr>
          <p:nvPr>
            <p:ph type="title"/>
          </p:nvPr>
        </p:nvSpPr>
        <p:spPr>
          <a:xfrm>
            <a:off x="391725" y="934100"/>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7" name="Google Shape;17;p3"/>
          <p:cNvSpPr txBox="1">
            <a:spLocks noGrp="1"/>
          </p:cNvSpPr>
          <p:nvPr>
            <p:ph type="body" idx="1"/>
          </p:nvPr>
        </p:nvSpPr>
        <p:spPr>
          <a:xfrm>
            <a:off x="253250" y="1857500"/>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pic>
        <p:nvPicPr>
          <p:cNvPr id="19" name="Google Shape;19;p3"/>
          <p:cNvPicPr preferRelativeResize="0"/>
          <p:nvPr/>
        </p:nvPicPr>
        <p:blipFill>
          <a:blip r:embed="rId2">
            <a:alphaModFix/>
          </a:blip>
          <a:stretch>
            <a:fillRect/>
          </a:stretch>
        </p:blipFill>
        <p:spPr>
          <a:xfrm>
            <a:off x="6983600" y="415175"/>
            <a:ext cx="1974051" cy="3001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413">
          <p15:clr>
            <a:srgbClr val="E46962"/>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4"/>
          <p:cNvSpPr txBox="1">
            <a:spLocks noGrp="1"/>
          </p:cNvSpPr>
          <p:nvPr>
            <p:ph type="title"/>
          </p:nvPr>
        </p:nvSpPr>
        <p:spPr>
          <a:xfrm>
            <a:off x="391725" y="776500"/>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4"/>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4"/>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5"/>
          <p:cNvSpPr txBox="1">
            <a:spLocks noGrp="1"/>
          </p:cNvSpPr>
          <p:nvPr>
            <p:ph type="title"/>
          </p:nvPr>
        </p:nvSpPr>
        <p:spPr>
          <a:xfrm>
            <a:off x="391725" y="776500"/>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6"/>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6"/>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7"/>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8"/>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8"/>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8"/>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8"/>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9"/>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0"/>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0"/>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12">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91725" y="776500"/>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506800"/>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pic>
        <p:nvPicPr>
          <p:cNvPr id="9" name="Google Shape;9;p1"/>
          <p:cNvPicPr preferRelativeResize="0"/>
          <p:nvPr/>
        </p:nvPicPr>
        <p:blipFill>
          <a:blip r:embed="rId13">
            <a:alphaModFix/>
          </a:blip>
          <a:stretch>
            <a:fillRect/>
          </a:stretch>
        </p:blipFill>
        <p:spPr>
          <a:xfrm>
            <a:off x="216000" y="216000"/>
            <a:ext cx="1507681" cy="647999"/>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sldNum="0"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docs.google.com/document/d/1eggFzdxiJN9FRZDgJc1m1oMWXleEBzrC/edit?usp=drive_link&amp;ouid=103715968090145917545&amp;rtpof=true&amp;sd=true"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2" name="Text Box 4">
            <a:extLst>
              <a:ext uri="{FF2B5EF4-FFF2-40B4-BE49-F238E27FC236}">
                <a16:creationId xmlns:a16="http://schemas.microsoft.com/office/drawing/2014/main" id="{52F5642A-CBAD-6EE0-2796-D807106F41AE}"/>
              </a:ext>
            </a:extLst>
          </p:cNvPr>
          <p:cNvSpPr txBox="1">
            <a:spLocks noChangeArrowheads="1"/>
          </p:cNvSpPr>
          <p:nvPr/>
        </p:nvSpPr>
        <p:spPr bwMode="auto">
          <a:xfrm>
            <a:off x="1528488" y="324981"/>
            <a:ext cx="6087022" cy="27392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defRPr/>
            </a:pPr>
            <a:r>
              <a:rPr lang="en-US" altLang="en-US" sz="2000" dirty="0">
                <a:cs typeface="Times New Roman" panose="02020603050405020304" pitchFamily="18" charset="0"/>
              </a:rPr>
              <a:t>Major Project Review -I :</a:t>
            </a:r>
          </a:p>
          <a:p>
            <a:pPr algn="ctr">
              <a:spcBef>
                <a:spcPct val="0"/>
              </a:spcBef>
              <a:buFontTx/>
              <a:buNone/>
              <a:defRPr/>
            </a:pPr>
            <a:r>
              <a:rPr lang="en-US" sz="2000" b="1" dirty="0">
                <a:solidFill>
                  <a:srgbClr val="FF0000"/>
                </a:solidFill>
                <a:effectLst/>
                <a:latin typeface="Times New Roman" panose="02020603050405020304" pitchFamily="18" charset="0"/>
                <a:ea typeface="Times New Roman" panose="02020603050405020304" pitchFamily="18" charset="0"/>
              </a:rPr>
              <a:t>MCE442P</a:t>
            </a:r>
          </a:p>
          <a:p>
            <a:pPr algn="ctr">
              <a:spcBef>
                <a:spcPct val="0"/>
              </a:spcBef>
              <a:buFontTx/>
              <a:buNone/>
              <a:defRPr/>
            </a:pPr>
            <a:endParaRPr lang="en-US" altLang="en-US" sz="2000" dirty="0">
              <a:cs typeface="Times New Roman" panose="02020603050405020304" pitchFamily="18" charset="0"/>
            </a:endParaRPr>
          </a:p>
          <a:p>
            <a:pPr algn="ctr">
              <a:spcBef>
                <a:spcPct val="0"/>
              </a:spcBef>
              <a:buFontTx/>
              <a:buNone/>
              <a:defRPr/>
            </a:pPr>
            <a:r>
              <a:rPr lang="en-US" altLang="en-US" sz="2400" b="1" kern="0" dirty="0">
                <a:cs typeface="Times New Roman" panose="02020603050405020304" pitchFamily="18" charset="0"/>
              </a:rPr>
              <a:t>ACTIS -Agentic Collaborative Threat Intelligence System via Trust-Aware Federated Learning</a:t>
            </a:r>
            <a:endParaRPr lang="en-US" altLang="en-US" sz="4400" b="1" dirty="0">
              <a:latin typeface="Cambria" panose="02040503050406030204" pitchFamily="18" charset="0"/>
              <a:cs typeface="Arial" panose="020B0604020202020204" pitchFamily="34" charset="0"/>
            </a:endParaRPr>
          </a:p>
          <a:p>
            <a:pPr algn="ctr">
              <a:spcBef>
                <a:spcPct val="0"/>
              </a:spcBef>
              <a:buFontTx/>
              <a:buNone/>
              <a:defRPr/>
            </a:pPr>
            <a:r>
              <a:rPr lang="en-US" altLang="en-US" sz="4000" dirty="0">
                <a:latin typeface="Cambria" panose="02040503050406030204" pitchFamily="18" charset="0"/>
                <a:cs typeface="Arial" panose="020B0604020202020204" pitchFamily="34" charset="0"/>
              </a:rPr>
              <a:t>                            </a:t>
            </a:r>
          </a:p>
        </p:txBody>
      </p:sp>
      <p:sp>
        <p:nvSpPr>
          <p:cNvPr id="4" name="object 2">
            <a:extLst>
              <a:ext uri="{FF2B5EF4-FFF2-40B4-BE49-F238E27FC236}">
                <a16:creationId xmlns:a16="http://schemas.microsoft.com/office/drawing/2014/main" id="{60C1A9E8-6E16-E2D0-7D46-FE5CC88DA4CD}"/>
              </a:ext>
            </a:extLst>
          </p:cNvPr>
          <p:cNvSpPr txBox="1">
            <a:spLocks noChangeArrowheads="1"/>
          </p:cNvSpPr>
          <p:nvPr/>
        </p:nvSpPr>
        <p:spPr bwMode="auto">
          <a:xfrm>
            <a:off x="692458" y="2493031"/>
            <a:ext cx="7759081" cy="2295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5198" rIns="0" bIns="0">
            <a:spAutoFit/>
          </a:bodyPr>
          <a:lstStyle>
            <a:lvl1pPr marL="12700">
              <a:spcBef>
                <a:spcPct val="20000"/>
              </a:spcBef>
              <a:tabLst>
                <a:tab pos="3514725" algn="l"/>
              </a:tabLst>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tabLst>
                <a:tab pos="3514725" algn="l"/>
              </a:tabLst>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tabLst>
                <a:tab pos="3514725" algn="l"/>
              </a:tabLst>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tabLst>
                <a:tab pos="3514725" algn="l"/>
              </a:tabLst>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tabLst>
                <a:tab pos="3514725" algn="l"/>
              </a:tabLst>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tabLst>
                <a:tab pos="3514725" algn="l"/>
              </a:tabLs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tabLst>
                <a:tab pos="3514725" algn="l"/>
              </a:tabLs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tabLst>
                <a:tab pos="3514725" algn="l"/>
              </a:tabLs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tabLst>
                <a:tab pos="3514725" algn="l"/>
              </a:tabLst>
              <a:defRPr>
                <a:solidFill>
                  <a:schemeClr val="tx1"/>
                </a:solidFill>
                <a:latin typeface="Calibri" panose="020F0502020204030204" pitchFamily="34" charset="0"/>
                <a:ea typeface="ＭＳ Ｐゴシック" panose="020B0600070205080204" pitchFamily="34" charset="-128"/>
              </a:defRPr>
            </a:lvl9pPr>
          </a:lstStyle>
          <a:p>
            <a:pPr algn="ctr">
              <a:defRPr/>
            </a:pPr>
            <a:r>
              <a:rPr lang="en-US" altLang="en-US" sz="2200" dirty="0">
                <a:latin typeface="Times New Roman" panose="02020603050405020304" pitchFamily="18" charset="0"/>
                <a:cs typeface="Times New Roman" panose="02020603050405020304" pitchFamily="18" charset="0"/>
              </a:rPr>
              <a:t>Veerasagar S S</a:t>
            </a:r>
          </a:p>
          <a:p>
            <a:pPr algn="ctr">
              <a:defRPr/>
            </a:pPr>
            <a:r>
              <a:rPr lang="en-US" altLang="en-US" sz="2200" dirty="0">
                <a:latin typeface="Times New Roman" panose="02020603050405020304" pitchFamily="18" charset="0"/>
                <a:cs typeface="Times New Roman" panose="02020603050405020304" pitchFamily="18" charset="0"/>
              </a:rPr>
              <a:t>1RV24SCS17</a:t>
            </a:r>
          </a:p>
          <a:p>
            <a:pPr>
              <a:defRPr/>
            </a:pPr>
            <a:endParaRPr lang="en-US" altLang="en-US" sz="2000" dirty="0">
              <a:latin typeface="Times New Roman" panose="02020603050405020304" pitchFamily="18" charset="0"/>
              <a:cs typeface="Times New Roman" panose="02020603050405020304" pitchFamily="18" charset="0"/>
            </a:endParaRPr>
          </a:p>
          <a:p>
            <a:pPr algn="ctr">
              <a:defRPr/>
            </a:pPr>
            <a:r>
              <a:rPr lang="en-US" altLang="en-US" sz="2000" kern="0" dirty="0">
                <a:latin typeface="Times New Roman" panose="02020603050405020304" pitchFamily="18" charset="0"/>
                <a:cs typeface="Times New Roman" panose="02020603050405020304" pitchFamily="18" charset="0"/>
              </a:rPr>
              <a:t>    Dr. Rajashree Shettar</a:t>
            </a:r>
          </a:p>
          <a:p>
            <a:pPr algn="ctr">
              <a:defRPr/>
            </a:pPr>
            <a:r>
              <a:rPr lang="en-US" altLang="en-US" sz="2000" dirty="0">
                <a:latin typeface="Times New Roman" panose="02020603050405020304" pitchFamily="18" charset="0"/>
                <a:cs typeface="Times New Roman" panose="02020603050405020304" pitchFamily="18" charset="0"/>
              </a:rPr>
              <a:t>Professor</a:t>
            </a:r>
            <a:endParaRPr lang="en-US" altLang="en-US" sz="2000" kern="0" dirty="0">
              <a:latin typeface="Times New Roman" panose="02020603050405020304" pitchFamily="18" charset="0"/>
              <a:cs typeface="Times New Roman" panose="02020603050405020304" pitchFamily="18" charset="0"/>
            </a:endParaRPr>
          </a:p>
          <a:p>
            <a:pPr algn="ctr">
              <a:defRPr/>
            </a:pPr>
            <a:r>
              <a:rPr lang="en-US" altLang="en-US" sz="2000" dirty="0">
                <a:latin typeface="Times New Roman" panose="02020603050405020304" pitchFamily="18" charset="0"/>
                <a:cs typeface="Times New Roman" panose="02020603050405020304" pitchFamily="18" charset="0"/>
              </a:rPr>
              <a:t>Dept. of CSE, RVCE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7"/>
        <p:cNvGrpSpPr/>
        <p:nvPr/>
      </p:nvGrpSpPr>
      <p:grpSpPr>
        <a:xfrm>
          <a:off x="0" y="0"/>
          <a:ext cx="0" cy="0"/>
          <a:chOff x="0" y="0"/>
          <a:chExt cx="0" cy="0"/>
        </a:xfrm>
      </p:grpSpPr>
      <p:sp>
        <p:nvSpPr>
          <p:cNvPr id="2" name="object 2">
            <a:extLst>
              <a:ext uri="{FF2B5EF4-FFF2-40B4-BE49-F238E27FC236}">
                <a16:creationId xmlns:a16="http://schemas.microsoft.com/office/drawing/2014/main" id="{14B67595-1B51-83EF-7FC9-8270560311A2}"/>
              </a:ext>
            </a:extLst>
          </p:cNvPr>
          <p:cNvSpPr txBox="1">
            <a:spLocks noChangeArrowheads="1"/>
          </p:cNvSpPr>
          <p:nvPr/>
        </p:nvSpPr>
        <p:spPr bwMode="auto">
          <a:xfrm>
            <a:off x="451835" y="947287"/>
            <a:ext cx="7645705" cy="30283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698500" indent="-685800">
              <a:spcBef>
                <a:spcPct val="20000"/>
              </a:spcBef>
              <a:tabLst>
                <a:tab pos="8416925" algn="l"/>
              </a:tabLst>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tabLst>
                <a:tab pos="8416925" algn="l"/>
              </a:tabLst>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tabLst>
                <a:tab pos="8416925" algn="l"/>
              </a:tabLst>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tabLst>
                <a:tab pos="8416925" algn="l"/>
              </a:tabLst>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tabLst>
                <a:tab pos="8416925" algn="l"/>
              </a:tabLst>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tabLst>
                <a:tab pos="8416925" algn="l"/>
              </a:tabLs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tabLst>
                <a:tab pos="8416925" algn="l"/>
              </a:tabLs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tabLst>
                <a:tab pos="8416925" algn="l"/>
              </a:tabLs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tabLst>
                <a:tab pos="8416925" algn="l"/>
              </a:tabLst>
              <a:defRPr>
                <a:solidFill>
                  <a:schemeClr val="tx1"/>
                </a:solidFill>
                <a:latin typeface="Calibri" panose="020F0502020204030204" pitchFamily="34" charset="0"/>
                <a:ea typeface="ＭＳ Ｐゴシック" panose="020B0600070205080204" pitchFamily="34" charset="-128"/>
              </a:defRPr>
            </a:lvl9pPr>
          </a:lstStyle>
          <a:p>
            <a:pPr>
              <a:spcBef>
                <a:spcPct val="0"/>
              </a:spcBef>
              <a:buFontTx/>
              <a:buChar char="•"/>
            </a:pPr>
            <a:r>
              <a:rPr lang="en-US" altLang="en-US" sz="2800" dirty="0"/>
              <a:t>Introduction about the project</a:t>
            </a:r>
          </a:p>
          <a:p>
            <a:pPr>
              <a:spcBef>
                <a:spcPct val="0"/>
              </a:spcBef>
              <a:buFontTx/>
              <a:buChar char="•"/>
            </a:pPr>
            <a:r>
              <a:rPr lang="en-US" sz="2800" dirty="0"/>
              <a:t>Relevance of Topic and Problem Identification</a:t>
            </a:r>
          </a:p>
          <a:p>
            <a:pPr>
              <a:spcBef>
                <a:spcPct val="0"/>
              </a:spcBef>
              <a:buFontTx/>
              <a:buChar char="•"/>
            </a:pPr>
            <a:r>
              <a:rPr lang="en-US" altLang="en-US" sz="2800" dirty="0"/>
              <a:t>Project Objectives</a:t>
            </a:r>
          </a:p>
          <a:p>
            <a:pPr>
              <a:spcBef>
                <a:spcPct val="0"/>
              </a:spcBef>
              <a:buFontTx/>
              <a:buChar char="•"/>
            </a:pPr>
            <a:r>
              <a:rPr lang="en-US" altLang="en-US" sz="2800" dirty="0"/>
              <a:t>Project Scope </a:t>
            </a:r>
          </a:p>
          <a:p>
            <a:pPr>
              <a:spcBef>
                <a:spcPct val="0"/>
              </a:spcBef>
              <a:buFontTx/>
              <a:buChar char="•"/>
            </a:pPr>
            <a:r>
              <a:rPr lang="en-US" sz="2800" dirty="0"/>
              <a:t>Literature Survey</a:t>
            </a:r>
          </a:p>
          <a:p>
            <a:pPr>
              <a:spcBef>
                <a:spcPct val="0"/>
              </a:spcBef>
              <a:buFontTx/>
              <a:buChar char="•"/>
            </a:pPr>
            <a:r>
              <a:rPr lang="en-US" altLang="en-US" sz="2800" dirty="0"/>
              <a:t>Synopsis</a:t>
            </a:r>
          </a:p>
          <a:p>
            <a:pPr>
              <a:spcBef>
                <a:spcPct val="0"/>
              </a:spcBef>
              <a:buFontTx/>
              <a:buChar char="•"/>
            </a:pPr>
            <a:r>
              <a:rPr lang="en-US" altLang="en-US" sz="2800" dirty="0"/>
              <a:t>References</a:t>
            </a:r>
            <a:endParaRPr lang="en-US" altLang="en-US" sz="2800" dirty="0">
              <a:latin typeface="Times New Roman" panose="02020603050405020304" pitchFamily="18" charset="0"/>
              <a:cs typeface="Times New Roman" panose="02020603050405020304" pitchFamily="18" charset="0"/>
            </a:endParaRPr>
          </a:p>
        </p:txBody>
      </p:sp>
      <p:sp>
        <p:nvSpPr>
          <p:cNvPr id="3" name="object 9">
            <a:extLst>
              <a:ext uri="{FF2B5EF4-FFF2-40B4-BE49-F238E27FC236}">
                <a16:creationId xmlns:a16="http://schemas.microsoft.com/office/drawing/2014/main" id="{1C6535F3-EE55-3BB0-8314-AEE11BB14C2A}"/>
              </a:ext>
            </a:extLst>
          </p:cNvPr>
          <p:cNvSpPr txBox="1">
            <a:spLocks noChangeArrowheads="1"/>
          </p:cNvSpPr>
          <p:nvPr/>
        </p:nvSpPr>
        <p:spPr bwMode="auto">
          <a:xfrm>
            <a:off x="2752874" y="210473"/>
            <a:ext cx="4610750" cy="1086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tabLst>
                <a:tab pos="6483350" algn="l"/>
              </a:tabLst>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tabLst>
                <a:tab pos="6483350" algn="l"/>
              </a:tabLst>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tabLst>
                <a:tab pos="6483350" algn="l"/>
              </a:tabLst>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tabLst>
                <a:tab pos="6483350" algn="l"/>
              </a:tabLst>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tabLst>
                <a:tab pos="6483350" algn="l"/>
              </a:tabLst>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tabLst>
                <a:tab pos="6483350" algn="l"/>
              </a:tabLs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tabLst>
                <a:tab pos="6483350" algn="l"/>
              </a:tabLs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tabLst>
                <a:tab pos="6483350" algn="l"/>
              </a:tabLs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tabLst>
                <a:tab pos="6483350" algn="l"/>
              </a:tabLst>
              <a:defRPr>
                <a:solidFill>
                  <a:schemeClr val="tx1"/>
                </a:solidFill>
                <a:latin typeface="Calibri" panose="020F0502020204030204" pitchFamily="34" charset="0"/>
                <a:ea typeface="ＭＳ Ｐゴシック" panose="020B0600070205080204" pitchFamily="34" charset="-128"/>
              </a:defRPr>
            </a:lvl9pPr>
          </a:lstStyle>
          <a:p>
            <a:pPr eaLnBrk="1" hangingPunct="1">
              <a:spcBef>
                <a:spcPts val="100"/>
              </a:spcBef>
            </a:pPr>
            <a:r>
              <a:rPr lang="en-US" altLang="en-US" sz="2000" dirty="0">
                <a:latin typeface="Times New Roman" panose="02020603050405020304" pitchFamily="18" charset="0"/>
                <a:cs typeface="Times New Roman" panose="02020603050405020304" pitchFamily="18" charset="0"/>
              </a:rPr>
              <a:t>PRESENTATION CONTENTS</a:t>
            </a:r>
          </a:p>
          <a:p>
            <a:pPr eaLnBrk="1" hangingPunct="1">
              <a:spcBef>
                <a:spcPts val="100"/>
              </a:spcBef>
            </a:pPr>
            <a:endParaRPr lang="en-US" altLang="en-US" sz="4900" dirty="0">
              <a:solidFill>
                <a:srgbClr val="005893"/>
              </a:solidFill>
              <a:latin typeface="Playfair Display" panose="00000500000000000000" pitchFamily="2" charset="0"/>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2" name="object 8">
            <a:extLst>
              <a:ext uri="{FF2B5EF4-FFF2-40B4-BE49-F238E27FC236}">
                <a16:creationId xmlns:a16="http://schemas.microsoft.com/office/drawing/2014/main" id="{F2E7B7E9-21CB-4681-BDA3-90D7F3F4E983}"/>
              </a:ext>
            </a:extLst>
          </p:cNvPr>
          <p:cNvSpPr txBox="1">
            <a:spLocks noChangeArrowheads="1"/>
          </p:cNvSpPr>
          <p:nvPr/>
        </p:nvSpPr>
        <p:spPr bwMode="auto">
          <a:xfrm>
            <a:off x="2519429" y="117057"/>
            <a:ext cx="4105141" cy="319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a:spcBef>
                <a:spcPct val="0"/>
              </a:spcBef>
            </a:pPr>
            <a:r>
              <a:rPr lang="en-US" altLang="en-US" sz="2000" dirty="0">
                <a:latin typeface="Times New Roman" panose="02020603050405020304" pitchFamily="18" charset="0"/>
                <a:cs typeface="Times New Roman" panose="02020603050405020304" pitchFamily="18" charset="0"/>
              </a:rPr>
              <a:t>       Introduction about the project</a:t>
            </a:r>
          </a:p>
        </p:txBody>
      </p:sp>
      <p:sp>
        <p:nvSpPr>
          <p:cNvPr id="5" name="TextBox 4">
            <a:extLst>
              <a:ext uri="{FF2B5EF4-FFF2-40B4-BE49-F238E27FC236}">
                <a16:creationId xmlns:a16="http://schemas.microsoft.com/office/drawing/2014/main" id="{B4042DDB-D2C7-C416-A797-BB2A0AA68F7D}"/>
              </a:ext>
            </a:extLst>
          </p:cNvPr>
          <p:cNvSpPr txBox="1"/>
          <p:nvPr/>
        </p:nvSpPr>
        <p:spPr>
          <a:xfrm>
            <a:off x="790303" y="1280160"/>
            <a:ext cx="184731" cy="307777"/>
          </a:xfrm>
          <a:prstGeom prst="rect">
            <a:avLst/>
          </a:prstGeom>
          <a:noFill/>
        </p:spPr>
        <p:txBody>
          <a:bodyPr wrap="none" rtlCol="0">
            <a:spAutoFit/>
          </a:bodyPr>
          <a:lstStyle/>
          <a:p>
            <a:endParaRPr lang="en-US" dirty="0"/>
          </a:p>
        </p:txBody>
      </p:sp>
      <p:sp>
        <p:nvSpPr>
          <p:cNvPr id="6" name="TextBox 5">
            <a:extLst>
              <a:ext uri="{FF2B5EF4-FFF2-40B4-BE49-F238E27FC236}">
                <a16:creationId xmlns:a16="http://schemas.microsoft.com/office/drawing/2014/main" id="{E9AFFB70-96FD-BDB7-F909-51AE5A412E77}"/>
              </a:ext>
            </a:extLst>
          </p:cNvPr>
          <p:cNvSpPr txBox="1"/>
          <p:nvPr/>
        </p:nvSpPr>
        <p:spPr>
          <a:xfrm>
            <a:off x="414744" y="889963"/>
            <a:ext cx="8314509" cy="4253537"/>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Modern enterprise networks are facing an unprecedented volume of sophisticated, fast-moving cyber attacks. Threat actors are increasingly utilizing automated tools and AI to generate novel "zero-day" exploits that bypass traditional, signature-based defenses.</a:t>
            </a:r>
          </a:p>
          <a:p>
            <a:pPr marL="285750" indent="-285750">
              <a:lnSpc>
                <a:spcPct val="150000"/>
              </a:lnSpc>
              <a:buFont typeface="Arial" panose="020B0604020202020204" pitchFamily="34" charset="0"/>
              <a:buChar char="•"/>
            </a:pPr>
            <a:r>
              <a:rPr lang="en-US" dirty="0"/>
              <a:t>Currently, organizations operate in silos. When a zero-day attack breaches Company A, Company B remains entirely unaware and vulnerable until security vendors manually analyze the breach and distribute a patch. This "human-in-the-loop" latency is the exact window where attacks propagate globally.</a:t>
            </a:r>
          </a:p>
          <a:p>
            <a:pPr marL="285750" indent="-285750">
              <a:lnSpc>
                <a:spcPct val="150000"/>
              </a:lnSpc>
              <a:buFont typeface="Arial" panose="020B0604020202020204" pitchFamily="34" charset="0"/>
              <a:buChar char="•"/>
            </a:pPr>
            <a:r>
              <a:rPr lang="en-US" dirty="0"/>
              <a:t>The logical solution is for organizations to pool their network traffic logs to train a massive, collective AI defense system. However, strict data privacy laws (like GDPR and CCPA) and the risk of leaking internal IP addresses, user credentials, or proprietary network structures (Personally Identifiable Information - PII) make sharing raw telemetry legally and operationally impossible. </a:t>
            </a:r>
          </a:p>
          <a:p>
            <a:pPr marL="285750" indent="-285750">
              <a:lnSpc>
                <a:spcPct val="150000"/>
              </a:lnSpc>
              <a:buFont typeface="Arial" panose="020B0604020202020204" pitchFamily="34" charset="0"/>
              <a:buChar char="•"/>
            </a:pPr>
            <a:r>
              <a:rPr lang="en-US" dirty="0"/>
              <a:t>This project introduces </a:t>
            </a:r>
            <a:r>
              <a:rPr lang="en-US" b="1" dirty="0"/>
              <a:t>ACTIS (Agentic Collaborative Threat Intelligence System)</a:t>
            </a:r>
            <a:r>
              <a:rPr lang="en-US" dirty="0"/>
              <a:t>, a comprehensive AI-driven framework designed to solve the collaboration-privacy paradox.</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2" name="object 8">
            <a:extLst>
              <a:ext uri="{FF2B5EF4-FFF2-40B4-BE49-F238E27FC236}">
                <a16:creationId xmlns:a16="http://schemas.microsoft.com/office/drawing/2014/main" id="{F2E7B7E9-21CB-4681-BDA3-90D7F3F4E983}"/>
              </a:ext>
            </a:extLst>
          </p:cNvPr>
          <p:cNvSpPr txBox="1">
            <a:spLocks noChangeArrowheads="1"/>
          </p:cNvSpPr>
          <p:nvPr/>
        </p:nvSpPr>
        <p:spPr bwMode="auto">
          <a:xfrm>
            <a:off x="2519429" y="162777"/>
            <a:ext cx="4105141" cy="319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algn="ctr">
              <a:spcBef>
                <a:spcPct val="0"/>
              </a:spcBef>
            </a:pPr>
            <a:r>
              <a:rPr lang="en-US" altLang="en-US" sz="2000" dirty="0">
                <a:latin typeface="+mj-lt"/>
                <a:cs typeface="Times New Roman" panose="02020603050405020304" pitchFamily="18" charset="0"/>
              </a:rPr>
              <a:t>Relevance of Topic</a:t>
            </a:r>
          </a:p>
        </p:txBody>
      </p:sp>
      <p:sp>
        <p:nvSpPr>
          <p:cNvPr id="4" name="TextBox 3">
            <a:extLst>
              <a:ext uri="{FF2B5EF4-FFF2-40B4-BE49-F238E27FC236}">
                <a16:creationId xmlns:a16="http://schemas.microsoft.com/office/drawing/2014/main" id="{18C9D16F-4604-4E84-7958-745FC256B53F}"/>
              </a:ext>
            </a:extLst>
          </p:cNvPr>
          <p:cNvSpPr txBox="1"/>
          <p:nvPr/>
        </p:nvSpPr>
        <p:spPr>
          <a:xfrm>
            <a:off x="287382" y="1103812"/>
            <a:ext cx="8569234" cy="263771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1" dirty="0"/>
              <a:t>The "Data Sharing" Problem:</a:t>
            </a:r>
            <a:r>
              <a:rPr lang="en-US" dirty="0"/>
              <a:t> Hospitals and banks </a:t>
            </a:r>
            <a:r>
              <a:rPr lang="en-US" i="1" dirty="0"/>
              <a:t>want</a:t>
            </a:r>
            <a:r>
              <a:rPr lang="en-US" dirty="0"/>
              <a:t> to share threat alerts to help each other, but privacy laws (like GDPR) legally stop them from doing it.</a:t>
            </a:r>
          </a:p>
          <a:p>
            <a:pPr marL="285750" indent="-285750">
              <a:lnSpc>
                <a:spcPct val="150000"/>
              </a:lnSpc>
              <a:buFont typeface="Arial" panose="020B0604020202020204" pitchFamily="34" charset="0"/>
              <a:buChar char="•"/>
            </a:pPr>
            <a:r>
              <a:rPr lang="en-US" b="1" dirty="0"/>
              <a:t>The Power of Federated Learning:</a:t>
            </a:r>
            <a:r>
              <a:rPr lang="en-US" dirty="0"/>
              <a:t> ACTIS proves companies can build a massive, shared defense AI together </a:t>
            </a:r>
            <a:r>
              <a:rPr lang="en-US" i="1" dirty="0"/>
              <a:t>without ever showing each other their private data</a:t>
            </a:r>
            <a:r>
              <a:rPr lang="en-US" dirty="0"/>
              <a:t>.</a:t>
            </a:r>
          </a:p>
          <a:p>
            <a:pPr marL="285750" indent="-285750">
              <a:lnSpc>
                <a:spcPct val="150000"/>
              </a:lnSpc>
              <a:buFont typeface="Arial" panose="020B0604020202020204" pitchFamily="34" charset="0"/>
              <a:buChar char="•"/>
            </a:pPr>
            <a:r>
              <a:rPr lang="en-US" b="1" dirty="0"/>
              <a:t>Beating AI at its Own Game:</a:t>
            </a:r>
            <a:r>
              <a:rPr lang="en-US" dirty="0"/>
              <a:t> Hackers use Artificial Intelligence to write new viruses constantly. Old firewalls are too slow, so we must use our own AI to fight back.</a:t>
            </a:r>
          </a:p>
          <a:p>
            <a:pPr marL="285750" indent="-285750">
              <a:lnSpc>
                <a:spcPct val="150000"/>
              </a:lnSpc>
              <a:buFont typeface="Arial" panose="020B0604020202020204" pitchFamily="34" charset="0"/>
              <a:buChar char="•"/>
            </a:pPr>
            <a:r>
              <a:rPr lang="en-US" b="1" dirty="0"/>
              <a:t>No More Human Delay:</a:t>
            </a:r>
            <a:r>
              <a:rPr lang="en-US" dirty="0"/>
              <a:t> When an attack happens, humans take hours to type out a patch. ACTIS automatically writes the firewall rule and blocks the hacker in seconds.</a:t>
            </a:r>
          </a:p>
        </p:txBody>
      </p:sp>
    </p:spTree>
    <p:extLst>
      <p:ext uri="{BB962C8B-B14F-4D97-AF65-F5344CB8AC3E}">
        <p14:creationId xmlns:p14="http://schemas.microsoft.com/office/powerpoint/2010/main" val="8916157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3">
          <a:extLst>
            <a:ext uri="{FF2B5EF4-FFF2-40B4-BE49-F238E27FC236}">
              <a16:creationId xmlns:a16="http://schemas.microsoft.com/office/drawing/2014/main" id="{303D71C0-83E8-CD31-C4F0-1A56EA2AF01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D6AD8E5-B649-4AAE-5C5D-7CAA93055127}"/>
              </a:ext>
            </a:extLst>
          </p:cNvPr>
          <p:cNvSpPr txBox="1"/>
          <p:nvPr/>
        </p:nvSpPr>
        <p:spPr>
          <a:xfrm>
            <a:off x="2286000" y="165088"/>
            <a:ext cx="4572000" cy="400110"/>
          </a:xfrm>
          <a:prstGeom prst="rect">
            <a:avLst/>
          </a:prstGeom>
          <a:noFill/>
        </p:spPr>
        <p:txBody>
          <a:bodyPr wrap="square">
            <a:spAutoFit/>
          </a:bodyPr>
          <a:lstStyle/>
          <a:p>
            <a:pPr algn="ctr">
              <a:spcBef>
                <a:spcPct val="0"/>
              </a:spcBef>
            </a:pPr>
            <a:r>
              <a:rPr lang="en-US" altLang="en-US" sz="2000" dirty="0">
                <a:solidFill>
                  <a:schemeClr val="tx1"/>
                </a:solidFill>
              </a:rPr>
              <a:t>Problem Identification</a:t>
            </a:r>
          </a:p>
        </p:txBody>
      </p:sp>
      <p:sp>
        <p:nvSpPr>
          <p:cNvPr id="3" name="TextBox 2">
            <a:extLst>
              <a:ext uri="{FF2B5EF4-FFF2-40B4-BE49-F238E27FC236}">
                <a16:creationId xmlns:a16="http://schemas.microsoft.com/office/drawing/2014/main" id="{61EB9FC0-7104-FA9A-92AD-AF48A97BB807}"/>
              </a:ext>
            </a:extLst>
          </p:cNvPr>
          <p:cNvSpPr txBox="1"/>
          <p:nvPr/>
        </p:nvSpPr>
        <p:spPr>
          <a:xfrm>
            <a:off x="267789" y="1028394"/>
            <a:ext cx="8601891" cy="3754874"/>
          </a:xfrm>
          <a:prstGeom prst="rect">
            <a:avLst/>
          </a:prstGeom>
          <a:noFill/>
        </p:spPr>
        <p:txBody>
          <a:bodyPr wrap="square">
            <a:spAutoFit/>
          </a:bodyPr>
          <a:lstStyle/>
          <a:p>
            <a:pPr marL="285750" indent="-285750">
              <a:buFont typeface="Arial" panose="020B0604020202020204" pitchFamily="34" charset="0"/>
              <a:buChar char="•"/>
            </a:pPr>
            <a:r>
              <a:rPr lang="en-US" b="1" dirty="0"/>
              <a:t>The Privacy vs. Actionability Dilemma:</a:t>
            </a:r>
            <a:r>
              <a:rPr lang="en-US" dirty="0"/>
              <a:t> Current collaborative architectures force a compromised choice. Systems that share actionable threat logs (like SIEMs) risk leaking vast amounts of Personally Identifiable Information (PII) and internal network structures. Conversely, standard Federated Learning (FL) systems preserve privacy by sharing only model weights, but they offer zero human-readable context or "explainability" to analysts regarding </a:t>
            </a:r>
            <a:r>
              <a:rPr lang="en-US" i="1" dirty="0"/>
              <a:t>what</a:t>
            </a:r>
            <a:r>
              <a:rPr lang="en-US" dirty="0"/>
              <a:t> the attack actually is.</a:t>
            </a:r>
          </a:p>
          <a:p>
            <a:pPr marL="285750" indent="-285750">
              <a:buFont typeface="Arial" panose="020B0604020202020204" pitchFamily="34" charset="0"/>
              <a:buChar char="•"/>
            </a:pPr>
            <a:r>
              <a:rPr lang="en-US" b="1" dirty="0"/>
              <a:t>Federated Fragility Against Real-World (Non-IID) Data:</a:t>
            </a:r>
            <a:r>
              <a:rPr lang="en-US" dirty="0"/>
              <a:t> Traditional federated aggregation algorithms (like </a:t>
            </a:r>
            <a:r>
              <a:rPr lang="en-US" dirty="0" err="1"/>
              <a:t>FedAvg</a:t>
            </a:r>
            <a:r>
              <a:rPr lang="en-US" dirty="0"/>
              <a:t>) assume all network traffic looks identical. When deployed across real-world corporate networks with vastly misaligned (Non-IID) traffic distributions, these standard algorithms mathematically diverge or collapse entirely.</a:t>
            </a:r>
          </a:p>
          <a:p>
            <a:pPr marL="285750" indent="-285750">
              <a:buFont typeface="Arial" panose="020B0604020202020204" pitchFamily="34" charset="0"/>
              <a:buChar char="•"/>
            </a:pPr>
            <a:r>
              <a:rPr lang="en-US" b="1" dirty="0"/>
              <a:t>Vulnerability to Decentralized Model Poisoning:</a:t>
            </a:r>
            <a:r>
              <a:rPr lang="en-US" dirty="0"/>
              <a:t> Decentralized AI networks are inherently fragile to insider threats. A single compromised, malfunctioning, or malicious edge node submitting erratic model updates can effectively "poison" the global Intrusion Detection System (IDS), rendering all participating organizations defenseless.</a:t>
            </a:r>
          </a:p>
          <a:p>
            <a:pPr marL="285750" indent="-285750">
              <a:buFont typeface="Arial" panose="020B0604020202020204" pitchFamily="34" charset="0"/>
              <a:buChar char="•"/>
            </a:pPr>
            <a:r>
              <a:rPr lang="en-US" b="1" dirty="0"/>
              <a:t>The "Human-in-the-Loop" Zero-Day Vulnerability:</a:t>
            </a:r>
            <a:r>
              <a:rPr lang="en-US" dirty="0"/>
              <a:t> Even when an advanced system correctly categorizes and shares a novel threat, human security analysts must manually read the report, synthesize a patch, and write firewall rules. This manual latency creates the exact time window where zero-day horizontal attacks propagate and inflict maximum damage.</a:t>
            </a:r>
          </a:p>
        </p:txBody>
      </p:sp>
    </p:spTree>
    <p:extLst>
      <p:ext uri="{BB962C8B-B14F-4D97-AF65-F5344CB8AC3E}">
        <p14:creationId xmlns:p14="http://schemas.microsoft.com/office/powerpoint/2010/main" val="33701743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3">
          <a:extLst>
            <a:ext uri="{FF2B5EF4-FFF2-40B4-BE49-F238E27FC236}">
              <a16:creationId xmlns:a16="http://schemas.microsoft.com/office/drawing/2014/main" id="{303D71C0-83E8-CD31-C4F0-1A56EA2AF01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D6AD8E5-B649-4AAE-5C5D-7CAA93055127}"/>
              </a:ext>
            </a:extLst>
          </p:cNvPr>
          <p:cNvSpPr txBox="1"/>
          <p:nvPr/>
        </p:nvSpPr>
        <p:spPr>
          <a:xfrm>
            <a:off x="2286000" y="165088"/>
            <a:ext cx="4572000" cy="400110"/>
          </a:xfrm>
          <a:prstGeom prst="rect">
            <a:avLst/>
          </a:prstGeom>
          <a:noFill/>
        </p:spPr>
        <p:txBody>
          <a:bodyPr wrap="square">
            <a:spAutoFit/>
          </a:bodyPr>
          <a:lstStyle/>
          <a:p>
            <a:pPr algn="ctr">
              <a:spcBef>
                <a:spcPct val="0"/>
              </a:spcBef>
            </a:pPr>
            <a:r>
              <a:rPr lang="en-US" altLang="en-US" sz="2000" dirty="0">
                <a:solidFill>
                  <a:schemeClr val="tx1"/>
                </a:solidFill>
              </a:rPr>
              <a:t>Project Objectives</a:t>
            </a:r>
          </a:p>
        </p:txBody>
      </p:sp>
      <p:sp>
        <p:nvSpPr>
          <p:cNvPr id="3" name="TextBox 2">
            <a:extLst>
              <a:ext uri="{FF2B5EF4-FFF2-40B4-BE49-F238E27FC236}">
                <a16:creationId xmlns:a16="http://schemas.microsoft.com/office/drawing/2014/main" id="{52DE0F80-E661-7398-F4C8-7EFBEF2FA6F9}"/>
              </a:ext>
            </a:extLst>
          </p:cNvPr>
          <p:cNvSpPr txBox="1"/>
          <p:nvPr/>
        </p:nvSpPr>
        <p:spPr>
          <a:xfrm>
            <a:off x="163285" y="1038497"/>
            <a:ext cx="8647611" cy="418576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1" dirty="0"/>
              <a:t>Implement Federated IDS Training:</a:t>
            </a:r>
            <a:r>
              <a:rPr lang="en-US" dirty="0"/>
              <a:t> To develop a highly accurate Intrusion Detection System (IDS) that trains collaboratively across multiple organizations using the </a:t>
            </a:r>
            <a:r>
              <a:rPr lang="en-US" b="1" dirty="0" err="1"/>
              <a:t>FedProx</a:t>
            </a:r>
            <a:r>
              <a:rPr lang="en-US" b="1" dirty="0"/>
              <a:t> Federated Learning</a:t>
            </a:r>
            <a:r>
              <a:rPr lang="en-US" dirty="0"/>
              <a:t> algorithm, strictly sharing only mathematical model weights and never centralizing raw network traffic.</a:t>
            </a:r>
          </a:p>
          <a:p>
            <a:pPr marL="285750" indent="-285750">
              <a:lnSpc>
                <a:spcPct val="150000"/>
              </a:lnSpc>
              <a:buFont typeface="Arial" panose="020B0604020202020204" pitchFamily="34" charset="0"/>
              <a:buChar char="•"/>
            </a:pPr>
            <a:r>
              <a:rPr lang="en-US" b="1" dirty="0"/>
              <a:t>Develop Resilient Federated Aggregation:</a:t>
            </a:r>
            <a:r>
              <a:rPr lang="en-US" dirty="0"/>
              <a:t> To engineer a dynamic, Trust-Aware aggregation strategy at the central </a:t>
            </a:r>
            <a:r>
              <a:rPr lang="en-US" b="1" dirty="0"/>
              <a:t>Federated Server</a:t>
            </a:r>
            <a:r>
              <a:rPr lang="en-US" dirty="0"/>
              <a:t>.</a:t>
            </a:r>
          </a:p>
          <a:p>
            <a:pPr marL="285750" indent="-285750">
              <a:lnSpc>
                <a:spcPct val="150000"/>
              </a:lnSpc>
              <a:buFont typeface="Arial" panose="020B0604020202020204" pitchFamily="34" charset="0"/>
              <a:buChar char="•"/>
            </a:pPr>
            <a:r>
              <a:rPr lang="en-US" b="1" dirty="0"/>
              <a:t>Guarantee Federated Data Sanitization:</a:t>
            </a:r>
            <a:r>
              <a:rPr lang="en-US" dirty="0"/>
              <a:t> To design an Agentic Privacy Engine—powered by Large Language Models and Regex validation loops—that autonomously strips 100% of PII from threat reports locally, </a:t>
            </a:r>
            <a:r>
              <a:rPr lang="en-US" i="1" dirty="0"/>
              <a:t>before</a:t>
            </a:r>
            <a:r>
              <a:rPr lang="en-US" dirty="0"/>
              <a:t> they are ever transmitted to the </a:t>
            </a:r>
            <a:r>
              <a:rPr lang="en-US" b="1" dirty="0"/>
              <a:t>Federated network</a:t>
            </a:r>
            <a:r>
              <a:rPr lang="en-US" dirty="0"/>
              <a:t>.</a:t>
            </a:r>
          </a:p>
          <a:p>
            <a:pPr marL="285750" indent="-285750">
              <a:lnSpc>
                <a:spcPct val="150000"/>
              </a:lnSpc>
              <a:buFont typeface="Arial" panose="020B0604020202020204" pitchFamily="34" charset="0"/>
              <a:buChar char="•"/>
            </a:pPr>
            <a:r>
              <a:rPr lang="en-US" b="1" dirty="0"/>
              <a:t>Establish a Federated Proactive Defense:</a:t>
            </a:r>
            <a:r>
              <a:rPr lang="en-US" dirty="0"/>
              <a:t> To deploy a </a:t>
            </a:r>
            <a:r>
              <a:rPr lang="en-US" b="1" dirty="0"/>
              <a:t>Global Federated RAG</a:t>
            </a:r>
            <a:r>
              <a:rPr lang="en-US" dirty="0"/>
              <a:t> (Vector Database) and an Immunity Engine that autonomously retrieves cross-organizational threat patterns and instantly synthesizes deployable perimeter firewall rules to protect the entire federation against zero-day attacks.</a:t>
            </a:r>
          </a:p>
          <a:p>
            <a:pPr algn="l"/>
            <a:endParaRPr lang="en-US" b="0" i="0" dirty="0">
              <a:solidFill>
                <a:srgbClr val="CCCCCC"/>
              </a:solidFill>
              <a:effectLst/>
              <a:latin typeface="ui-sans-serif"/>
            </a:endParaRPr>
          </a:p>
        </p:txBody>
      </p:sp>
    </p:spTree>
    <p:extLst>
      <p:ext uri="{BB962C8B-B14F-4D97-AF65-F5344CB8AC3E}">
        <p14:creationId xmlns:p14="http://schemas.microsoft.com/office/powerpoint/2010/main" val="16839464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2" name="object 8">
            <a:extLst>
              <a:ext uri="{FF2B5EF4-FFF2-40B4-BE49-F238E27FC236}">
                <a16:creationId xmlns:a16="http://schemas.microsoft.com/office/drawing/2014/main" id="{2395BE7A-9D0E-6337-F5A8-E3C5BA962028}"/>
              </a:ext>
            </a:extLst>
          </p:cNvPr>
          <p:cNvSpPr txBox="1">
            <a:spLocks noChangeArrowheads="1"/>
          </p:cNvSpPr>
          <p:nvPr/>
        </p:nvSpPr>
        <p:spPr bwMode="auto">
          <a:xfrm>
            <a:off x="2851660" y="200020"/>
            <a:ext cx="3440679" cy="319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algn="ctr">
              <a:spcBef>
                <a:spcPct val="0"/>
              </a:spcBef>
            </a:pPr>
            <a:r>
              <a:rPr lang="en-US" altLang="en-US" sz="2000" dirty="0">
                <a:latin typeface="+mj-lt"/>
              </a:rPr>
              <a:t>Project Scope</a:t>
            </a:r>
          </a:p>
        </p:txBody>
      </p:sp>
      <p:sp>
        <p:nvSpPr>
          <p:cNvPr id="4" name="TextBox 3">
            <a:extLst>
              <a:ext uri="{FF2B5EF4-FFF2-40B4-BE49-F238E27FC236}">
                <a16:creationId xmlns:a16="http://schemas.microsoft.com/office/drawing/2014/main" id="{0F318995-3C5B-A775-510B-6C3CEB69ADF5}"/>
              </a:ext>
            </a:extLst>
          </p:cNvPr>
          <p:cNvSpPr txBox="1"/>
          <p:nvPr/>
        </p:nvSpPr>
        <p:spPr>
          <a:xfrm>
            <a:off x="114299" y="953984"/>
            <a:ext cx="8915400" cy="39303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t>Financial Institutions &amp; Banks: Competing banks can pool their cyber defenses to instantly block new financial exploits (like SWIFT network attacks) without legally violating customer privacy or exposing proprietary ledgers.</a:t>
            </a:r>
          </a:p>
          <a:p>
            <a:pPr marL="285750" indent="-285750">
              <a:lnSpc>
                <a:spcPct val="150000"/>
              </a:lnSpc>
              <a:buFont typeface="Arial" panose="020B0604020202020204" pitchFamily="34" charset="0"/>
              <a:buChar char="•"/>
            </a:pPr>
            <a:r>
              <a:rPr lang="en-US" dirty="0"/>
              <a:t>Healthcare Networks: Hospitals can collaborate to stop horizontal ransomware spread without ever transmitting protected patient records (HIPAA compliance), as only mathematical noise and sanitized summaries are shared.</a:t>
            </a:r>
          </a:p>
          <a:p>
            <a:pPr marL="285750" indent="-285750">
              <a:lnSpc>
                <a:spcPct val="150000"/>
              </a:lnSpc>
              <a:buFont typeface="Arial" panose="020B0604020202020204" pitchFamily="34" charset="0"/>
              <a:buChar char="•"/>
            </a:pPr>
            <a:r>
              <a:rPr lang="en-US" dirty="0"/>
              <a:t>Critical Infrastructure (Power Grids &amp; Water Plants): Regional SCADA networks can deploy ACTIS to autonomously identify and block state-sponsored malware across the national grid without needing high-bandwidth continuous cloud monitoring.</a:t>
            </a:r>
          </a:p>
          <a:p>
            <a:pPr marL="285750" indent="-285750">
              <a:lnSpc>
                <a:spcPct val="150000"/>
              </a:lnSpc>
              <a:buFont typeface="Arial" panose="020B0604020202020204" pitchFamily="34" charset="0"/>
              <a:buChar char="•"/>
            </a:pPr>
            <a:r>
              <a:rPr lang="en-US" dirty="0"/>
              <a:t>Managed Security Service Providers (MSSPs): Cybersecurity companies can deploy ACTIS across hundreds of distinct corporate clients, creating a unified "hive mind" defense instantly protecting Client B when Client A is attacked, without mixing their restricted data.</a:t>
            </a:r>
          </a:p>
        </p:txBody>
      </p:sp>
    </p:spTree>
    <p:extLst>
      <p:ext uri="{BB962C8B-B14F-4D97-AF65-F5344CB8AC3E}">
        <p14:creationId xmlns:p14="http://schemas.microsoft.com/office/powerpoint/2010/main" val="3838626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2" name="object 8">
            <a:extLst>
              <a:ext uri="{FF2B5EF4-FFF2-40B4-BE49-F238E27FC236}">
                <a16:creationId xmlns:a16="http://schemas.microsoft.com/office/drawing/2014/main" id="{B1C6201D-91E0-7567-93DE-89237FBBDC44}"/>
              </a:ext>
            </a:extLst>
          </p:cNvPr>
          <p:cNvSpPr txBox="1">
            <a:spLocks noChangeArrowheads="1"/>
          </p:cNvSpPr>
          <p:nvPr/>
        </p:nvSpPr>
        <p:spPr bwMode="auto">
          <a:xfrm>
            <a:off x="2223903" y="110829"/>
            <a:ext cx="4526747" cy="6277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a:spcBef>
                <a:spcPct val="0"/>
              </a:spcBef>
            </a:pPr>
            <a:r>
              <a:rPr lang="en-US" altLang="en-US" sz="2000" dirty="0"/>
              <a:t>     Literature Survey(Minimum 20 papers)</a:t>
            </a:r>
          </a:p>
          <a:p>
            <a:pPr>
              <a:spcBef>
                <a:spcPct val="0"/>
              </a:spcBef>
            </a:pPr>
            <a:endParaRPr lang="en-US" altLang="en-US" sz="2000" dirty="0"/>
          </a:p>
        </p:txBody>
      </p:sp>
      <p:graphicFrame>
        <p:nvGraphicFramePr>
          <p:cNvPr id="3" name="Table 2">
            <a:extLst>
              <a:ext uri="{FF2B5EF4-FFF2-40B4-BE49-F238E27FC236}">
                <a16:creationId xmlns:a16="http://schemas.microsoft.com/office/drawing/2014/main" id="{2A4EE3ED-C358-D65B-5B64-E54C64A8EC3E}"/>
              </a:ext>
            </a:extLst>
          </p:cNvPr>
          <p:cNvGraphicFramePr>
            <a:graphicFrameLocks noGrp="1"/>
          </p:cNvGraphicFramePr>
          <p:nvPr>
            <p:extLst>
              <p:ext uri="{D42A27DB-BD31-4B8C-83A1-F6EECF244321}">
                <p14:modId xmlns:p14="http://schemas.microsoft.com/office/powerpoint/2010/main" val="2854621766"/>
              </p:ext>
            </p:extLst>
          </p:nvPr>
        </p:nvGraphicFramePr>
        <p:xfrm>
          <a:off x="225642" y="947571"/>
          <a:ext cx="8709350" cy="4099542"/>
        </p:xfrm>
        <a:graphic>
          <a:graphicData uri="http://schemas.openxmlformats.org/drawingml/2006/table">
            <a:tbl>
              <a:tblPr firstRow="1" bandRow="1">
                <a:tableStyleId>{5DA37D80-6434-44D0-A028-1B22A696006F}</a:tableStyleId>
              </a:tblPr>
              <a:tblGrid>
                <a:gridCol w="854785">
                  <a:extLst>
                    <a:ext uri="{9D8B030D-6E8A-4147-A177-3AD203B41FA5}">
                      <a16:colId xmlns:a16="http://schemas.microsoft.com/office/drawing/2014/main" val="2279697044"/>
                    </a:ext>
                  </a:extLst>
                </a:gridCol>
                <a:gridCol w="1153765">
                  <a:extLst>
                    <a:ext uri="{9D8B030D-6E8A-4147-A177-3AD203B41FA5}">
                      <a16:colId xmlns:a16="http://schemas.microsoft.com/office/drawing/2014/main" val="803012569"/>
                    </a:ext>
                  </a:extLst>
                </a:gridCol>
                <a:gridCol w="2085800">
                  <a:extLst>
                    <a:ext uri="{9D8B030D-6E8A-4147-A177-3AD203B41FA5}">
                      <a16:colId xmlns:a16="http://schemas.microsoft.com/office/drawing/2014/main" val="1008628936"/>
                    </a:ext>
                  </a:extLst>
                </a:gridCol>
                <a:gridCol w="2552119">
                  <a:extLst>
                    <a:ext uri="{9D8B030D-6E8A-4147-A177-3AD203B41FA5}">
                      <a16:colId xmlns:a16="http://schemas.microsoft.com/office/drawing/2014/main" val="2676647448"/>
                    </a:ext>
                  </a:extLst>
                </a:gridCol>
                <a:gridCol w="2062881">
                  <a:extLst>
                    <a:ext uri="{9D8B030D-6E8A-4147-A177-3AD203B41FA5}">
                      <a16:colId xmlns:a16="http://schemas.microsoft.com/office/drawing/2014/main" val="3647373459"/>
                    </a:ext>
                  </a:extLst>
                </a:gridCol>
              </a:tblGrid>
              <a:tr h="516317">
                <a:tc>
                  <a:txBody>
                    <a:bodyPr/>
                    <a:lstStyle/>
                    <a:p>
                      <a:pPr algn="ctr"/>
                      <a:r>
                        <a:rPr lang="en-US" sz="1400" dirty="0"/>
                        <a:t>SL No</a:t>
                      </a:r>
                      <a:endParaRPr lang="en-IN" sz="1400" dirty="0"/>
                    </a:p>
                  </a:txBody>
                  <a:tcPr marL="91456" marR="91456" marT="45711" marB="45711"/>
                </a:tc>
                <a:tc>
                  <a:txBody>
                    <a:bodyPr/>
                    <a:lstStyle/>
                    <a:p>
                      <a:pPr algn="ctr"/>
                      <a:r>
                        <a:rPr lang="en-US" sz="1400" dirty="0"/>
                        <a:t>Source</a:t>
                      </a:r>
                    </a:p>
                    <a:p>
                      <a:pPr algn="ctr"/>
                      <a:r>
                        <a:rPr lang="en-US" sz="1400" dirty="0"/>
                        <a:t>(Latest)</a:t>
                      </a:r>
                      <a:endParaRPr lang="en-IN" sz="1400" dirty="0"/>
                    </a:p>
                  </a:txBody>
                  <a:tcPr marL="91456" marR="91456" marT="45711" marB="45711"/>
                </a:tc>
                <a:tc>
                  <a:txBody>
                    <a:bodyPr/>
                    <a:lstStyle/>
                    <a:p>
                      <a:pPr algn="ctr"/>
                      <a:r>
                        <a:rPr lang="en-US" sz="1400" dirty="0"/>
                        <a:t>Paper Details</a:t>
                      </a:r>
                      <a:endParaRPr lang="en-IN" sz="1400" dirty="0"/>
                    </a:p>
                  </a:txBody>
                  <a:tcPr marL="91456" marR="91456" marT="45711" marB="45711"/>
                </a:tc>
                <a:tc>
                  <a:txBody>
                    <a:bodyPr/>
                    <a:lstStyle/>
                    <a:p>
                      <a:pPr algn="ctr"/>
                      <a:r>
                        <a:rPr lang="en-US" sz="1400" dirty="0"/>
                        <a:t>Key Attributes/Findings</a:t>
                      </a:r>
                      <a:endParaRPr lang="en-IN" sz="1400" dirty="0"/>
                    </a:p>
                  </a:txBody>
                  <a:tcPr marL="91456" marR="91456" marT="45711" marB="45711"/>
                </a:tc>
                <a:tc>
                  <a:txBody>
                    <a:bodyPr/>
                    <a:lstStyle/>
                    <a:p>
                      <a:pPr algn="ctr"/>
                      <a:r>
                        <a:rPr lang="en-US" sz="1400" dirty="0"/>
                        <a:t>Challenges/</a:t>
                      </a:r>
                    </a:p>
                    <a:p>
                      <a:pPr algn="ctr"/>
                      <a:r>
                        <a:rPr lang="en-US" sz="1400" dirty="0"/>
                        <a:t>Limitations</a:t>
                      </a:r>
                      <a:endParaRPr lang="en-IN" sz="1400" dirty="0"/>
                    </a:p>
                  </a:txBody>
                  <a:tcPr marL="91456" marR="91456" marT="45711" marB="45711"/>
                </a:tc>
                <a:extLst>
                  <a:ext uri="{0D108BD9-81ED-4DB2-BD59-A6C34878D82A}">
                    <a16:rowId xmlns:a16="http://schemas.microsoft.com/office/drawing/2014/main" val="3876178566"/>
                  </a:ext>
                </a:extLst>
              </a:tr>
              <a:tr h="1006093">
                <a:tc>
                  <a:txBody>
                    <a:bodyPr/>
                    <a:lstStyle/>
                    <a:p>
                      <a:pPr algn="ctr">
                        <a:buNone/>
                      </a:pPr>
                      <a:r>
                        <a:rPr lang="en-US" sz="1000" b="1" dirty="0">
                          <a:effectLst/>
                        </a:rPr>
                        <a:t>1</a:t>
                      </a:r>
                      <a:endParaRPr lang="en-US" sz="1000" dirty="0">
                        <a:effectLst/>
                      </a:endParaRPr>
                    </a:p>
                  </a:txBody>
                  <a:tcPr marL="95250" marR="95250" marT="47625" marB="47625" anchor="ctr"/>
                </a:tc>
                <a:tc>
                  <a:txBody>
                    <a:bodyPr/>
                    <a:lstStyle/>
                    <a:p>
                      <a:pPr algn="l">
                        <a:buNone/>
                      </a:pPr>
                      <a:r>
                        <a:rPr lang="en-US" sz="1000" i="1" dirty="0">
                          <a:effectLst/>
                        </a:rPr>
                        <a:t>Zhang, Yang, et al.</a:t>
                      </a:r>
                      <a:br>
                        <a:rPr lang="en-US" sz="1000" dirty="0">
                          <a:effectLst/>
                        </a:rPr>
                      </a:br>
                      <a:r>
                        <a:rPr lang="en-US" sz="1000" dirty="0">
                          <a:effectLst/>
                        </a:rPr>
                        <a:t>Jan 2026</a:t>
                      </a:r>
                    </a:p>
                  </a:txBody>
                  <a:tcPr marL="95250" marR="95250" marT="47625" marB="47625" anchor="ctr"/>
                </a:tc>
                <a:tc>
                  <a:txBody>
                    <a:bodyPr/>
                    <a:lstStyle/>
                    <a:p>
                      <a:pPr algn="l">
                        <a:buNone/>
                      </a:pPr>
                      <a:r>
                        <a:rPr lang="en-US" sz="1000" b="1" dirty="0">
                          <a:effectLst/>
                        </a:rPr>
                        <a:t>Tri-LLM Cooperative Federated Zero-Shot Intrusion Detection...</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Employs multi-LLM semantic disagreement to detect zero-day attacks without data sharing. Introduces "Trust-Aware" local client weighting.</a:t>
                      </a:r>
                    </a:p>
                  </a:txBody>
                  <a:tcPr marL="95250" marR="95250" marT="47625" marB="47625" anchor="ctr"/>
                </a:tc>
                <a:tc>
                  <a:txBody>
                    <a:bodyPr/>
                    <a:lstStyle/>
                    <a:p>
                      <a:pPr algn="l">
                        <a:buNone/>
                      </a:pPr>
                      <a:r>
                        <a:rPr lang="en-US" sz="1000" dirty="0">
                          <a:effectLst/>
                        </a:rPr>
                        <a:t>LLMs act as static encoders, not autonomous agents. Lacks privacy-preserving measures for the semantic embeddings and offers no active RAG explainability.</a:t>
                      </a:r>
                    </a:p>
                  </a:txBody>
                  <a:tcPr marL="95250" marR="95250" marT="47625" marB="47625" anchor="ctr"/>
                </a:tc>
                <a:extLst>
                  <a:ext uri="{0D108BD9-81ED-4DB2-BD59-A6C34878D82A}">
                    <a16:rowId xmlns:a16="http://schemas.microsoft.com/office/drawing/2014/main" val="3834328933"/>
                  </a:ext>
                </a:extLst>
              </a:tr>
              <a:tr h="854230">
                <a:tc>
                  <a:txBody>
                    <a:bodyPr/>
                    <a:lstStyle/>
                    <a:p>
                      <a:pPr algn="ctr">
                        <a:buNone/>
                      </a:pPr>
                      <a:r>
                        <a:rPr lang="en-US" sz="1000" b="1">
                          <a:effectLst/>
                        </a:rPr>
                        <a:t>2</a:t>
                      </a:r>
                      <a:endParaRPr lang="en-US" sz="1000">
                        <a:effectLst/>
                      </a:endParaRPr>
                    </a:p>
                  </a:txBody>
                  <a:tcPr marL="95250" marR="95250" marT="47625" marB="47625" anchor="ctr"/>
                </a:tc>
                <a:tc>
                  <a:txBody>
                    <a:bodyPr/>
                    <a:lstStyle/>
                    <a:p>
                      <a:pPr marL="0" marR="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000" b="1" dirty="0">
                          <a:effectLst/>
                        </a:rPr>
                        <a:t>Shaghayegh Shajarian</a:t>
                      </a:r>
                      <a:br>
                        <a:rPr lang="en-US" sz="1000" dirty="0">
                          <a:effectLst/>
                        </a:rPr>
                      </a:br>
                      <a:r>
                        <a:rPr lang="en-US" sz="1000" dirty="0">
                          <a:effectLst/>
                        </a:rPr>
                        <a:t>Dec 2025</a:t>
                      </a:r>
                    </a:p>
                  </a:txBody>
                  <a:tcPr marL="95250" marR="95250" marT="47625" marB="47625" anchor="ctr"/>
                </a:tc>
                <a:tc>
                  <a:txBody>
                    <a:bodyPr/>
                    <a:lstStyle/>
                    <a:p>
                      <a:pPr algn="l">
                        <a:buNone/>
                      </a:pPr>
                      <a:r>
                        <a:rPr lang="en-US" sz="1000" b="1" dirty="0" err="1">
                          <a:effectLst/>
                        </a:rPr>
                        <a:t>ReGAIN</a:t>
                      </a:r>
                      <a:r>
                        <a:rPr lang="en-US" sz="1000" b="1" dirty="0">
                          <a:effectLst/>
                        </a:rPr>
                        <a:t>: Retrieval-Grounded AI Framework for Network Traffic...</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First multi-collection vector database pipeline mapping raw NetFlow directly to actionable intelligence. LLM cites references structurally.</a:t>
                      </a:r>
                    </a:p>
                  </a:txBody>
                  <a:tcPr marL="95250" marR="95250" marT="47625" marB="47625" anchor="ctr"/>
                </a:tc>
                <a:tc>
                  <a:txBody>
                    <a:bodyPr/>
                    <a:lstStyle/>
                    <a:p>
                      <a:pPr algn="l">
                        <a:buNone/>
                      </a:pPr>
                      <a:r>
                        <a:rPr lang="en-US" sz="1000" dirty="0">
                          <a:effectLst/>
                        </a:rPr>
                        <a:t>Entirely centralized processing. No federated resilience against data poisoning, and highly vulnerable if the core database is compromised.</a:t>
                      </a:r>
                    </a:p>
                  </a:txBody>
                  <a:tcPr marL="95250" marR="95250" marT="47625" marB="47625" anchor="ctr"/>
                </a:tc>
                <a:extLst>
                  <a:ext uri="{0D108BD9-81ED-4DB2-BD59-A6C34878D82A}">
                    <a16:rowId xmlns:a16="http://schemas.microsoft.com/office/drawing/2014/main" val="919704194"/>
                  </a:ext>
                </a:extLst>
              </a:tr>
              <a:tr h="854230">
                <a:tc>
                  <a:txBody>
                    <a:bodyPr/>
                    <a:lstStyle/>
                    <a:p>
                      <a:pPr algn="ctr">
                        <a:buNone/>
                      </a:pPr>
                      <a:r>
                        <a:rPr lang="en-US" sz="1000" b="1">
                          <a:effectLst/>
                        </a:rPr>
                        <a:t>3</a:t>
                      </a:r>
                      <a:endParaRPr lang="en-US" sz="1000">
                        <a:effectLst/>
                      </a:endParaRPr>
                    </a:p>
                  </a:txBody>
                  <a:tcPr marL="95250" marR="95250" marT="47625" marB="47625" anchor="ctr"/>
                </a:tc>
                <a:tc>
                  <a:txBody>
                    <a:bodyPr/>
                    <a:lstStyle/>
                    <a:p>
                      <a:pPr algn="l">
                        <a:buNone/>
                      </a:pPr>
                      <a:r>
                        <a:rPr lang="en-US" sz="1000" i="1" dirty="0">
                          <a:effectLst/>
                        </a:rPr>
                        <a:t>Yuan, Zheng, et al.</a:t>
                      </a:r>
                      <a:br>
                        <a:rPr lang="en-US" sz="1000" dirty="0">
                          <a:effectLst/>
                        </a:rPr>
                      </a:br>
                      <a:r>
                        <a:rPr lang="en-US" sz="1000" dirty="0">
                          <a:effectLst/>
                        </a:rPr>
                        <a:t>Sep 2025</a:t>
                      </a:r>
                    </a:p>
                  </a:txBody>
                  <a:tcPr marL="95250" marR="95250" marT="47625" marB="47625" anchor="ctr"/>
                </a:tc>
                <a:tc>
                  <a:txBody>
                    <a:bodyPr/>
                    <a:lstStyle/>
                    <a:p>
                      <a:pPr algn="l">
                        <a:buNone/>
                      </a:pPr>
                      <a:r>
                        <a:rPr lang="en-US" sz="1000" b="1" dirty="0" err="1">
                          <a:effectLst/>
                        </a:rPr>
                        <a:t>CyberRAG</a:t>
                      </a:r>
                      <a:r>
                        <a:rPr lang="en-US" sz="1000" b="1" dirty="0">
                          <a:effectLst/>
                        </a:rPr>
                        <a:t>: An Agentic RAG Cyber Attack Classification...</a:t>
                      </a:r>
                      <a:br>
                        <a:rPr lang="en-US" sz="1000" dirty="0">
                          <a:effectLst/>
                        </a:rPr>
                      </a:br>
                      <a:endParaRPr lang="en-US" sz="1000" dirty="0">
                        <a:effectLst/>
                      </a:endParaRPr>
                    </a:p>
                  </a:txBody>
                  <a:tcPr marL="95250" marR="95250" marT="47625" marB="47625" anchor="ctr"/>
                </a:tc>
                <a:tc>
                  <a:txBody>
                    <a:bodyPr/>
                    <a:lstStyle/>
                    <a:p>
                      <a:pPr algn="l">
                        <a:buNone/>
                      </a:pPr>
                      <a:r>
                        <a:rPr lang="en-US" sz="1000" dirty="0">
                          <a:effectLst/>
                        </a:rPr>
                        <a:t>Core LLM agent dynamically calls specialized BERT classifiers per-attack format. Uses retrieval to synthesize final analyst reports.</a:t>
                      </a:r>
                    </a:p>
                  </a:txBody>
                  <a:tcPr marL="95250" marR="95250" marT="47625" marB="47625" anchor="ctr"/>
                </a:tc>
                <a:tc>
                  <a:txBody>
                    <a:bodyPr/>
                    <a:lstStyle/>
                    <a:p>
                      <a:pPr algn="l">
                        <a:buNone/>
                      </a:pPr>
                      <a:r>
                        <a:rPr lang="en-US" sz="1000" dirty="0">
                          <a:effectLst/>
                        </a:rPr>
                        <a:t>Limited strictly to Web payloads (SQLi, XSS, SSTI). Agent pipeline lacks any PII stripping mechanisms before querying external intelligence graphs.</a:t>
                      </a:r>
                    </a:p>
                  </a:txBody>
                  <a:tcPr marL="95250" marR="95250" marT="47625" marB="47625" anchor="ctr"/>
                </a:tc>
                <a:extLst>
                  <a:ext uri="{0D108BD9-81ED-4DB2-BD59-A6C34878D82A}">
                    <a16:rowId xmlns:a16="http://schemas.microsoft.com/office/drawing/2014/main" val="1212984229"/>
                  </a:ext>
                </a:extLst>
              </a:tr>
              <a:tr h="854230">
                <a:tc>
                  <a:txBody>
                    <a:bodyPr/>
                    <a:lstStyle/>
                    <a:p>
                      <a:pPr algn="ctr">
                        <a:buNone/>
                      </a:pPr>
                      <a:r>
                        <a:rPr lang="en-US" sz="1000">
                          <a:effectLst/>
                        </a:rPr>
                        <a:t>4</a:t>
                      </a:r>
                    </a:p>
                  </a:txBody>
                  <a:tcPr marL="95250" marR="95250" marT="47625" marB="47625" anchor="ctr"/>
                </a:tc>
                <a:tc>
                  <a:txBody>
                    <a:bodyPr/>
                    <a:lstStyle/>
                    <a:p>
                      <a:pPr algn="l">
                        <a:buNone/>
                      </a:pPr>
                      <a:r>
                        <a:rPr lang="en-US" sz="1000" i="1" dirty="0">
                          <a:effectLst/>
                        </a:rPr>
                        <a:t>Tariq et al.</a:t>
                      </a:r>
                      <a:br>
                        <a:rPr lang="en-US" sz="1000" dirty="0">
                          <a:effectLst/>
                        </a:rPr>
                      </a:br>
                      <a:r>
                        <a:rPr lang="en-US" sz="1000" dirty="0">
                          <a:effectLst/>
                        </a:rPr>
                        <a:t>2024</a:t>
                      </a:r>
                    </a:p>
                  </a:txBody>
                  <a:tcPr marL="95250" marR="95250" marT="47625" marB="47625" anchor="ctr"/>
                </a:tc>
                <a:tc>
                  <a:txBody>
                    <a:bodyPr/>
                    <a:lstStyle/>
                    <a:p>
                      <a:pPr algn="l">
                        <a:buNone/>
                      </a:pPr>
                      <a:r>
                        <a:rPr lang="en-US" sz="1000" b="1" dirty="0">
                          <a:effectLst/>
                        </a:rPr>
                        <a:t>Federated Learning based NIDS using Unbalanced IoT Data</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Proves FL successfully manages extreme class imbalances (e.g., rare BotNet traffic vs normal) by synthesizing minor classes locally.</a:t>
                      </a:r>
                    </a:p>
                  </a:txBody>
                  <a:tcPr marL="95250" marR="95250" marT="47625" marB="47625" anchor="ctr"/>
                </a:tc>
                <a:tc>
                  <a:txBody>
                    <a:bodyPr/>
                    <a:lstStyle/>
                    <a:p>
                      <a:pPr algn="l">
                        <a:buNone/>
                      </a:pPr>
                      <a:r>
                        <a:rPr lang="en-US" sz="1000" dirty="0">
                          <a:effectLst/>
                        </a:rPr>
                        <a:t>Focuses primarily on label distribution skew rather than feature shift; vulnerable to malicious Byzantine nodes deliberately mislabeling data.</a:t>
                      </a:r>
                    </a:p>
                  </a:txBody>
                  <a:tcPr marL="95250" marR="95250" marT="47625" marB="47625" anchor="ctr"/>
                </a:tc>
                <a:extLst>
                  <a:ext uri="{0D108BD9-81ED-4DB2-BD59-A6C34878D82A}">
                    <a16:rowId xmlns:a16="http://schemas.microsoft.com/office/drawing/2014/main" val="1725386867"/>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53A9D37F-06E1-389F-630D-C70ED635052C}"/>
            </a:ext>
          </a:extLst>
        </p:cNvPr>
        <p:cNvGrpSpPr/>
        <p:nvPr/>
      </p:nvGrpSpPr>
      <p:grpSpPr>
        <a:xfrm>
          <a:off x="0" y="0"/>
          <a:ext cx="0" cy="0"/>
          <a:chOff x="0" y="0"/>
          <a:chExt cx="0" cy="0"/>
        </a:xfrm>
      </p:grpSpPr>
      <p:sp>
        <p:nvSpPr>
          <p:cNvPr id="2" name="object 8">
            <a:extLst>
              <a:ext uri="{FF2B5EF4-FFF2-40B4-BE49-F238E27FC236}">
                <a16:creationId xmlns:a16="http://schemas.microsoft.com/office/drawing/2014/main" id="{65699462-5F53-232C-7102-4B0942EE441E}"/>
              </a:ext>
            </a:extLst>
          </p:cNvPr>
          <p:cNvSpPr txBox="1">
            <a:spLocks noChangeArrowheads="1"/>
          </p:cNvSpPr>
          <p:nvPr/>
        </p:nvSpPr>
        <p:spPr bwMode="auto">
          <a:xfrm>
            <a:off x="2223903" y="110829"/>
            <a:ext cx="4526747" cy="6277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a:spcBef>
                <a:spcPct val="0"/>
              </a:spcBef>
            </a:pPr>
            <a:r>
              <a:rPr lang="en-US" altLang="en-US" sz="2000" dirty="0"/>
              <a:t>     Literature Survey(Minimum 20 papers)</a:t>
            </a:r>
          </a:p>
          <a:p>
            <a:pPr>
              <a:spcBef>
                <a:spcPct val="0"/>
              </a:spcBef>
            </a:pPr>
            <a:endParaRPr lang="en-US" altLang="en-US" sz="2000" dirty="0"/>
          </a:p>
        </p:txBody>
      </p:sp>
      <p:graphicFrame>
        <p:nvGraphicFramePr>
          <p:cNvPr id="3" name="Table 2">
            <a:extLst>
              <a:ext uri="{FF2B5EF4-FFF2-40B4-BE49-F238E27FC236}">
                <a16:creationId xmlns:a16="http://schemas.microsoft.com/office/drawing/2014/main" id="{8598D2CF-8178-5137-E8DD-D86E47F2EE22}"/>
              </a:ext>
            </a:extLst>
          </p:cNvPr>
          <p:cNvGraphicFramePr>
            <a:graphicFrameLocks noGrp="1"/>
          </p:cNvGraphicFramePr>
          <p:nvPr>
            <p:extLst>
              <p:ext uri="{D42A27DB-BD31-4B8C-83A1-F6EECF244321}">
                <p14:modId xmlns:p14="http://schemas.microsoft.com/office/powerpoint/2010/main" val="3541031588"/>
              </p:ext>
            </p:extLst>
          </p:nvPr>
        </p:nvGraphicFramePr>
        <p:xfrm>
          <a:off x="225642" y="947571"/>
          <a:ext cx="8709350" cy="4022845"/>
        </p:xfrm>
        <a:graphic>
          <a:graphicData uri="http://schemas.openxmlformats.org/drawingml/2006/table">
            <a:tbl>
              <a:tblPr firstRow="1" bandRow="1">
                <a:tableStyleId>{5DA37D80-6434-44D0-A028-1B22A696006F}</a:tableStyleId>
              </a:tblPr>
              <a:tblGrid>
                <a:gridCol w="854785">
                  <a:extLst>
                    <a:ext uri="{9D8B030D-6E8A-4147-A177-3AD203B41FA5}">
                      <a16:colId xmlns:a16="http://schemas.microsoft.com/office/drawing/2014/main" val="2279697044"/>
                    </a:ext>
                  </a:extLst>
                </a:gridCol>
                <a:gridCol w="1153765">
                  <a:extLst>
                    <a:ext uri="{9D8B030D-6E8A-4147-A177-3AD203B41FA5}">
                      <a16:colId xmlns:a16="http://schemas.microsoft.com/office/drawing/2014/main" val="803012569"/>
                    </a:ext>
                  </a:extLst>
                </a:gridCol>
                <a:gridCol w="2085800">
                  <a:extLst>
                    <a:ext uri="{9D8B030D-6E8A-4147-A177-3AD203B41FA5}">
                      <a16:colId xmlns:a16="http://schemas.microsoft.com/office/drawing/2014/main" val="1008628936"/>
                    </a:ext>
                  </a:extLst>
                </a:gridCol>
                <a:gridCol w="2552119">
                  <a:extLst>
                    <a:ext uri="{9D8B030D-6E8A-4147-A177-3AD203B41FA5}">
                      <a16:colId xmlns:a16="http://schemas.microsoft.com/office/drawing/2014/main" val="2676647448"/>
                    </a:ext>
                  </a:extLst>
                </a:gridCol>
                <a:gridCol w="2062881">
                  <a:extLst>
                    <a:ext uri="{9D8B030D-6E8A-4147-A177-3AD203B41FA5}">
                      <a16:colId xmlns:a16="http://schemas.microsoft.com/office/drawing/2014/main" val="3647373459"/>
                    </a:ext>
                  </a:extLst>
                </a:gridCol>
              </a:tblGrid>
              <a:tr h="529101">
                <a:tc>
                  <a:txBody>
                    <a:bodyPr/>
                    <a:lstStyle/>
                    <a:p>
                      <a:pPr algn="ctr"/>
                      <a:r>
                        <a:rPr lang="en-US" sz="1400" dirty="0"/>
                        <a:t>SL No</a:t>
                      </a:r>
                      <a:endParaRPr lang="en-IN" sz="1400" dirty="0"/>
                    </a:p>
                  </a:txBody>
                  <a:tcPr marL="91456" marR="91456" marT="45711" marB="45711"/>
                </a:tc>
                <a:tc>
                  <a:txBody>
                    <a:bodyPr/>
                    <a:lstStyle/>
                    <a:p>
                      <a:pPr algn="ctr"/>
                      <a:r>
                        <a:rPr lang="en-US" sz="1400" dirty="0"/>
                        <a:t>Source</a:t>
                      </a:r>
                    </a:p>
                    <a:p>
                      <a:pPr algn="ctr"/>
                      <a:r>
                        <a:rPr lang="en-US" sz="1400" dirty="0"/>
                        <a:t>(Latest)</a:t>
                      </a:r>
                      <a:endParaRPr lang="en-IN" sz="1400" dirty="0"/>
                    </a:p>
                  </a:txBody>
                  <a:tcPr marL="91456" marR="91456" marT="45711" marB="45711"/>
                </a:tc>
                <a:tc>
                  <a:txBody>
                    <a:bodyPr/>
                    <a:lstStyle/>
                    <a:p>
                      <a:pPr algn="ctr"/>
                      <a:r>
                        <a:rPr lang="en-US" sz="1400" dirty="0"/>
                        <a:t>Paper Details</a:t>
                      </a:r>
                      <a:endParaRPr lang="en-IN" sz="1400" dirty="0"/>
                    </a:p>
                  </a:txBody>
                  <a:tcPr marL="91456" marR="91456" marT="45711" marB="45711"/>
                </a:tc>
                <a:tc>
                  <a:txBody>
                    <a:bodyPr/>
                    <a:lstStyle/>
                    <a:p>
                      <a:pPr algn="ctr"/>
                      <a:r>
                        <a:rPr lang="en-US" sz="1400" dirty="0"/>
                        <a:t>Key Attributes/Findings</a:t>
                      </a:r>
                      <a:endParaRPr lang="en-IN" sz="1400" dirty="0"/>
                    </a:p>
                  </a:txBody>
                  <a:tcPr marL="91456" marR="91456" marT="45711" marB="45711"/>
                </a:tc>
                <a:tc>
                  <a:txBody>
                    <a:bodyPr/>
                    <a:lstStyle/>
                    <a:p>
                      <a:pPr algn="ctr"/>
                      <a:r>
                        <a:rPr lang="en-US" sz="1400" dirty="0"/>
                        <a:t>Challenges/</a:t>
                      </a:r>
                    </a:p>
                    <a:p>
                      <a:pPr algn="ctr"/>
                      <a:r>
                        <a:rPr lang="en-US" sz="1400" dirty="0"/>
                        <a:t>Limitations</a:t>
                      </a:r>
                      <a:endParaRPr lang="en-IN" sz="1400" dirty="0"/>
                    </a:p>
                  </a:txBody>
                  <a:tcPr marL="91456" marR="91456" marT="45711" marB="45711"/>
                </a:tc>
                <a:extLst>
                  <a:ext uri="{0D108BD9-81ED-4DB2-BD59-A6C34878D82A}">
                    <a16:rowId xmlns:a16="http://schemas.microsoft.com/office/drawing/2014/main" val="3876178566"/>
                  </a:ext>
                </a:extLst>
              </a:tr>
              <a:tr h="914287">
                <a:tc>
                  <a:txBody>
                    <a:bodyPr/>
                    <a:lstStyle/>
                    <a:p>
                      <a:pPr algn="ctr">
                        <a:buNone/>
                      </a:pPr>
                      <a:r>
                        <a:rPr lang="en-US" sz="1050">
                          <a:effectLst/>
                        </a:rPr>
                        <a:t>5</a:t>
                      </a:r>
                    </a:p>
                  </a:txBody>
                  <a:tcPr marL="95250" marR="95250" marT="47625" marB="47625" anchor="ctr"/>
                </a:tc>
                <a:tc>
                  <a:txBody>
                    <a:bodyPr/>
                    <a:lstStyle/>
                    <a:p>
                      <a:pPr algn="l">
                        <a:buNone/>
                      </a:pPr>
                      <a:r>
                        <a:rPr lang="en-US" sz="1050" i="1" dirty="0">
                          <a:effectLst/>
                        </a:rPr>
                        <a:t>Wu, Lee, et al.</a:t>
                      </a:r>
                      <a:br>
                        <a:rPr lang="en-US" sz="1050" dirty="0">
                          <a:effectLst/>
                        </a:rPr>
                      </a:br>
                      <a:r>
                        <a:rPr lang="en-US" sz="1050" dirty="0">
                          <a:effectLst/>
                        </a:rPr>
                        <a:t>2024</a:t>
                      </a:r>
                    </a:p>
                  </a:txBody>
                  <a:tcPr marL="95250" marR="95250" marT="47625" marB="47625" anchor="ctr"/>
                </a:tc>
                <a:tc>
                  <a:txBody>
                    <a:bodyPr/>
                    <a:lstStyle/>
                    <a:p>
                      <a:pPr algn="l">
                        <a:buNone/>
                      </a:pPr>
                      <a:r>
                        <a:rPr lang="en-US" sz="1050" b="1" dirty="0">
                          <a:effectLst/>
                        </a:rPr>
                        <a:t>Large Language Models in Cybersecurity: Systematic Review</a:t>
                      </a:r>
                      <a:br>
                        <a:rPr lang="en-US" sz="1050" dirty="0">
                          <a:effectLst/>
                        </a:rPr>
                      </a:br>
                      <a:endParaRPr lang="en-US" sz="1050" dirty="0">
                        <a:effectLst/>
                      </a:endParaRPr>
                    </a:p>
                  </a:txBody>
                  <a:tcPr marL="95250" marR="95250" marT="47625" marB="47625" anchor="ctr"/>
                </a:tc>
                <a:tc>
                  <a:txBody>
                    <a:bodyPr/>
                    <a:lstStyle/>
                    <a:p>
                      <a:pPr algn="l">
                        <a:buNone/>
                      </a:pPr>
                      <a:r>
                        <a:rPr lang="en-US" sz="1050">
                          <a:effectLst/>
                        </a:rPr>
                        <a:t>Comprehensive survey confirming LLMs excel at log summarization but require strict contextual grounding to prevent hallucinations.</a:t>
                      </a:r>
                    </a:p>
                  </a:txBody>
                  <a:tcPr marL="95250" marR="95250" marT="47625" marB="47625" anchor="ctr"/>
                </a:tc>
                <a:tc>
                  <a:txBody>
                    <a:bodyPr/>
                    <a:lstStyle/>
                    <a:p>
                      <a:pPr algn="l">
                        <a:buNone/>
                      </a:pPr>
                      <a:r>
                        <a:rPr lang="en-US" sz="1050">
                          <a:effectLst/>
                        </a:rPr>
                        <a:t>Foundation models struggle with strict syntactic structures (like valid perimeter defense rule syntax) without specific agentic guardrails.</a:t>
                      </a:r>
                    </a:p>
                  </a:txBody>
                  <a:tcPr marL="95250" marR="95250" marT="47625" marB="47625" anchor="ctr"/>
                </a:tc>
                <a:extLst>
                  <a:ext uri="{0D108BD9-81ED-4DB2-BD59-A6C34878D82A}">
                    <a16:rowId xmlns:a16="http://schemas.microsoft.com/office/drawing/2014/main" val="3834328933"/>
                  </a:ext>
                </a:extLst>
              </a:tr>
              <a:tr h="914287">
                <a:tc>
                  <a:txBody>
                    <a:bodyPr/>
                    <a:lstStyle/>
                    <a:p>
                      <a:pPr algn="ctr">
                        <a:buNone/>
                      </a:pPr>
                      <a:r>
                        <a:rPr lang="en-US" sz="1050">
                          <a:effectLst/>
                        </a:rPr>
                        <a:t>6</a:t>
                      </a:r>
                    </a:p>
                  </a:txBody>
                  <a:tcPr marL="95250" marR="95250" marT="47625" marB="47625" anchor="ctr"/>
                </a:tc>
                <a:tc>
                  <a:txBody>
                    <a:bodyPr/>
                    <a:lstStyle/>
                    <a:p>
                      <a:pPr algn="l">
                        <a:buNone/>
                      </a:pPr>
                      <a:r>
                        <a:rPr lang="en-US" sz="1050" i="1" dirty="0">
                          <a:effectLst/>
                        </a:rPr>
                        <a:t>Kim &amp; Cho</a:t>
                      </a:r>
                      <a:br>
                        <a:rPr lang="en-US" sz="1050" dirty="0">
                          <a:effectLst/>
                        </a:rPr>
                      </a:br>
                      <a:r>
                        <a:rPr lang="en-US" sz="1050" dirty="0">
                          <a:effectLst/>
                        </a:rPr>
                        <a:t>2024</a:t>
                      </a:r>
                    </a:p>
                  </a:txBody>
                  <a:tcPr marL="95250" marR="95250" marT="47625" marB="47625" anchor="ctr"/>
                </a:tc>
                <a:tc>
                  <a:txBody>
                    <a:bodyPr/>
                    <a:lstStyle/>
                    <a:p>
                      <a:pPr algn="l">
                        <a:buNone/>
                      </a:pPr>
                      <a:r>
                        <a:rPr lang="en-US" sz="1050" b="1" dirty="0">
                          <a:effectLst/>
                        </a:rPr>
                        <a:t>Agent-Based Autonomous Threat Landscape Analysis using LLMs</a:t>
                      </a:r>
                      <a:br>
                        <a:rPr lang="en-US" sz="1050" dirty="0">
                          <a:effectLst/>
                        </a:rPr>
                      </a:br>
                      <a:endParaRPr lang="en-US" sz="1050" dirty="0">
                        <a:effectLst/>
                      </a:endParaRPr>
                    </a:p>
                  </a:txBody>
                  <a:tcPr marL="95250" marR="95250" marT="47625" marB="47625" anchor="ctr"/>
                </a:tc>
                <a:tc>
                  <a:txBody>
                    <a:bodyPr/>
                    <a:lstStyle/>
                    <a:p>
                      <a:pPr algn="l">
                        <a:buNone/>
                      </a:pPr>
                      <a:r>
                        <a:rPr lang="en-US" sz="1050">
                          <a:effectLst/>
                        </a:rPr>
                        <a:t>Introduces an orchestrator-agent framework that actively maps ongoing attacks to MITRE ATT&amp;CK vectors autonomously.</a:t>
                      </a:r>
                    </a:p>
                  </a:txBody>
                  <a:tcPr marL="95250" marR="95250" marT="47625" marB="47625" anchor="ctr"/>
                </a:tc>
                <a:tc>
                  <a:txBody>
                    <a:bodyPr/>
                    <a:lstStyle/>
                    <a:p>
                      <a:pPr algn="l">
                        <a:buNone/>
                      </a:pPr>
                      <a:r>
                        <a:rPr lang="en-US" sz="1050">
                          <a:effectLst/>
                        </a:rPr>
                        <a:t>The agentic workflows face severe latency constraints, making them unsuitable for real-time packet-level, inline network blocking.</a:t>
                      </a:r>
                    </a:p>
                  </a:txBody>
                  <a:tcPr marL="95250" marR="95250" marT="47625" marB="47625" anchor="ctr"/>
                </a:tc>
                <a:extLst>
                  <a:ext uri="{0D108BD9-81ED-4DB2-BD59-A6C34878D82A}">
                    <a16:rowId xmlns:a16="http://schemas.microsoft.com/office/drawing/2014/main" val="919704194"/>
                  </a:ext>
                </a:extLst>
              </a:tr>
              <a:tr h="914287">
                <a:tc>
                  <a:txBody>
                    <a:bodyPr/>
                    <a:lstStyle/>
                    <a:p>
                      <a:pPr algn="ctr">
                        <a:buNone/>
                      </a:pPr>
                      <a:r>
                        <a:rPr lang="en-US" sz="1050">
                          <a:effectLst/>
                        </a:rPr>
                        <a:t>7</a:t>
                      </a:r>
                    </a:p>
                  </a:txBody>
                  <a:tcPr marL="95250" marR="95250" marT="47625" marB="47625" anchor="ctr"/>
                </a:tc>
                <a:tc>
                  <a:txBody>
                    <a:bodyPr/>
                    <a:lstStyle/>
                    <a:p>
                      <a:pPr algn="l">
                        <a:buNone/>
                      </a:pPr>
                      <a:r>
                        <a:rPr lang="en-US" sz="1050" i="1" dirty="0">
                          <a:effectLst/>
                        </a:rPr>
                        <a:t>Huang et al.</a:t>
                      </a:r>
                      <a:br>
                        <a:rPr lang="en-US" sz="1050" dirty="0">
                          <a:effectLst/>
                        </a:rPr>
                      </a:br>
                      <a:r>
                        <a:rPr lang="en-US" sz="1050" dirty="0">
                          <a:effectLst/>
                        </a:rPr>
                        <a:t>2024</a:t>
                      </a:r>
                    </a:p>
                  </a:txBody>
                  <a:tcPr marL="95250" marR="95250" marT="47625" marB="47625" anchor="ctr"/>
                </a:tc>
                <a:tc>
                  <a:txBody>
                    <a:bodyPr/>
                    <a:lstStyle/>
                    <a:p>
                      <a:pPr algn="l">
                        <a:buNone/>
                      </a:pPr>
                      <a:r>
                        <a:rPr lang="en-US" sz="1050" b="1" dirty="0">
                          <a:effectLst/>
                        </a:rPr>
                        <a:t>Evaluating the Privacy of Large Language Model Ecosystems</a:t>
                      </a:r>
                      <a:br>
                        <a:rPr lang="en-US" sz="1050" dirty="0">
                          <a:effectLst/>
                        </a:rPr>
                      </a:br>
                      <a:endParaRPr lang="en-US" sz="1050" dirty="0">
                        <a:effectLst/>
                      </a:endParaRPr>
                    </a:p>
                  </a:txBody>
                  <a:tcPr marL="95250" marR="95250" marT="47625" marB="47625" anchor="ctr"/>
                </a:tc>
                <a:tc>
                  <a:txBody>
                    <a:bodyPr/>
                    <a:lstStyle/>
                    <a:p>
                      <a:pPr algn="l">
                        <a:buNone/>
                      </a:pPr>
                      <a:r>
                        <a:rPr lang="en-US" sz="1050">
                          <a:effectLst/>
                        </a:rPr>
                        <a:t>Measures the exact rates at which base LLMs accidentally regurgitate Personally Identifiable Information from training sets or context windows.</a:t>
                      </a:r>
                    </a:p>
                  </a:txBody>
                  <a:tcPr marL="95250" marR="95250" marT="47625" marB="47625" anchor="ctr"/>
                </a:tc>
                <a:tc>
                  <a:txBody>
                    <a:bodyPr/>
                    <a:lstStyle/>
                    <a:p>
                      <a:pPr algn="l">
                        <a:buNone/>
                      </a:pPr>
                      <a:r>
                        <a:rPr lang="en-US" sz="1050">
                          <a:effectLst/>
                        </a:rPr>
                        <a:t>Highlights that prompting "do not reveal IP" fails often; strict secondary deterministic validators (Regex loops) are mandatory.</a:t>
                      </a:r>
                    </a:p>
                  </a:txBody>
                  <a:tcPr marL="95250" marR="95250" marT="47625" marB="47625" anchor="ctr"/>
                </a:tc>
                <a:extLst>
                  <a:ext uri="{0D108BD9-81ED-4DB2-BD59-A6C34878D82A}">
                    <a16:rowId xmlns:a16="http://schemas.microsoft.com/office/drawing/2014/main" val="1212984229"/>
                  </a:ext>
                </a:extLst>
              </a:tr>
              <a:tr h="750883">
                <a:tc>
                  <a:txBody>
                    <a:bodyPr/>
                    <a:lstStyle/>
                    <a:p>
                      <a:pPr algn="ctr">
                        <a:buNone/>
                      </a:pPr>
                      <a:r>
                        <a:rPr lang="en-US" sz="1050">
                          <a:effectLst/>
                        </a:rPr>
                        <a:t>8</a:t>
                      </a:r>
                    </a:p>
                  </a:txBody>
                  <a:tcPr marL="95250" marR="95250" marT="47625" marB="47625" anchor="ctr"/>
                </a:tc>
                <a:tc>
                  <a:txBody>
                    <a:bodyPr/>
                    <a:lstStyle/>
                    <a:p>
                      <a:pPr algn="l">
                        <a:buNone/>
                      </a:pPr>
                      <a:r>
                        <a:rPr lang="en-US" sz="1050" i="1" dirty="0">
                          <a:effectLst/>
                        </a:rPr>
                        <a:t>Wang et al.</a:t>
                      </a:r>
                      <a:br>
                        <a:rPr lang="en-US" sz="1050" dirty="0">
                          <a:effectLst/>
                        </a:rPr>
                      </a:br>
                      <a:r>
                        <a:rPr lang="en-US" sz="1050" dirty="0">
                          <a:effectLst/>
                        </a:rPr>
                        <a:t>2024</a:t>
                      </a:r>
                    </a:p>
                  </a:txBody>
                  <a:tcPr marL="95250" marR="95250" marT="47625" marB="47625" anchor="ctr"/>
                </a:tc>
                <a:tc>
                  <a:txBody>
                    <a:bodyPr/>
                    <a:lstStyle/>
                    <a:p>
                      <a:pPr algn="l">
                        <a:buNone/>
                      </a:pPr>
                      <a:r>
                        <a:rPr lang="en-US" sz="1050" b="1" dirty="0">
                          <a:effectLst/>
                        </a:rPr>
                        <a:t>Empowering Zero-Day Attack Discovery using Context-Aware GPTs</a:t>
                      </a:r>
                      <a:br>
                        <a:rPr lang="en-US" sz="1050" dirty="0">
                          <a:effectLst/>
                        </a:rPr>
                      </a:br>
                      <a:endParaRPr lang="en-US" sz="1050" dirty="0">
                        <a:effectLst/>
                      </a:endParaRPr>
                    </a:p>
                  </a:txBody>
                  <a:tcPr marL="95250" marR="95250" marT="47625" marB="47625" anchor="ctr"/>
                </a:tc>
                <a:tc>
                  <a:txBody>
                    <a:bodyPr/>
                    <a:lstStyle/>
                    <a:p>
                      <a:pPr algn="l">
                        <a:buNone/>
                      </a:pPr>
                      <a:r>
                        <a:rPr lang="en-US" sz="1050">
                          <a:effectLst/>
                        </a:rPr>
                        <a:t>Shows that pre-trained attention heads can link slightly mutated network payloads to root attack families zero-shot.</a:t>
                      </a:r>
                    </a:p>
                  </a:txBody>
                  <a:tcPr marL="95250" marR="95250" marT="47625" marB="47625" anchor="ctr"/>
                </a:tc>
                <a:tc>
                  <a:txBody>
                    <a:bodyPr/>
                    <a:lstStyle/>
                    <a:p>
                      <a:pPr algn="l">
                        <a:buNone/>
                      </a:pPr>
                      <a:r>
                        <a:rPr lang="en-US" sz="1050" dirty="0">
                          <a:effectLst/>
                        </a:rPr>
                        <a:t>Pure generative discovery lacks explainability compared to retrieving specific historical threat profiles.</a:t>
                      </a:r>
                    </a:p>
                  </a:txBody>
                  <a:tcPr marL="95250" marR="95250" marT="47625" marB="47625" anchor="ctr"/>
                </a:tc>
                <a:extLst>
                  <a:ext uri="{0D108BD9-81ED-4DB2-BD59-A6C34878D82A}">
                    <a16:rowId xmlns:a16="http://schemas.microsoft.com/office/drawing/2014/main" val="1725386867"/>
                  </a:ext>
                </a:extLst>
              </a:tr>
            </a:tbl>
          </a:graphicData>
        </a:graphic>
      </p:graphicFrame>
    </p:spTree>
    <p:extLst>
      <p:ext uri="{BB962C8B-B14F-4D97-AF65-F5344CB8AC3E}">
        <p14:creationId xmlns:p14="http://schemas.microsoft.com/office/powerpoint/2010/main" val="32128789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1F14ADCF-F3E1-F04F-A4E9-CF90F545E15F}"/>
            </a:ext>
          </a:extLst>
        </p:cNvPr>
        <p:cNvGrpSpPr/>
        <p:nvPr/>
      </p:nvGrpSpPr>
      <p:grpSpPr>
        <a:xfrm>
          <a:off x="0" y="0"/>
          <a:ext cx="0" cy="0"/>
          <a:chOff x="0" y="0"/>
          <a:chExt cx="0" cy="0"/>
        </a:xfrm>
      </p:grpSpPr>
      <p:sp>
        <p:nvSpPr>
          <p:cNvPr id="2" name="object 8">
            <a:extLst>
              <a:ext uri="{FF2B5EF4-FFF2-40B4-BE49-F238E27FC236}">
                <a16:creationId xmlns:a16="http://schemas.microsoft.com/office/drawing/2014/main" id="{E3157040-207A-6095-0BC8-2BF8D9E2BEC6}"/>
              </a:ext>
            </a:extLst>
          </p:cNvPr>
          <p:cNvSpPr txBox="1">
            <a:spLocks noChangeArrowheads="1"/>
          </p:cNvSpPr>
          <p:nvPr/>
        </p:nvSpPr>
        <p:spPr bwMode="auto">
          <a:xfrm>
            <a:off x="2223903" y="110829"/>
            <a:ext cx="4526747" cy="6277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a:spcBef>
                <a:spcPct val="0"/>
              </a:spcBef>
            </a:pPr>
            <a:r>
              <a:rPr lang="en-US" altLang="en-US" sz="2000" dirty="0"/>
              <a:t>     Literature Survey(Minimum 20 papers)</a:t>
            </a:r>
          </a:p>
          <a:p>
            <a:pPr>
              <a:spcBef>
                <a:spcPct val="0"/>
              </a:spcBef>
            </a:pPr>
            <a:endParaRPr lang="en-US" altLang="en-US" sz="2000" dirty="0"/>
          </a:p>
        </p:txBody>
      </p:sp>
      <p:graphicFrame>
        <p:nvGraphicFramePr>
          <p:cNvPr id="3" name="Table 2">
            <a:extLst>
              <a:ext uri="{FF2B5EF4-FFF2-40B4-BE49-F238E27FC236}">
                <a16:creationId xmlns:a16="http://schemas.microsoft.com/office/drawing/2014/main" id="{58D9F468-A461-AB9D-DBE9-ECB187DF3327}"/>
              </a:ext>
            </a:extLst>
          </p:cNvPr>
          <p:cNvGraphicFramePr>
            <a:graphicFrameLocks noGrp="1"/>
          </p:cNvGraphicFramePr>
          <p:nvPr>
            <p:extLst>
              <p:ext uri="{D42A27DB-BD31-4B8C-83A1-F6EECF244321}">
                <p14:modId xmlns:p14="http://schemas.microsoft.com/office/powerpoint/2010/main" val="1230448500"/>
              </p:ext>
            </p:extLst>
          </p:nvPr>
        </p:nvGraphicFramePr>
        <p:xfrm>
          <a:off x="225643" y="947571"/>
          <a:ext cx="8523266" cy="3939522"/>
        </p:xfrm>
        <a:graphic>
          <a:graphicData uri="http://schemas.openxmlformats.org/drawingml/2006/table">
            <a:tbl>
              <a:tblPr firstRow="1" bandRow="1">
                <a:tableStyleId>{5DA37D80-6434-44D0-A028-1B22A696006F}</a:tableStyleId>
              </a:tblPr>
              <a:tblGrid>
                <a:gridCol w="836522">
                  <a:extLst>
                    <a:ext uri="{9D8B030D-6E8A-4147-A177-3AD203B41FA5}">
                      <a16:colId xmlns:a16="http://schemas.microsoft.com/office/drawing/2014/main" val="2279697044"/>
                    </a:ext>
                  </a:extLst>
                </a:gridCol>
                <a:gridCol w="1129114">
                  <a:extLst>
                    <a:ext uri="{9D8B030D-6E8A-4147-A177-3AD203B41FA5}">
                      <a16:colId xmlns:a16="http://schemas.microsoft.com/office/drawing/2014/main" val="803012569"/>
                    </a:ext>
                  </a:extLst>
                </a:gridCol>
                <a:gridCol w="2041235">
                  <a:extLst>
                    <a:ext uri="{9D8B030D-6E8A-4147-A177-3AD203B41FA5}">
                      <a16:colId xmlns:a16="http://schemas.microsoft.com/office/drawing/2014/main" val="1008628936"/>
                    </a:ext>
                  </a:extLst>
                </a:gridCol>
                <a:gridCol w="2497590">
                  <a:extLst>
                    <a:ext uri="{9D8B030D-6E8A-4147-A177-3AD203B41FA5}">
                      <a16:colId xmlns:a16="http://schemas.microsoft.com/office/drawing/2014/main" val="2676647448"/>
                    </a:ext>
                  </a:extLst>
                </a:gridCol>
                <a:gridCol w="2018805">
                  <a:extLst>
                    <a:ext uri="{9D8B030D-6E8A-4147-A177-3AD203B41FA5}">
                      <a16:colId xmlns:a16="http://schemas.microsoft.com/office/drawing/2014/main" val="3647373459"/>
                    </a:ext>
                  </a:extLst>
                </a:gridCol>
              </a:tblGrid>
              <a:tr h="496469">
                <a:tc>
                  <a:txBody>
                    <a:bodyPr/>
                    <a:lstStyle/>
                    <a:p>
                      <a:pPr algn="ctr"/>
                      <a:r>
                        <a:rPr lang="en-US" sz="1400" dirty="0"/>
                        <a:t>SL No</a:t>
                      </a:r>
                      <a:endParaRPr lang="en-IN" sz="1400" dirty="0"/>
                    </a:p>
                  </a:txBody>
                  <a:tcPr marL="91456" marR="91456" marT="45711" marB="45711"/>
                </a:tc>
                <a:tc>
                  <a:txBody>
                    <a:bodyPr/>
                    <a:lstStyle/>
                    <a:p>
                      <a:pPr algn="ctr"/>
                      <a:r>
                        <a:rPr lang="en-US" sz="1400" dirty="0"/>
                        <a:t>Source</a:t>
                      </a:r>
                    </a:p>
                    <a:p>
                      <a:pPr algn="ctr"/>
                      <a:r>
                        <a:rPr lang="en-US" sz="1400" dirty="0"/>
                        <a:t>(Latest)</a:t>
                      </a:r>
                      <a:endParaRPr lang="en-IN" sz="1400" dirty="0"/>
                    </a:p>
                  </a:txBody>
                  <a:tcPr marL="91456" marR="91456" marT="45711" marB="45711"/>
                </a:tc>
                <a:tc>
                  <a:txBody>
                    <a:bodyPr/>
                    <a:lstStyle/>
                    <a:p>
                      <a:pPr algn="ctr"/>
                      <a:r>
                        <a:rPr lang="en-US" sz="1400" dirty="0"/>
                        <a:t>Paper Details</a:t>
                      </a:r>
                      <a:endParaRPr lang="en-IN" sz="1400" dirty="0"/>
                    </a:p>
                  </a:txBody>
                  <a:tcPr marL="91456" marR="91456" marT="45711" marB="45711"/>
                </a:tc>
                <a:tc>
                  <a:txBody>
                    <a:bodyPr/>
                    <a:lstStyle/>
                    <a:p>
                      <a:pPr algn="ctr"/>
                      <a:r>
                        <a:rPr lang="en-US" sz="1400" dirty="0"/>
                        <a:t>Key Attributes/Findings</a:t>
                      </a:r>
                      <a:endParaRPr lang="en-IN" sz="1400" dirty="0"/>
                    </a:p>
                  </a:txBody>
                  <a:tcPr marL="91456" marR="91456" marT="45711" marB="45711"/>
                </a:tc>
                <a:tc>
                  <a:txBody>
                    <a:bodyPr/>
                    <a:lstStyle/>
                    <a:p>
                      <a:pPr algn="ctr"/>
                      <a:r>
                        <a:rPr lang="en-US" sz="1400" dirty="0"/>
                        <a:t>Challenges/</a:t>
                      </a:r>
                    </a:p>
                    <a:p>
                      <a:pPr algn="ctr"/>
                      <a:r>
                        <a:rPr lang="en-US" sz="1400" dirty="0"/>
                        <a:t>Limitations</a:t>
                      </a:r>
                      <a:endParaRPr lang="en-IN" sz="1400" dirty="0"/>
                    </a:p>
                  </a:txBody>
                  <a:tcPr marL="91456" marR="91456" marT="45711" marB="45711"/>
                </a:tc>
                <a:extLst>
                  <a:ext uri="{0D108BD9-81ED-4DB2-BD59-A6C34878D82A}">
                    <a16:rowId xmlns:a16="http://schemas.microsoft.com/office/drawing/2014/main" val="3876178566"/>
                  </a:ext>
                </a:extLst>
              </a:tr>
              <a:tr h="275210">
                <a:tc>
                  <a:txBody>
                    <a:bodyPr/>
                    <a:lstStyle/>
                    <a:p>
                      <a:pPr algn="ctr">
                        <a:buNone/>
                      </a:pPr>
                      <a:r>
                        <a:rPr lang="en-US" sz="1050">
                          <a:effectLst/>
                        </a:rPr>
                        <a:t>9</a:t>
                      </a:r>
                    </a:p>
                  </a:txBody>
                  <a:tcPr marL="95250" marR="95250" marT="47625" marB="47625" anchor="ctr"/>
                </a:tc>
                <a:tc>
                  <a:txBody>
                    <a:bodyPr/>
                    <a:lstStyle/>
                    <a:p>
                      <a:pPr algn="l">
                        <a:buNone/>
                      </a:pPr>
                      <a:r>
                        <a:rPr lang="en-US" sz="1050" i="1" dirty="0">
                          <a:effectLst/>
                        </a:rPr>
                        <a:t>Lin et al.</a:t>
                      </a:r>
                      <a:br>
                        <a:rPr lang="en-US" sz="1050" dirty="0">
                          <a:effectLst/>
                        </a:rPr>
                      </a:br>
                      <a:r>
                        <a:rPr lang="en-US" sz="1050" dirty="0">
                          <a:effectLst/>
                        </a:rPr>
                        <a:t>2024</a:t>
                      </a:r>
                    </a:p>
                  </a:txBody>
                  <a:tcPr marL="95250" marR="95250" marT="47625" marB="47625" anchor="ctr"/>
                </a:tc>
                <a:tc>
                  <a:txBody>
                    <a:bodyPr/>
                    <a:lstStyle/>
                    <a:p>
                      <a:pPr algn="l">
                        <a:buNone/>
                      </a:pPr>
                      <a:r>
                        <a:rPr lang="en-US" sz="1050" b="1" dirty="0">
                          <a:effectLst/>
                        </a:rPr>
                        <a:t>PII Sanitization in Large Language Models: Methodologies...</a:t>
                      </a:r>
                      <a:br>
                        <a:rPr lang="en-US" sz="1050" dirty="0">
                          <a:effectLst/>
                        </a:rPr>
                      </a:br>
                      <a:endParaRPr lang="en-US" sz="1050" dirty="0">
                        <a:effectLst/>
                      </a:endParaRPr>
                    </a:p>
                  </a:txBody>
                  <a:tcPr marL="95250" marR="95250" marT="47625" marB="47625" anchor="ctr"/>
                </a:tc>
                <a:tc>
                  <a:txBody>
                    <a:bodyPr/>
                    <a:lstStyle/>
                    <a:p>
                      <a:pPr algn="l">
                        <a:buNone/>
                      </a:pPr>
                      <a:r>
                        <a:rPr lang="en-US" sz="1050">
                          <a:effectLst/>
                        </a:rPr>
                        <a:t>Categorizes state-of-the-art PII redaction methods, demonstrating that multi-agent "red-teaming" (one hides, one seeks) yields best redaction.</a:t>
                      </a:r>
                    </a:p>
                  </a:txBody>
                  <a:tcPr marL="95250" marR="95250" marT="47625" marB="47625" anchor="ctr"/>
                </a:tc>
                <a:tc>
                  <a:txBody>
                    <a:bodyPr/>
                    <a:lstStyle/>
                    <a:p>
                      <a:pPr algn="l">
                        <a:buNone/>
                      </a:pPr>
                      <a:r>
                        <a:rPr lang="en-US" sz="1050">
                          <a:effectLst/>
                        </a:rPr>
                        <a:t>High computational overhead to run contradictory loops for every single payload metric generated.</a:t>
                      </a:r>
                    </a:p>
                  </a:txBody>
                  <a:tcPr marL="95250" marR="95250" marT="47625" marB="47625" anchor="ctr"/>
                </a:tc>
                <a:extLst>
                  <a:ext uri="{0D108BD9-81ED-4DB2-BD59-A6C34878D82A}">
                    <a16:rowId xmlns:a16="http://schemas.microsoft.com/office/drawing/2014/main" val="3834328933"/>
                  </a:ext>
                </a:extLst>
              </a:tr>
              <a:tr h="308083">
                <a:tc>
                  <a:txBody>
                    <a:bodyPr/>
                    <a:lstStyle/>
                    <a:p>
                      <a:pPr algn="ctr">
                        <a:buNone/>
                      </a:pPr>
                      <a:r>
                        <a:rPr lang="en-US" sz="1050">
                          <a:effectLst/>
                        </a:rPr>
                        <a:t>10</a:t>
                      </a:r>
                    </a:p>
                  </a:txBody>
                  <a:tcPr marL="95250" marR="95250" marT="47625" marB="47625" anchor="ctr"/>
                </a:tc>
                <a:tc>
                  <a:txBody>
                    <a:bodyPr/>
                    <a:lstStyle/>
                    <a:p>
                      <a:pPr algn="l">
                        <a:buNone/>
                      </a:pPr>
                      <a:r>
                        <a:rPr lang="en-US" sz="1050" i="1" dirty="0">
                          <a:effectLst/>
                        </a:rPr>
                        <a:t>Hu et al.</a:t>
                      </a:r>
                      <a:br>
                        <a:rPr lang="en-US" sz="1050" dirty="0">
                          <a:effectLst/>
                        </a:rPr>
                      </a:br>
                      <a:r>
                        <a:rPr lang="en-US" sz="1050" dirty="0">
                          <a:effectLst/>
                        </a:rPr>
                        <a:t>2024</a:t>
                      </a:r>
                    </a:p>
                  </a:txBody>
                  <a:tcPr marL="95250" marR="95250" marT="47625" marB="47625" anchor="ctr"/>
                </a:tc>
                <a:tc>
                  <a:txBody>
                    <a:bodyPr/>
                    <a:lstStyle/>
                    <a:p>
                      <a:pPr algn="l">
                        <a:buNone/>
                      </a:pPr>
                      <a:r>
                        <a:rPr lang="en-US" sz="1050" b="1" dirty="0">
                          <a:effectLst/>
                        </a:rPr>
                        <a:t>RAG-Sec: Enhancing Zero-Day Vulnerability Analysis using RAG</a:t>
                      </a:r>
                      <a:br>
                        <a:rPr lang="en-US" sz="1050" dirty="0">
                          <a:effectLst/>
                        </a:rPr>
                      </a:br>
                      <a:endParaRPr lang="en-US" sz="1050" dirty="0">
                        <a:effectLst/>
                      </a:endParaRPr>
                    </a:p>
                  </a:txBody>
                  <a:tcPr marL="95250" marR="95250" marT="47625" marB="47625" anchor="ctr"/>
                </a:tc>
                <a:tc>
                  <a:txBody>
                    <a:bodyPr/>
                    <a:lstStyle/>
                    <a:p>
                      <a:pPr algn="l">
                        <a:buNone/>
                      </a:pPr>
                      <a:r>
                        <a:rPr lang="en-US" sz="1050">
                          <a:effectLst/>
                        </a:rPr>
                        <a:t>RAG significantly lowers false-positive rates when diagnosing novel vulnerabilities compared to raw supervised learning classification.</a:t>
                      </a:r>
                    </a:p>
                  </a:txBody>
                  <a:tcPr marL="95250" marR="95250" marT="47625" marB="47625" anchor="ctr"/>
                </a:tc>
                <a:tc>
                  <a:txBody>
                    <a:bodyPr/>
                    <a:lstStyle/>
                    <a:p>
                      <a:pPr algn="l">
                        <a:buNone/>
                      </a:pPr>
                      <a:r>
                        <a:rPr lang="en-US" sz="1050">
                          <a:effectLst/>
                        </a:rPr>
                        <a:t>Relies heavily on the freshness of the external database; outdated embeddings result in completely degraded generative output.</a:t>
                      </a:r>
                    </a:p>
                  </a:txBody>
                  <a:tcPr marL="95250" marR="95250" marT="47625" marB="47625" anchor="ctr"/>
                </a:tc>
                <a:extLst>
                  <a:ext uri="{0D108BD9-81ED-4DB2-BD59-A6C34878D82A}">
                    <a16:rowId xmlns:a16="http://schemas.microsoft.com/office/drawing/2014/main" val="919704194"/>
                  </a:ext>
                </a:extLst>
              </a:tr>
              <a:tr h="198452">
                <a:tc>
                  <a:txBody>
                    <a:bodyPr/>
                    <a:lstStyle/>
                    <a:p>
                      <a:pPr algn="ctr">
                        <a:buNone/>
                      </a:pPr>
                      <a:r>
                        <a:rPr lang="en-US" sz="1050">
                          <a:effectLst/>
                        </a:rPr>
                        <a:t>11</a:t>
                      </a:r>
                    </a:p>
                  </a:txBody>
                  <a:tcPr marL="95250" marR="95250" marT="47625" marB="47625" anchor="ctr"/>
                </a:tc>
                <a:tc>
                  <a:txBody>
                    <a:bodyPr/>
                    <a:lstStyle/>
                    <a:p>
                      <a:pPr algn="l">
                        <a:buNone/>
                      </a:pPr>
                      <a:r>
                        <a:rPr lang="en-US" sz="1050" i="1" dirty="0">
                          <a:effectLst/>
                        </a:rPr>
                        <a:t>Zhang, Yang, et al.</a:t>
                      </a:r>
                      <a:br>
                        <a:rPr lang="en-US" sz="1050" dirty="0">
                          <a:effectLst/>
                        </a:rPr>
                      </a:br>
                      <a:r>
                        <a:rPr lang="en-US" sz="1050" dirty="0">
                          <a:effectLst/>
                        </a:rPr>
                        <a:t>2024</a:t>
                      </a:r>
                    </a:p>
                  </a:txBody>
                  <a:tcPr marL="95250" marR="95250" marT="47625" marB="47625" anchor="ctr"/>
                </a:tc>
                <a:tc>
                  <a:txBody>
                    <a:bodyPr/>
                    <a:lstStyle/>
                    <a:p>
                      <a:pPr algn="l">
                        <a:buNone/>
                      </a:pPr>
                      <a:r>
                        <a:rPr lang="en-US" sz="1050" b="1" dirty="0">
                          <a:effectLst/>
                        </a:rPr>
                        <a:t>Synergizing FL and Vector Databases for Decentralized Cyber Immunity</a:t>
                      </a:r>
                      <a:br>
                        <a:rPr lang="en-US" sz="1050" dirty="0">
                          <a:effectLst/>
                        </a:rPr>
                      </a:br>
                      <a:endParaRPr lang="en-US" sz="1050" dirty="0">
                        <a:effectLst/>
                      </a:endParaRPr>
                    </a:p>
                  </a:txBody>
                  <a:tcPr marL="95250" marR="95250" marT="47625" marB="47625" anchor="ctr"/>
                </a:tc>
                <a:tc>
                  <a:txBody>
                    <a:bodyPr/>
                    <a:lstStyle/>
                    <a:p>
                      <a:pPr algn="l">
                        <a:buNone/>
                      </a:pPr>
                      <a:r>
                        <a:rPr lang="en-US" sz="1050">
                          <a:effectLst/>
                        </a:rPr>
                        <a:t>Conceptually proposes linking distinct FL nodes via shared vector-semantic updates of identified threats rather than raw data.</a:t>
                      </a:r>
                    </a:p>
                  </a:txBody>
                  <a:tcPr marL="95250" marR="95250" marT="47625" marB="47625" anchor="ctr"/>
                </a:tc>
                <a:tc>
                  <a:txBody>
                    <a:bodyPr/>
                    <a:lstStyle/>
                    <a:p>
                      <a:pPr algn="l">
                        <a:buNone/>
                      </a:pPr>
                      <a:r>
                        <a:rPr lang="en-US" sz="1050">
                          <a:effectLst/>
                        </a:rPr>
                        <a:t>Abstract architectural mapping; does not provide formal privacy bounds on the shared vector states mathematically.</a:t>
                      </a:r>
                    </a:p>
                  </a:txBody>
                  <a:tcPr marL="95250" marR="95250" marT="47625" marB="47625" anchor="ctr"/>
                </a:tc>
                <a:extLst>
                  <a:ext uri="{0D108BD9-81ED-4DB2-BD59-A6C34878D82A}">
                    <a16:rowId xmlns:a16="http://schemas.microsoft.com/office/drawing/2014/main" val="1212984229"/>
                  </a:ext>
                </a:extLst>
              </a:tr>
              <a:tr h="0">
                <a:tc>
                  <a:txBody>
                    <a:bodyPr/>
                    <a:lstStyle/>
                    <a:p>
                      <a:pPr algn="ctr">
                        <a:buNone/>
                      </a:pPr>
                      <a:r>
                        <a:rPr lang="en-US" sz="1050">
                          <a:effectLst/>
                        </a:rPr>
                        <a:t>12</a:t>
                      </a:r>
                    </a:p>
                  </a:txBody>
                  <a:tcPr marL="95250" marR="95250" marT="47625" marB="47625" anchor="ctr"/>
                </a:tc>
                <a:tc>
                  <a:txBody>
                    <a:bodyPr/>
                    <a:lstStyle/>
                    <a:p>
                      <a:pPr algn="l">
                        <a:buNone/>
                      </a:pPr>
                      <a:r>
                        <a:rPr lang="en-US" sz="1050" i="1" dirty="0">
                          <a:effectLst/>
                        </a:rPr>
                        <a:t>Chen et al.</a:t>
                      </a:r>
                      <a:br>
                        <a:rPr lang="en-US" sz="1050" dirty="0">
                          <a:effectLst/>
                        </a:rPr>
                      </a:br>
                      <a:r>
                        <a:rPr lang="en-US" sz="1050" dirty="0">
                          <a:effectLst/>
                        </a:rPr>
                        <a:t>2023</a:t>
                      </a:r>
                    </a:p>
                  </a:txBody>
                  <a:tcPr marL="95250" marR="95250" marT="47625" marB="47625" anchor="ctr"/>
                </a:tc>
                <a:tc>
                  <a:txBody>
                    <a:bodyPr/>
                    <a:lstStyle/>
                    <a:p>
                      <a:pPr algn="l">
                        <a:buNone/>
                      </a:pPr>
                      <a:r>
                        <a:rPr lang="en-US" sz="1050" b="1" dirty="0">
                          <a:effectLst/>
                        </a:rPr>
                        <a:t>A Federated Learning Approach to Network Intrusion Detection</a:t>
                      </a:r>
                      <a:br>
                        <a:rPr lang="en-US" sz="1050" dirty="0">
                          <a:effectLst/>
                        </a:rPr>
                      </a:br>
                      <a:endParaRPr lang="en-US" sz="1050" dirty="0">
                        <a:effectLst/>
                      </a:endParaRPr>
                    </a:p>
                  </a:txBody>
                  <a:tcPr marL="95250" marR="95250" marT="47625" marB="47625" anchor="ctr"/>
                </a:tc>
                <a:tc>
                  <a:txBody>
                    <a:bodyPr/>
                    <a:lstStyle/>
                    <a:p>
                      <a:pPr algn="l">
                        <a:buNone/>
                      </a:pPr>
                      <a:r>
                        <a:rPr lang="en-US" sz="1050" dirty="0">
                          <a:effectLst/>
                        </a:rPr>
                        <a:t>Establishes the baseline architecture for multi-node MLP intrusion detection on standardized networking datasets via </a:t>
                      </a:r>
                      <a:r>
                        <a:rPr lang="en-US" sz="1050" dirty="0" err="1">
                          <a:effectLst/>
                        </a:rPr>
                        <a:t>FedAvg</a:t>
                      </a:r>
                      <a:r>
                        <a:rPr lang="en-US" sz="1050" dirty="0">
                          <a:effectLst/>
                        </a:rPr>
                        <a:t>.</a:t>
                      </a:r>
                    </a:p>
                  </a:txBody>
                  <a:tcPr marL="95250" marR="95250" marT="47625" marB="47625" anchor="ctr"/>
                </a:tc>
                <a:tc>
                  <a:txBody>
                    <a:bodyPr/>
                    <a:lstStyle/>
                    <a:p>
                      <a:pPr algn="l">
                        <a:buNone/>
                      </a:pPr>
                      <a:r>
                        <a:rPr lang="en-US" sz="1050" dirty="0">
                          <a:effectLst/>
                        </a:rPr>
                        <a:t>Local data poisoning by one node quickly propagates bias into the global model under standard averaging.</a:t>
                      </a:r>
                    </a:p>
                  </a:txBody>
                  <a:tcPr marL="95250" marR="95250" marT="47625" marB="47625" anchor="ctr"/>
                </a:tc>
                <a:extLst>
                  <a:ext uri="{0D108BD9-81ED-4DB2-BD59-A6C34878D82A}">
                    <a16:rowId xmlns:a16="http://schemas.microsoft.com/office/drawing/2014/main" val="1725386867"/>
                  </a:ext>
                </a:extLst>
              </a:tr>
            </a:tbl>
          </a:graphicData>
        </a:graphic>
      </p:graphicFrame>
    </p:spTree>
    <p:extLst>
      <p:ext uri="{BB962C8B-B14F-4D97-AF65-F5344CB8AC3E}">
        <p14:creationId xmlns:p14="http://schemas.microsoft.com/office/powerpoint/2010/main" val="36350483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6043AD4B-0C40-369E-99DE-6C6F542B90DB}"/>
            </a:ext>
          </a:extLst>
        </p:cNvPr>
        <p:cNvGrpSpPr/>
        <p:nvPr/>
      </p:nvGrpSpPr>
      <p:grpSpPr>
        <a:xfrm>
          <a:off x="0" y="0"/>
          <a:ext cx="0" cy="0"/>
          <a:chOff x="0" y="0"/>
          <a:chExt cx="0" cy="0"/>
        </a:xfrm>
      </p:grpSpPr>
      <p:sp>
        <p:nvSpPr>
          <p:cNvPr id="2" name="object 8">
            <a:extLst>
              <a:ext uri="{FF2B5EF4-FFF2-40B4-BE49-F238E27FC236}">
                <a16:creationId xmlns:a16="http://schemas.microsoft.com/office/drawing/2014/main" id="{14973578-B43F-9C6F-0A01-2DFFB0219887}"/>
              </a:ext>
            </a:extLst>
          </p:cNvPr>
          <p:cNvSpPr txBox="1">
            <a:spLocks noChangeArrowheads="1"/>
          </p:cNvSpPr>
          <p:nvPr/>
        </p:nvSpPr>
        <p:spPr bwMode="auto">
          <a:xfrm>
            <a:off x="2223903" y="110829"/>
            <a:ext cx="4526747" cy="6277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a:spcBef>
                <a:spcPct val="0"/>
              </a:spcBef>
            </a:pPr>
            <a:r>
              <a:rPr lang="en-US" altLang="en-US" sz="2000" dirty="0"/>
              <a:t>     Literature Survey(Minimum 20 papers)</a:t>
            </a:r>
          </a:p>
          <a:p>
            <a:pPr>
              <a:spcBef>
                <a:spcPct val="0"/>
              </a:spcBef>
            </a:pPr>
            <a:endParaRPr lang="en-US" altLang="en-US" sz="2000" dirty="0"/>
          </a:p>
        </p:txBody>
      </p:sp>
      <p:graphicFrame>
        <p:nvGraphicFramePr>
          <p:cNvPr id="3" name="Table 2">
            <a:extLst>
              <a:ext uri="{FF2B5EF4-FFF2-40B4-BE49-F238E27FC236}">
                <a16:creationId xmlns:a16="http://schemas.microsoft.com/office/drawing/2014/main" id="{D797C401-BB47-300D-F9ED-BAEA9D7C7B07}"/>
              </a:ext>
            </a:extLst>
          </p:cNvPr>
          <p:cNvGraphicFramePr>
            <a:graphicFrameLocks noGrp="1"/>
          </p:cNvGraphicFramePr>
          <p:nvPr>
            <p:extLst>
              <p:ext uri="{D42A27DB-BD31-4B8C-83A1-F6EECF244321}">
                <p14:modId xmlns:p14="http://schemas.microsoft.com/office/powerpoint/2010/main" val="1885692799"/>
              </p:ext>
            </p:extLst>
          </p:nvPr>
        </p:nvGraphicFramePr>
        <p:xfrm>
          <a:off x="225642" y="947570"/>
          <a:ext cx="8755071" cy="3970596"/>
        </p:xfrm>
        <a:graphic>
          <a:graphicData uri="http://schemas.openxmlformats.org/drawingml/2006/table">
            <a:tbl>
              <a:tblPr firstRow="1" bandRow="1">
                <a:tableStyleId>{5DA37D80-6434-44D0-A028-1B22A696006F}</a:tableStyleId>
              </a:tblPr>
              <a:tblGrid>
                <a:gridCol w="859273">
                  <a:extLst>
                    <a:ext uri="{9D8B030D-6E8A-4147-A177-3AD203B41FA5}">
                      <a16:colId xmlns:a16="http://schemas.microsoft.com/office/drawing/2014/main" val="2279697044"/>
                    </a:ext>
                  </a:extLst>
                </a:gridCol>
                <a:gridCol w="1159822">
                  <a:extLst>
                    <a:ext uri="{9D8B030D-6E8A-4147-A177-3AD203B41FA5}">
                      <a16:colId xmlns:a16="http://schemas.microsoft.com/office/drawing/2014/main" val="803012569"/>
                    </a:ext>
                  </a:extLst>
                </a:gridCol>
                <a:gridCol w="2096750">
                  <a:extLst>
                    <a:ext uri="{9D8B030D-6E8A-4147-A177-3AD203B41FA5}">
                      <a16:colId xmlns:a16="http://schemas.microsoft.com/office/drawing/2014/main" val="1008628936"/>
                    </a:ext>
                  </a:extLst>
                </a:gridCol>
                <a:gridCol w="2565516">
                  <a:extLst>
                    <a:ext uri="{9D8B030D-6E8A-4147-A177-3AD203B41FA5}">
                      <a16:colId xmlns:a16="http://schemas.microsoft.com/office/drawing/2014/main" val="2676647448"/>
                    </a:ext>
                  </a:extLst>
                </a:gridCol>
                <a:gridCol w="2073710">
                  <a:extLst>
                    <a:ext uri="{9D8B030D-6E8A-4147-A177-3AD203B41FA5}">
                      <a16:colId xmlns:a16="http://schemas.microsoft.com/office/drawing/2014/main" val="3647373459"/>
                    </a:ext>
                  </a:extLst>
                </a:gridCol>
              </a:tblGrid>
              <a:tr h="589503">
                <a:tc>
                  <a:txBody>
                    <a:bodyPr/>
                    <a:lstStyle/>
                    <a:p>
                      <a:pPr algn="ctr"/>
                      <a:r>
                        <a:rPr lang="en-US" sz="1400" dirty="0"/>
                        <a:t>SL No</a:t>
                      </a:r>
                      <a:endParaRPr lang="en-IN" sz="1400" dirty="0"/>
                    </a:p>
                  </a:txBody>
                  <a:tcPr marL="91456" marR="91456" marT="45711" marB="45711"/>
                </a:tc>
                <a:tc>
                  <a:txBody>
                    <a:bodyPr/>
                    <a:lstStyle/>
                    <a:p>
                      <a:pPr algn="ctr"/>
                      <a:r>
                        <a:rPr lang="en-US" sz="1400" dirty="0"/>
                        <a:t>Source</a:t>
                      </a:r>
                    </a:p>
                    <a:p>
                      <a:pPr algn="ctr"/>
                      <a:r>
                        <a:rPr lang="en-US" sz="1400" dirty="0"/>
                        <a:t>(Latest)</a:t>
                      </a:r>
                      <a:endParaRPr lang="en-IN" sz="1400" dirty="0"/>
                    </a:p>
                  </a:txBody>
                  <a:tcPr marL="91456" marR="91456" marT="45711" marB="45711"/>
                </a:tc>
                <a:tc>
                  <a:txBody>
                    <a:bodyPr/>
                    <a:lstStyle/>
                    <a:p>
                      <a:pPr algn="ctr"/>
                      <a:r>
                        <a:rPr lang="en-US" sz="1400" dirty="0"/>
                        <a:t>Paper Details</a:t>
                      </a:r>
                      <a:endParaRPr lang="en-IN" sz="1400" dirty="0"/>
                    </a:p>
                  </a:txBody>
                  <a:tcPr marL="91456" marR="91456" marT="45711" marB="45711"/>
                </a:tc>
                <a:tc>
                  <a:txBody>
                    <a:bodyPr/>
                    <a:lstStyle/>
                    <a:p>
                      <a:pPr algn="ctr"/>
                      <a:r>
                        <a:rPr lang="en-US" sz="1400" dirty="0"/>
                        <a:t>Key Attributes/Findings</a:t>
                      </a:r>
                      <a:endParaRPr lang="en-IN" sz="1400" dirty="0"/>
                    </a:p>
                  </a:txBody>
                  <a:tcPr marL="91456" marR="91456" marT="45711" marB="45711"/>
                </a:tc>
                <a:tc>
                  <a:txBody>
                    <a:bodyPr/>
                    <a:lstStyle/>
                    <a:p>
                      <a:pPr algn="ctr"/>
                      <a:r>
                        <a:rPr lang="en-US" sz="1400" dirty="0"/>
                        <a:t>Challenges/</a:t>
                      </a:r>
                    </a:p>
                    <a:p>
                      <a:pPr algn="ctr"/>
                      <a:r>
                        <a:rPr lang="en-US" sz="1400" dirty="0"/>
                        <a:t>Limitations</a:t>
                      </a:r>
                      <a:endParaRPr lang="en-IN" sz="1400" dirty="0"/>
                    </a:p>
                  </a:txBody>
                  <a:tcPr marL="91456" marR="91456" marT="45711" marB="45711"/>
                </a:tc>
                <a:extLst>
                  <a:ext uri="{0D108BD9-81ED-4DB2-BD59-A6C34878D82A}">
                    <a16:rowId xmlns:a16="http://schemas.microsoft.com/office/drawing/2014/main" val="3876178566"/>
                  </a:ext>
                </a:extLst>
              </a:tr>
              <a:tr h="801926">
                <a:tc>
                  <a:txBody>
                    <a:bodyPr/>
                    <a:lstStyle/>
                    <a:p>
                      <a:pPr algn="ctr">
                        <a:buNone/>
                      </a:pPr>
                      <a:r>
                        <a:rPr lang="en-US" sz="1000">
                          <a:effectLst/>
                        </a:rPr>
                        <a:t>13</a:t>
                      </a:r>
                    </a:p>
                  </a:txBody>
                  <a:tcPr marL="95250" marR="95250" marT="47625" marB="47625" anchor="ctr"/>
                </a:tc>
                <a:tc>
                  <a:txBody>
                    <a:bodyPr/>
                    <a:lstStyle/>
                    <a:p>
                      <a:pPr algn="l">
                        <a:buNone/>
                      </a:pPr>
                      <a:r>
                        <a:rPr lang="en-US" sz="1000" i="1" dirty="0">
                          <a:effectLst/>
                        </a:rPr>
                        <a:t>Reynaud, Gupta,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Collaborative &amp; Privacy-Preserving Intrusion Detection in Edge Computing</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Adjusts FL to operate effectively on constrained Edge devices with limited RAM/GPU profiles.</a:t>
                      </a:r>
                    </a:p>
                  </a:txBody>
                  <a:tcPr marL="95250" marR="95250" marT="47625" marB="47625" anchor="ctr"/>
                </a:tc>
                <a:tc>
                  <a:txBody>
                    <a:bodyPr/>
                    <a:lstStyle/>
                    <a:p>
                      <a:pPr algn="l">
                        <a:buNone/>
                      </a:pPr>
                      <a:r>
                        <a:rPr lang="en-US" sz="1000">
                          <a:effectLst/>
                        </a:rPr>
                        <a:t>Highly sensitive to straggler nodes; connection drops from IoT endpoints delay global federated aggregation rounds.</a:t>
                      </a:r>
                    </a:p>
                  </a:txBody>
                  <a:tcPr marL="95250" marR="95250" marT="47625" marB="47625" anchor="ctr"/>
                </a:tc>
                <a:extLst>
                  <a:ext uri="{0D108BD9-81ED-4DB2-BD59-A6C34878D82A}">
                    <a16:rowId xmlns:a16="http://schemas.microsoft.com/office/drawing/2014/main" val="3834328933"/>
                  </a:ext>
                </a:extLst>
              </a:tr>
              <a:tr h="801926">
                <a:tc>
                  <a:txBody>
                    <a:bodyPr/>
                    <a:lstStyle/>
                    <a:p>
                      <a:pPr algn="ctr">
                        <a:buNone/>
                      </a:pPr>
                      <a:r>
                        <a:rPr lang="en-US" sz="1000">
                          <a:effectLst/>
                        </a:rPr>
                        <a:t>14</a:t>
                      </a:r>
                    </a:p>
                  </a:txBody>
                  <a:tcPr marL="95250" marR="95250" marT="47625" marB="47625" anchor="ctr"/>
                </a:tc>
                <a:tc>
                  <a:txBody>
                    <a:bodyPr/>
                    <a:lstStyle/>
                    <a:p>
                      <a:pPr algn="l">
                        <a:buNone/>
                      </a:pPr>
                      <a:r>
                        <a:rPr lang="en-US" sz="1000" i="1" dirty="0">
                          <a:effectLst/>
                        </a:rPr>
                        <a:t>Liu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Scalable Privacy-Preserving FL Framework for Securing IoT Devices</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Implements distributed hash tables alongside FL to scale the number of participating endpoint agents securely.</a:t>
                      </a:r>
                    </a:p>
                  </a:txBody>
                  <a:tcPr marL="95250" marR="95250" marT="47625" marB="47625" anchor="ctr"/>
                </a:tc>
                <a:tc>
                  <a:txBody>
                    <a:bodyPr/>
                    <a:lstStyle/>
                    <a:p>
                      <a:pPr algn="l">
                        <a:buNone/>
                      </a:pPr>
                      <a:r>
                        <a:rPr lang="en-US" sz="1000">
                          <a:effectLst/>
                        </a:rPr>
                        <a:t>Scaling mechanisms increase overall network overhead and bandwidth saturation during global updates.</a:t>
                      </a:r>
                    </a:p>
                  </a:txBody>
                  <a:tcPr marL="95250" marR="95250" marT="47625" marB="47625" anchor="ctr"/>
                </a:tc>
                <a:extLst>
                  <a:ext uri="{0D108BD9-81ED-4DB2-BD59-A6C34878D82A}">
                    <a16:rowId xmlns:a16="http://schemas.microsoft.com/office/drawing/2014/main" val="919704194"/>
                  </a:ext>
                </a:extLst>
              </a:tr>
              <a:tr h="801926">
                <a:tc>
                  <a:txBody>
                    <a:bodyPr/>
                    <a:lstStyle/>
                    <a:p>
                      <a:pPr algn="ctr">
                        <a:buNone/>
                      </a:pPr>
                      <a:r>
                        <a:rPr lang="en-US" sz="1000">
                          <a:effectLst/>
                        </a:rPr>
                        <a:t>15</a:t>
                      </a:r>
                    </a:p>
                  </a:txBody>
                  <a:tcPr marL="95250" marR="95250" marT="47625" marB="47625" anchor="ctr"/>
                </a:tc>
                <a:tc>
                  <a:txBody>
                    <a:bodyPr/>
                    <a:lstStyle/>
                    <a:p>
                      <a:pPr algn="l">
                        <a:buNone/>
                      </a:pPr>
                      <a:r>
                        <a:rPr lang="en-US" sz="1000" i="1" dirty="0">
                          <a:effectLst/>
                        </a:rPr>
                        <a:t>Zhao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Federated Learning with Non-IID Data: A Survey</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Formalizes the statistical feature drift problem where varying network traffic distributions cause global model divergence.</a:t>
                      </a:r>
                    </a:p>
                  </a:txBody>
                  <a:tcPr marL="95250" marR="95250" marT="47625" marB="47625" anchor="ctr"/>
                </a:tc>
                <a:tc>
                  <a:txBody>
                    <a:bodyPr/>
                    <a:lstStyle/>
                    <a:p>
                      <a:pPr algn="l">
                        <a:buNone/>
                      </a:pPr>
                      <a:r>
                        <a:rPr lang="en-US" sz="1000">
                          <a:effectLst/>
                        </a:rPr>
                        <a:t>Foundational analysis showing exactly why pure FedAvg fails in network security contexts.</a:t>
                      </a:r>
                    </a:p>
                  </a:txBody>
                  <a:tcPr marL="95250" marR="95250" marT="47625" marB="47625" anchor="ctr"/>
                </a:tc>
                <a:extLst>
                  <a:ext uri="{0D108BD9-81ED-4DB2-BD59-A6C34878D82A}">
                    <a16:rowId xmlns:a16="http://schemas.microsoft.com/office/drawing/2014/main" val="1212984229"/>
                  </a:ext>
                </a:extLst>
              </a:tr>
              <a:tr h="975315">
                <a:tc>
                  <a:txBody>
                    <a:bodyPr/>
                    <a:lstStyle/>
                    <a:p>
                      <a:pPr algn="ctr">
                        <a:buNone/>
                      </a:pPr>
                      <a:r>
                        <a:rPr lang="en-US" sz="1000">
                          <a:effectLst/>
                        </a:rPr>
                        <a:t>16</a:t>
                      </a:r>
                    </a:p>
                  </a:txBody>
                  <a:tcPr marL="95250" marR="95250" marT="47625" marB="47625" anchor="ctr"/>
                </a:tc>
                <a:tc>
                  <a:txBody>
                    <a:bodyPr/>
                    <a:lstStyle/>
                    <a:p>
                      <a:pPr algn="l">
                        <a:buNone/>
                      </a:pPr>
                      <a:r>
                        <a:rPr lang="en-US" sz="1000" i="1" dirty="0">
                          <a:effectLst/>
                        </a:rPr>
                        <a:t>Huang, Zhu,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Dynamic Trust-Aware Federated Learning in Unreliable Environments</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Generates reliability "trust" scores for nodes based on their training stability, isolating erratic gradients from the average.</a:t>
                      </a:r>
                    </a:p>
                  </a:txBody>
                  <a:tcPr marL="95250" marR="95250" marT="47625" marB="47625" anchor="ctr"/>
                </a:tc>
                <a:tc>
                  <a:txBody>
                    <a:bodyPr/>
                    <a:lstStyle/>
                    <a:p>
                      <a:pPr algn="l">
                        <a:buNone/>
                      </a:pPr>
                      <a:r>
                        <a:rPr lang="en-US" sz="1000" dirty="0">
                          <a:effectLst/>
                        </a:rPr>
                        <a:t>Trust scores can be manipulated if an attacker gradually degrades their submissions rather than doing it impulsively.</a:t>
                      </a:r>
                    </a:p>
                  </a:txBody>
                  <a:tcPr marL="95250" marR="95250" marT="47625" marB="47625" anchor="ctr"/>
                </a:tc>
                <a:extLst>
                  <a:ext uri="{0D108BD9-81ED-4DB2-BD59-A6C34878D82A}">
                    <a16:rowId xmlns:a16="http://schemas.microsoft.com/office/drawing/2014/main" val="1725386867"/>
                  </a:ext>
                </a:extLst>
              </a:tr>
            </a:tbl>
          </a:graphicData>
        </a:graphic>
      </p:graphicFrame>
    </p:spTree>
    <p:extLst>
      <p:ext uri="{BB962C8B-B14F-4D97-AF65-F5344CB8AC3E}">
        <p14:creationId xmlns:p14="http://schemas.microsoft.com/office/powerpoint/2010/main" val="16680631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EA96B53E-5FE3-2E8F-B57B-F21B69D1EB87}"/>
            </a:ext>
          </a:extLst>
        </p:cNvPr>
        <p:cNvGrpSpPr/>
        <p:nvPr/>
      </p:nvGrpSpPr>
      <p:grpSpPr>
        <a:xfrm>
          <a:off x="0" y="0"/>
          <a:ext cx="0" cy="0"/>
          <a:chOff x="0" y="0"/>
          <a:chExt cx="0" cy="0"/>
        </a:xfrm>
      </p:grpSpPr>
      <p:sp>
        <p:nvSpPr>
          <p:cNvPr id="2" name="object 8">
            <a:extLst>
              <a:ext uri="{FF2B5EF4-FFF2-40B4-BE49-F238E27FC236}">
                <a16:creationId xmlns:a16="http://schemas.microsoft.com/office/drawing/2014/main" id="{88B53E81-A11A-309C-AB72-411FA5219E7E}"/>
              </a:ext>
            </a:extLst>
          </p:cNvPr>
          <p:cNvSpPr txBox="1">
            <a:spLocks noChangeArrowheads="1"/>
          </p:cNvSpPr>
          <p:nvPr/>
        </p:nvSpPr>
        <p:spPr bwMode="auto">
          <a:xfrm>
            <a:off x="2223903" y="110829"/>
            <a:ext cx="4526747" cy="6277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12065" rIns="0" bIns="0">
            <a:spAutoFit/>
          </a:bodyPr>
          <a:lstStyle>
            <a:lvl1pPr marL="12700">
              <a:spcBef>
                <a:spcPct val="20000"/>
              </a:spcBef>
              <a:defRPr>
                <a:solidFill>
                  <a:schemeClr val="tx1"/>
                </a:solidFill>
                <a:latin typeface="Calibri" panose="020F0502020204030204" pitchFamily="34" charset="0"/>
                <a:ea typeface="ＭＳ Ｐゴシック" panose="020B0600070205080204" pitchFamily="34" charset="-128"/>
              </a:defRPr>
            </a:lvl1pPr>
            <a:lvl2pPr marL="742950" indent="-285750">
              <a:spcBef>
                <a:spcPct val="20000"/>
              </a:spcBef>
              <a:defRPr>
                <a:solidFill>
                  <a:schemeClr val="tx1"/>
                </a:solidFill>
                <a:latin typeface="Calibri" panose="020F0502020204030204" pitchFamily="34" charset="0"/>
                <a:ea typeface="ＭＳ Ｐゴシック" panose="020B0600070205080204" pitchFamily="34" charset="-128"/>
              </a:defRPr>
            </a:lvl2pPr>
            <a:lvl3pPr marL="1143000" indent="-228600">
              <a:spcBef>
                <a:spcPct val="20000"/>
              </a:spcBef>
              <a:defRPr>
                <a:solidFill>
                  <a:schemeClr val="tx1"/>
                </a:solidFill>
                <a:latin typeface="Calibri" panose="020F0502020204030204" pitchFamily="34" charset="0"/>
                <a:ea typeface="ＭＳ Ｐゴシック" panose="020B0600070205080204" pitchFamily="34" charset="-128"/>
              </a:defRPr>
            </a:lvl3pPr>
            <a:lvl4pPr marL="1600200" indent="-228600">
              <a:spcBef>
                <a:spcPct val="20000"/>
              </a:spcBef>
              <a:defRPr>
                <a:solidFill>
                  <a:schemeClr val="tx1"/>
                </a:solidFill>
                <a:latin typeface="Calibri" panose="020F0502020204030204" pitchFamily="34" charset="0"/>
                <a:ea typeface="ＭＳ Ｐゴシック" panose="020B0600070205080204" pitchFamily="34" charset="-128"/>
              </a:defRPr>
            </a:lvl4pPr>
            <a:lvl5pPr marL="2057400" indent="-228600">
              <a:spcBef>
                <a:spcPct val="20000"/>
              </a:spcBef>
              <a:defRPr>
                <a:solidFill>
                  <a:schemeClr val="tx1"/>
                </a:solidFill>
                <a:latin typeface="Calibri" panose="020F0502020204030204" pitchFamily="34" charset="0"/>
                <a:ea typeface="ＭＳ Ｐゴシック" panose="020B0600070205080204" pitchFamily="34" charset="-128"/>
              </a:defRPr>
            </a:lvl5pPr>
            <a:lvl6pPr marL="25146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6pPr>
            <a:lvl7pPr marL="29718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7pPr>
            <a:lvl8pPr marL="34290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8pPr>
            <a:lvl9pPr marL="3886200" indent="-228600" defTabSz="457200" eaLnBrk="0" fontAlgn="base" hangingPunct="0">
              <a:spcBef>
                <a:spcPct val="20000"/>
              </a:spcBef>
              <a:spcAft>
                <a:spcPct val="0"/>
              </a:spcAft>
              <a:defRPr>
                <a:solidFill>
                  <a:schemeClr val="tx1"/>
                </a:solidFill>
                <a:latin typeface="Calibri" panose="020F0502020204030204" pitchFamily="34" charset="0"/>
                <a:ea typeface="ＭＳ Ｐゴシック" panose="020B0600070205080204" pitchFamily="34" charset="-128"/>
              </a:defRPr>
            </a:lvl9pPr>
          </a:lstStyle>
          <a:p>
            <a:pPr>
              <a:spcBef>
                <a:spcPct val="0"/>
              </a:spcBef>
            </a:pPr>
            <a:r>
              <a:rPr lang="en-US" altLang="en-US" sz="2000" dirty="0"/>
              <a:t>     Literature Survey(Minimum 20 papers)</a:t>
            </a:r>
          </a:p>
          <a:p>
            <a:pPr>
              <a:spcBef>
                <a:spcPct val="0"/>
              </a:spcBef>
            </a:pPr>
            <a:endParaRPr lang="en-US" altLang="en-US" sz="2000" dirty="0"/>
          </a:p>
        </p:txBody>
      </p:sp>
      <mc:AlternateContent xmlns:mc="http://schemas.openxmlformats.org/markup-compatibility/2006">
        <mc:Choice xmlns:a14="http://schemas.microsoft.com/office/drawing/2010/main" Requires="a14">
          <p:graphicFrame>
            <p:nvGraphicFramePr>
              <p:cNvPr id="3" name="Table 2">
                <a:extLst>
                  <a:ext uri="{FF2B5EF4-FFF2-40B4-BE49-F238E27FC236}">
                    <a16:creationId xmlns:a16="http://schemas.microsoft.com/office/drawing/2014/main" id="{B8796284-D206-5370-0091-26A46AECC784}"/>
                  </a:ext>
                </a:extLst>
              </p:cNvPr>
              <p:cNvGraphicFramePr>
                <a:graphicFrameLocks noGrp="1"/>
              </p:cNvGraphicFramePr>
              <p:nvPr>
                <p:extLst>
                  <p:ext uri="{D42A27DB-BD31-4B8C-83A1-F6EECF244321}">
                    <p14:modId xmlns:p14="http://schemas.microsoft.com/office/powerpoint/2010/main" val="102600479"/>
                  </p:ext>
                </p:extLst>
              </p:nvPr>
            </p:nvGraphicFramePr>
            <p:xfrm>
              <a:off x="225643" y="947571"/>
              <a:ext cx="8768134" cy="4029379"/>
            </p:xfrm>
            <a:graphic>
              <a:graphicData uri="http://schemas.openxmlformats.org/drawingml/2006/table">
                <a:tbl>
                  <a:tblPr firstRow="1" bandRow="1">
                    <a:tableStyleId>{5DA37D80-6434-44D0-A028-1B22A696006F}</a:tableStyleId>
                  </a:tblPr>
                  <a:tblGrid>
                    <a:gridCol w="860555">
                      <a:extLst>
                        <a:ext uri="{9D8B030D-6E8A-4147-A177-3AD203B41FA5}">
                          <a16:colId xmlns:a16="http://schemas.microsoft.com/office/drawing/2014/main" val="2279697044"/>
                        </a:ext>
                      </a:extLst>
                    </a:gridCol>
                    <a:gridCol w="1161553">
                      <a:extLst>
                        <a:ext uri="{9D8B030D-6E8A-4147-A177-3AD203B41FA5}">
                          <a16:colId xmlns:a16="http://schemas.microsoft.com/office/drawing/2014/main" val="803012569"/>
                        </a:ext>
                      </a:extLst>
                    </a:gridCol>
                    <a:gridCol w="2099878">
                      <a:extLst>
                        <a:ext uri="{9D8B030D-6E8A-4147-A177-3AD203B41FA5}">
                          <a16:colId xmlns:a16="http://schemas.microsoft.com/office/drawing/2014/main" val="1008628936"/>
                        </a:ext>
                      </a:extLst>
                    </a:gridCol>
                    <a:gridCol w="2569344">
                      <a:extLst>
                        <a:ext uri="{9D8B030D-6E8A-4147-A177-3AD203B41FA5}">
                          <a16:colId xmlns:a16="http://schemas.microsoft.com/office/drawing/2014/main" val="2676647448"/>
                        </a:ext>
                      </a:extLst>
                    </a:gridCol>
                    <a:gridCol w="2076804">
                      <a:extLst>
                        <a:ext uri="{9D8B030D-6E8A-4147-A177-3AD203B41FA5}">
                          <a16:colId xmlns:a16="http://schemas.microsoft.com/office/drawing/2014/main" val="3647373459"/>
                        </a:ext>
                      </a:extLst>
                    </a:gridCol>
                  </a:tblGrid>
                  <a:tr h="625547">
                    <a:tc>
                      <a:txBody>
                        <a:bodyPr/>
                        <a:lstStyle/>
                        <a:p>
                          <a:pPr algn="ctr"/>
                          <a:r>
                            <a:rPr lang="en-US" sz="1400" dirty="0"/>
                            <a:t>SL No</a:t>
                          </a:r>
                          <a:endParaRPr lang="en-IN" sz="1400" dirty="0"/>
                        </a:p>
                      </a:txBody>
                      <a:tcPr marL="91456" marR="91456" marT="45711" marB="45711"/>
                    </a:tc>
                    <a:tc>
                      <a:txBody>
                        <a:bodyPr/>
                        <a:lstStyle/>
                        <a:p>
                          <a:pPr algn="ctr"/>
                          <a:r>
                            <a:rPr lang="en-US" sz="1400" dirty="0"/>
                            <a:t>Source</a:t>
                          </a:r>
                        </a:p>
                        <a:p>
                          <a:pPr algn="ctr"/>
                          <a:r>
                            <a:rPr lang="en-US" sz="1400" dirty="0"/>
                            <a:t>(Latest)</a:t>
                          </a:r>
                          <a:endParaRPr lang="en-IN" sz="1400" dirty="0"/>
                        </a:p>
                      </a:txBody>
                      <a:tcPr marL="91456" marR="91456" marT="45711" marB="45711"/>
                    </a:tc>
                    <a:tc>
                      <a:txBody>
                        <a:bodyPr/>
                        <a:lstStyle/>
                        <a:p>
                          <a:pPr algn="ctr"/>
                          <a:r>
                            <a:rPr lang="en-US" sz="1400" dirty="0"/>
                            <a:t>Paper Details</a:t>
                          </a:r>
                          <a:endParaRPr lang="en-IN" sz="1400" dirty="0"/>
                        </a:p>
                      </a:txBody>
                      <a:tcPr marL="91456" marR="91456" marT="45711" marB="45711"/>
                    </a:tc>
                    <a:tc>
                      <a:txBody>
                        <a:bodyPr/>
                        <a:lstStyle/>
                        <a:p>
                          <a:pPr algn="ctr"/>
                          <a:r>
                            <a:rPr lang="en-US" sz="1400" dirty="0"/>
                            <a:t>Key Attributes/Findings</a:t>
                          </a:r>
                          <a:endParaRPr lang="en-IN" sz="1400" dirty="0"/>
                        </a:p>
                      </a:txBody>
                      <a:tcPr marL="91456" marR="91456" marT="45711" marB="45711"/>
                    </a:tc>
                    <a:tc>
                      <a:txBody>
                        <a:bodyPr/>
                        <a:lstStyle/>
                        <a:p>
                          <a:pPr algn="ctr"/>
                          <a:r>
                            <a:rPr lang="en-US" sz="1400" dirty="0"/>
                            <a:t>Challenges/</a:t>
                          </a:r>
                        </a:p>
                        <a:p>
                          <a:pPr algn="ctr"/>
                          <a:r>
                            <a:rPr lang="en-US" sz="1400" dirty="0"/>
                            <a:t>Limitations</a:t>
                          </a:r>
                          <a:endParaRPr lang="en-IN" sz="1400" dirty="0"/>
                        </a:p>
                      </a:txBody>
                      <a:tcPr marL="91456" marR="91456" marT="45711" marB="45711"/>
                    </a:tc>
                    <a:extLst>
                      <a:ext uri="{0D108BD9-81ED-4DB2-BD59-A6C34878D82A}">
                        <a16:rowId xmlns:a16="http://schemas.microsoft.com/office/drawing/2014/main" val="3876178566"/>
                      </a:ext>
                    </a:extLst>
                  </a:tr>
                  <a:tr h="850958">
                    <a:tc>
                      <a:txBody>
                        <a:bodyPr/>
                        <a:lstStyle/>
                        <a:p>
                          <a:pPr algn="ctr">
                            <a:buNone/>
                          </a:pPr>
                          <a:r>
                            <a:rPr lang="en-US" sz="1000">
                              <a:effectLst/>
                            </a:rPr>
                            <a:t>17</a:t>
                          </a:r>
                        </a:p>
                      </a:txBody>
                      <a:tcPr marL="95250" marR="95250" marT="47625" marB="47625" anchor="ctr"/>
                    </a:tc>
                    <a:tc>
                      <a:txBody>
                        <a:bodyPr/>
                        <a:lstStyle/>
                        <a:p>
                          <a:pPr algn="l">
                            <a:buNone/>
                          </a:pPr>
                          <a:r>
                            <a:rPr lang="en-US" sz="1000" i="1" dirty="0">
                              <a:effectLst/>
                            </a:rPr>
                            <a:t>Wang, Huang, Dai</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Differentially Private Vector Embeddings for Secure Retrieval</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Proves mathematical DP limits via noise injection directly to semantic text output.</a:t>
                          </a:r>
                        </a:p>
                      </a:txBody>
                      <a:tcPr marL="95250" marR="95250" marT="47625" marB="47625" anchor="ctr"/>
                    </a:tc>
                    <a:tc>
                      <a:txBody>
                        <a:bodyPr/>
                        <a:lstStyle/>
                        <a:p>
                          <a:pPr algn="l">
                            <a:buNone/>
                          </a:pPr>
                          <a:r>
                            <a:rPr lang="en-US" sz="1000">
                              <a:effectLst/>
                            </a:rPr>
                            <a:t>Noise injection causes a measurable drop in semantic retrieval accuracy (MMR match degradation).</a:t>
                          </a:r>
                        </a:p>
                      </a:txBody>
                      <a:tcPr marL="95250" marR="95250" marT="47625" marB="47625" anchor="ctr"/>
                    </a:tc>
                    <a:extLst>
                      <a:ext uri="{0D108BD9-81ED-4DB2-BD59-A6C34878D82A}">
                        <a16:rowId xmlns:a16="http://schemas.microsoft.com/office/drawing/2014/main" val="3834328933"/>
                      </a:ext>
                    </a:extLst>
                  </a:tr>
                  <a:tr h="850958">
                    <a:tc>
                      <a:txBody>
                        <a:bodyPr/>
                        <a:lstStyle/>
                        <a:p>
                          <a:pPr algn="ctr">
                            <a:buNone/>
                          </a:pPr>
                          <a:r>
                            <a:rPr lang="en-US" sz="1000">
                              <a:effectLst/>
                            </a:rPr>
                            <a:t>18</a:t>
                          </a:r>
                        </a:p>
                      </a:txBody>
                      <a:tcPr marL="95250" marR="95250" marT="47625" marB="47625" anchor="ctr"/>
                    </a:tc>
                    <a:tc>
                      <a:txBody>
                        <a:bodyPr/>
                        <a:lstStyle/>
                        <a:p>
                          <a:pPr algn="l">
                            <a:buNone/>
                          </a:pPr>
                          <a:r>
                            <a:rPr lang="en-US" sz="1000" i="1" dirty="0">
                              <a:effectLst/>
                            </a:rPr>
                            <a:t>Badi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Quantifying &amp; Mitigating Data Leakage in Vector Embeddings via DP</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Outlines exactly how membership inference extracts precise sentence structures from dense vectors, mapped specifically to language models.</a:t>
                          </a:r>
                        </a:p>
                      </a:txBody>
                      <a:tcPr marL="95250" marR="95250" marT="47625" marB="47625" anchor="ctr"/>
                    </a:tc>
                    <a:tc>
                      <a:txBody>
                        <a:bodyPr/>
                        <a:lstStyle/>
                        <a:p>
                          <a:pPr algn="l">
                            <a:buNone/>
                          </a:pPr>
                          <a:r>
                            <a:rPr lang="en-US" sz="1000">
                              <a:effectLst/>
                            </a:rPr>
                            <a:t>Establishing the precise bound of </a:t>
                          </a:r>
                          <a14:m>
                            <m:oMath xmlns:m="http://schemas.openxmlformats.org/officeDocument/2006/math">
                              <m:r>
                                <a:rPr lang="en-US" sz="1000" i="1">
                                  <a:latin typeface="Cambria Math" panose="02040503050406030204" pitchFamily="18" charset="0"/>
                                </a:rPr>
                                <m:t>𝜖</m:t>
                              </m:r>
                            </m:oMath>
                          </a14:m>
                          <a:r>
                            <a:rPr lang="en-US" sz="1000">
                              <a:effectLst/>
                            </a:rPr>
                            <a:t> is difficult without rendering the vectorized threat completely unsearchable.</a:t>
                          </a:r>
                        </a:p>
                      </a:txBody>
                      <a:tcPr marL="95250" marR="95250" marT="47625" marB="47625" anchor="ctr"/>
                    </a:tc>
                    <a:extLst>
                      <a:ext uri="{0D108BD9-81ED-4DB2-BD59-A6C34878D82A}">
                        <a16:rowId xmlns:a16="http://schemas.microsoft.com/office/drawing/2014/main" val="919704194"/>
                      </a:ext>
                    </a:extLst>
                  </a:tr>
                  <a:tr h="850958">
                    <a:tc>
                      <a:txBody>
                        <a:bodyPr/>
                        <a:lstStyle/>
                        <a:p>
                          <a:pPr algn="ctr">
                            <a:buNone/>
                          </a:pPr>
                          <a:r>
                            <a:rPr lang="en-US" sz="1000">
                              <a:effectLst/>
                            </a:rPr>
                            <a:t>19</a:t>
                          </a:r>
                        </a:p>
                      </a:txBody>
                      <a:tcPr marL="95250" marR="95250" marT="47625" marB="47625" anchor="ctr"/>
                    </a:tc>
                    <a:tc>
                      <a:txBody>
                        <a:bodyPr/>
                        <a:lstStyle/>
                        <a:p>
                          <a:pPr algn="l">
                            <a:buNone/>
                          </a:pPr>
                          <a:r>
                            <a:rPr lang="en-US" sz="1000" i="1" dirty="0">
                              <a:effectLst/>
                            </a:rPr>
                            <a:t>Chen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Local Differential Privacy for Deep Learning and Edge Computing</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Applies LDP to neural network gradient updates explicitly during the FL optimization passes.</a:t>
                          </a:r>
                        </a:p>
                      </a:txBody>
                      <a:tcPr marL="95250" marR="95250" marT="47625" marB="47625" anchor="ctr"/>
                    </a:tc>
                    <a:tc>
                      <a:txBody>
                        <a:bodyPr/>
                        <a:lstStyle/>
                        <a:p>
                          <a:pPr algn="l">
                            <a:buNone/>
                          </a:pPr>
                          <a:r>
                            <a:rPr lang="en-US" sz="1000" dirty="0">
                              <a:effectLst/>
                            </a:rPr>
                            <a:t>Adding noise locally at every node severely damages the final global classification accuracy on complex datasets.</a:t>
                          </a:r>
                        </a:p>
                      </a:txBody>
                      <a:tcPr marL="95250" marR="95250" marT="47625" marB="47625" anchor="ctr"/>
                    </a:tc>
                    <a:extLst>
                      <a:ext uri="{0D108BD9-81ED-4DB2-BD59-A6C34878D82A}">
                        <a16:rowId xmlns:a16="http://schemas.microsoft.com/office/drawing/2014/main" val="1212984229"/>
                      </a:ext>
                    </a:extLst>
                  </a:tr>
                  <a:tr h="850958">
                    <a:tc>
                      <a:txBody>
                        <a:bodyPr/>
                        <a:lstStyle/>
                        <a:p>
                          <a:pPr algn="ctr">
                            <a:buNone/>
                          </a:pPr>
                          <a:r>
                            <a:rPr lang="en-US" sz="1000">
                              <a:effectLst/>
                            </a:rPr>
                            <a:t>20</a:t>
                          </a:r>
                        </a:p>
                      </a:txBody>
                      <a:tcPr marL="95250" marR="95250" marT="47625" marB="47625" anchor="ctr"/>
                    </a:tc>
                    <a:tc>
                      <a:txBody>
                        <a:bodyPr/>
                        <a:lstStyle/>
                        <a:p>
                          <a:pPr algn="l">
                            <a:buNone/>
                          </a:pPr>
                          <a:r>
                            <a:rPr lang="en-US" sz="1000" i="1" dirty="0">
                              <a:effectLst/>
                            </a:rPr>
                            <a:t>Qiao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Generative Red Teaming: Integrating LLMs for Automated Pen Testing</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Generates adversarial inputs programmatically via an LLM agent attempting to bypass validation logic.</a:t>
                          </a:r>
                        </a:p>
                      </a:txBody>
                      <a:tcPr marL="95250" marR="95250" marT="47625" marB="47625" anchor="ctr"/>
                    </a:tc>
                    <a:tc>
                      <a:txBody>
                        <a:bodyPr/>
                        <a:lstStyle/>
                        <a:p>
                          <a:pPr algn="l">
                            <a:buNone/>
                          </a:pPr>
                          <a:r>
                            <a:rPr lang="en-US" sz="1000" dirty="0">
                              <a:effectLst/>
                            </a:rPr>
                            <a:t>Essential for "testing" immunity outputs, but the Generator agent can suffer from collapse and loop repeated test vectors.</a:t>
                          </a:r>
                        </a:p>
                      </a:txBody>
                      <a:tcPr marL="95250" marR="95250" marT="47625" marB="47625" anchor="ctr"/>
                    </a:tc>
                    <a:extLst>
                      <a:ext uri="{0D108BD9-81ED-4DB2-BD59-A6C34878D82A}">
                        <a16:rowId xmlns:a16="http://schemas.microsoft.com/office/drawing/2014/main" val="1725386867"/>
                      </a:ext>
                    </a:extLst>
                  </a:tr>
                </a:tbl>
              </a:graphicData>
            </a:graphic>
          </p:graphicFrame>
        </mc:Choice>
        <mc:Fallback>
          <p:graphicFrame>
            <p:nvGraphicFramePr>
              <p:cNvPr id="3" name="Table 2">
                <a:extLst>
                  <a:ext uri="{FF2B5EF4-FFF2-40B4-BE49-F238E27FC236}">
                    <a16:creationId xmlns:a16="http://schemas.microsoft.com/office/drawing/2014/main" id="{B8796284-D206-5370-0091-26A46AECC784}"/>
                  </a:ext>
                </a:extLst>
              </p:cNvPr>
              <p:cNvGraphicFramePr>
                <a:graphicFrameLocks noGrp="1"/>
              </p:cNvGraphicFramePr>
              <p:nvPr>
                <p:extLst>
                  <p:ext uri="{D42A27DB-BD31-4B8C-83A1-F6EECF244321}">
                    <p14:modId xmlns:p14="http://schemas.microsoft.com/office/powerpoint/2010/main" val="102600479"/>
                  </p:ext>
                </p:extLst>
              </p:nvPr>
            </p:nvGraphicFramePr>
            <p:xfrm>
              <a:off x="225643" y="947571"/>
              <a:ext cx="8768134" cy="4029379"/>
            </p:xfrm>
            <a:graphic>
              <a:graphicData uri="http://schemas.openxmlformats.org/drawingml/2006/table">
                <a:tbl>
                  <a:tblPr firstRow="1" bandRow="1">
                    <a:tableStyleId>{5DA37D80-6434-44D0-A028-1B22A696006F}</a:tableStyleId>
                  </a:tblPr>
                  <a:tblGrid>
                    <a:gridCol w="860555">
                      <a:extLst>
                        <a:ext uri="{9D8B030D-6E8A-4147-A177-3AD203B41FA5}">
                          <a16:colId xmlns:a16="http://schemas.microsoft.com/office/drawing/2014/main" val="2279697044"/>
                        </a:ext>
                      </a:extLst>
                    </a:gridCol>
                    <a:gridCol w="1161553">
                      <a:extLst>
                        <a:ext uri="{9D8B030D-6E8A-4147-A177-3AD203B41FA5}">
                          <a16:colId xmlns:a16="http://schemas.microsoft.com/office/drawing/2014/main" val="803012569"/>
                        </a:ext>
                      </a:extLst>
                    </a:gridCol>
                    <a:gridCol w="2099878">
                      <a:extLst>
                        <a:ext uri="{9D8B030D-6E8A-4147-A177-3AD203B41FA5}">
                          <a16:colId xmlns:a16="http://schemas.microsoft.com/office/drawing/2014/main" val="1008628936"/>
                        </a:ext>
                      </a:extLst>
                    </a:gridCol>
                    <a:gridCol w="2569344">
                      <a:extLst>
                        <a:ext uri="{9D8B030D-6E8A-4147-A177-3AD203B41FA5}">
                          <a16:colId xmlns:a16="http://schemas.microsoft.com/office/drawing/2014/main" val="2676647448"/>
                        </a:ext>
                      </a:extLst>
                    </a:gridCol>
                    <a:gridCol w="2076804">
                      <a:extLst>
                        <a:ext uri="{9D8B030D-6E8A-4147-A177-3AD203B41FA5}">
                          <a16:colId xmlns:a16="http://schemas.microsoft.com/office/drawing/2014/main" val="3647373459"/>
                        </a:ext>
                      </a:extLst>
                    </a:gridCol>
                  </a:tblGrid>
                  <a:tr h="625547">
                    <a:tc>
                      <a:txBody>
                        <a:bodyPr/>
                        <a:lstStyle/>
                        <a:p>
                          <a:pPr algn="ctr"/>
                          <a:r>
                            <a:rPr lang="en-US" sz="1400" dirty="0"/>
                            <a:t>SL No</a:t>
                          </a:r>
                          <a:endParaRPr lang="en-IN" sz="1400" dirty="0"/>
                        </a:p>
                      </a:txBody>
                      <a:tcPr marL="91456" marR="91456" marT="45711" marB="45711"/>
                    </a:tc>
                    <a:tc>
                      <a:txBody>
                        <a:bodyPr/>
                        <a:lstStyle/>
                        <a:p>
                          <a:pPr algn="ctr"/>
                          <a:r>
                            <a:rPr lang="en-US" sz="1400" dirty="0"/>
                            <a:t>Source</a:t>
                          </a:r>
                        </a:p>
                        <a:p>
                          <a:pPr algn="ctr"/>
                          <a:r>
                            <a:rPr lang="en-US" sz="1400" dirty="0"/>
                            <a:t>(Latest)</a:t>
                          </a:r>
                          <a:endParaRPr lang="en-IN" sz="1400" dirty="0"/>
                        </a:p>
                      </a:txBody>
                      <a:tcPr marL="91456" marR="91456" marT="45711" marB="45711"/>
                    </a:tc>
                    <a:tc>
                      <a:txBody>
                        <a:bodyPr/>
                        <a:lstStyle/>
                        <a:p>
                          <a:pPr algn="ctr"/>
                          <a:r>
                            <a:rPr lang="en-US" sz="1400" dirty="0"/>
                            <a:t>Paper Details</a:t>
                          </a:r>
                          <a:endParaRPr lang="en-IN" sz="1400" dirty="0"/>
                        </a:p>
                      </a:txBody>
                      <a:tcPr marL="91456" marR="91456" marT="45711" marB="45711"/>
                    </a:tc>
                    <a:tc>
                      <a:txBody>
                        <a:bodyPr/>
                        <a:lstStyle/>
                        <a:p>
                          <a:pPr algn="ctr"/>
                          <a:r>
                            <a:rPr lang="en-US" sz="1400" dirty="0"/>
                            <a:t>Key Attributes/Findings</a:t>
                          </a:r>
                          <a:endParaRPr lang="en-IN" sz="1400" dirty="0"/>
                        </a:p>
                      </a:txBody>
                      <a:tcPr marL="91456" marR="91456" marT="45711" marB="45711"/>
                    </a:tc>
                    <a:tc>
                      <a:txBody>
                        <a:bodyPr/>
                        <a:lstStyle/>
                        <a:p>
                          <a:pPr algn="ctr"/>
                          <a:r>
                            <a:rPr lang="en-US" sz="1400" dirty="0"/>
                            <a:t>Challenges/</a:t>
                          </a:r>
                        </a:p>
                        <a:p>
                          <a:pPr algn="ctr"/>
                          <a:r>
                            <a:rPr lang="en-US" sz="1400" dirty="0"/>
                            <a:t>Limitations</a:t>
                          </a:r>
                          <a:endParaRPr lang="en-IN" sz="1400" dirty="0"/>
                        </a:p>
                      </a:txBody>
                      <a:tcPr marL="91456" marR="91456" marT="45711" marB="45711"/>
                    </a:tc>
                    <a:extLst>
                      <a:ext uri="{0D108BD9-81ED-4DB2-BD59-A6C34878D82A}">
                        <a16:rowId xmlns:a16="http://schemas.microsoft.com/office/drawing/2014/main" val="3876178566"/>
                      </a:ext>
                    </a:extLst>
                  </a:tr>
                  <a:tr h="850958">
                    <a:tc>
                      <a:txBody>
                        <a:bodyPr/>
                        <a:lstStyle/>
                        <a:p>
                          <a:pPr algn="ctr">
                            <a:buNone/>
                          </a:pPr>
                          <a:r>
                            <a:rPr lang="en-US" sz="1000">
                              <a:effectLst/>
                            </a:rPr>
                            <a:t>17</a:t>
                          </a:r>
                        </a:p>
                      </a:txBody>
                      <a:tcPr marL="95250" marR="95250" marT="47625" marB="47625" anchor="ctr"/>
                    </a:tc>
                    <a:tc>
                      <a:txBody>
                        <a:bodyPr/>
                        <a:lstStyle/>
                        <a:p>
                          <a:pPr algn="l">
                            <a:buNone/>
                          </a:pPr>
                          <a:r>
                            <a:rPr lang="en-US" sz="1000" i="1" dirty="0">
                              <a:effectLst/>
                            </a:rPr>
                            <a:t>Wang, Huang, Dai</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Differentially Private Vector Embeddings for Secure Retrieval</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Proves mathematical DP limits via noise injection directly to semantic text output.</a:t>
                          </a:r>
                        </a:p>
                      </a:txBody>
                      <a:tcPr marL="95250" marR="95250" marT="47625" marB="47625" anchor="ctr"/>
                    </a:tc>
                    <a:tc>
                      <a:txBody>
                        <a:bodyPr/>
                        <a:lstStyle/>
                        <a:p>
                          <a:pPr algn="l">
                            <a:buNone/>
                          </a:pPr>
                          <a:r>
                            <a:rPr lang="en-US" sz="1000">
                              <a:effectLst/>
                            </a:rPr>
                            <a:t>Noise injection causes a measurable drop in semantic retrieval accuracy (MMR match degradation).</a:t>
                          </a:r>
                        </a:p>
                      </a:txBody>
                      <a:tcPr marL="95250" marR="95250" marT="47625" marB="47625" anchor="ctr"/>
                    </a:tc>
                    <a:extLst>
                      <a:ext uri="{0D108BD9-81ED-4DB2-BD59-A6C34878D82A}">
                        <a16:rowId xmlns:a16="http://schemas.microsoft.com/office/drawing/2014/main" val="3834328933"/>
                      </a:ext>
                    </a:extLst>
                  </a:tr>
                  <a:tr h="850958">
                    <a:tc>
                      <a:txBody>
                        <a:bodyPr/>
                        <a:lstStyle/>
                        <a:p>
                          <a:pPr algn="ctr">
                            <a:buNone/>
                          </a:pPr>
                          <a:r>
                            <a:rPr lang="en-US" sz="1000">
                              <a:effectLst/>
                            </a:rPr>
                            <a:t>18</a:t>
                          </a:r>
                        </a:p>
                      </a:txBody>
                      <a:tcPr marL="95250" marR="95250" marT="47625" marB="47625" anchor="ctr"/>
                    </a:tc>
                    <a:tc>
                      <a:txBody>
                        <a:bodyPr/>
                        <a:lstStyle/>
                        <a:p>
                          <a:pPr algn="l">
                            <a:buNone/>
                          </a:pPr>
                          <a:r>
                            <a:rPr lang="en-US" sz="1000" i="1" dirty="0">
                              <a:effectLst/>
                            </a:rPr>
                            <a:t>Badi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Quantifying &amp; Mitigating Data Leakage in Vector Embeddings via DP</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Outlines exactly how membership inference extracts precise sentence structures from dense vectors, mapped specifically to language models.</a:t>
                          </a:r>
                        </a:p>
                      </a:txBody>
                      <a:tcPr marL="95250" marR="95250" marT="47625" marB="47625" anchor="ctr"/>
                    </a:tc>
                    <a:tc>
                      <a:txBody>
                        <a:bodyPr/>
                        <a:lstStyle/>
                        <a:p>
                          <a:endParaRPr lang="en-US"/>
                        </a:p>
                      </a:txBody>
                      <a:tcPr marL="95250" marR="95250" marT="47625" marB="47625" anchor="ctr">
                        <a:blipFill>
                          <a:blip r:embed="rId3"/>
                          <a:stretch>
                            <a:fillRect l="-322561" t="-176119" r="-610" b="-202985"/>
                          </a:stretch>
                        </a:blipFill>
                      </a:tcPr>
                    </a:tc>
                    <a:extLst>
                      <a:ext uri="{0D108BD9-81ED-4DB2-BD59-A6C34878D82A}">
                        <a16:rowId xmlns:a16="http://schemas.microsoft.com/office/drawing/2014/main" val="919704194"/>
                      </a:ext>
                    </a:extLst>
                  </a:tr>
                  <a:tr h="850958">
                    <a:tc>
                      <a:txBody>
                        <a:bodyPr/>
                        <a:lstStyle/>
                        <a:p>
                          <a:pPr algn="ctr">
                            <a:buNone/>
                          </a:pPr>
                          <a:r>
                            <a:rPr lang="en-US" sz="1000">
                              <a:effectLst/>
                            </a:rPr>
                            <a:t>19</a:t>
                          </a:r>
                        </a:p>
                      </a:txBody>
                      <a:tcPr marL="95250" marR="95250" marT="47625" marB="47625" anchor="ctr"/>
                    </a:tc>
                    <a:tc>
                      <a:txBody>
                        <a:bodyPr/>
                        <a:lstStyle/>
                        <a:p>
                          <a:pPr algn="l">
                            <a:buNone/>
                          </a:pPr>
                          <a:r>
                            <a:rPr lang="en-US" sz="1000" i="1" dirty="0">
                              <a:effectLst/>
                            </a:rPr>
                            <a:t>Chen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Local Differential Privacy for Deep Learning and Edge Computing</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Applies LDP to neural network gradient updates explicitly during the FL optimization passes.</a:t>
                          </a:r>
                        </a:p>
                      </a:txBody>
                      <a:tcPr marL="95250" marR="95250" marT="47625" marB="47625" anchor="ctr"/>
                    </a:tc>
                    <a:tc>
                      <a:txBody>
                        <a:bodyPr/>
                        <a:lstStyle/>
                        <a:p>
                          <a:pPr algn="l">
                            <a:buNone/>
                          </a:pPr>
                          <a:r>
                            <a:rPr lang="en-US" sz="1000" dirty="0">
                              <a:effectLst/>
                            </a:rPr>
                            <a:t>Adding noise locally at every node severely damages the final global classification accuracy on complex datasets.</a:t>
                          </a:r>
                        </a:p>
                      </a:txBody>
                      <a:tcPr marL="95250" marR="95250" marT="47625" marB="47625" anchor="ctr"/>
                    </a:tc>
                    <a:extLst>
                      <a:ext uri="{0D108BD9-81ED-4DB2-BD59-A6C34878D82A}">
                        <a16:rowId xmlns:a16="http://schemas.microsoft.com/office/drawing/2014/main" val="1212984229"/>
                      </a:ext>
                    </a:extLst>
                  </a:tr>
                  <a:tr h="850958">
                    <a:tc>
                      <a:txBody>
                        <a:bodyPr/>
                        <a:lstStyle/>
                        <a:p>
                          <a:pPr algn="ctr">
                            <a:buNone/>
                          </a:pPr>
                          <a:r>
                            <a:rPr lang="en-US" sz="1000">
                              <a:effectLst/>
                            </a:rPr>
                            <a:t>20</a:t>
                          </a:r>
                        </a:p>
                      </a:txBody>
                      <a:tcPr marL="95250" marR="95250" marT="47625" marB="47625" anchor="ctr"/>
                    </a:tc>
                    <a:tc>
                      <a:txBody>
                        <a:bodyPr/>
                        <a:lstStyle/>
                        <a:p>
                          <a:pPr algn="l">
                            <a:buNone/>
                          </a:pPr>
                          <a:r>
                            <a:rPr lang="en-US" sz="1000" i="1" dirty="0">
                              <a:effectLst/>
                            </a:rPr>
                            <a:t>Qiao et al.</a:t>
                          </a:r>
                          <a:br>
                            <a:rPr lang="en-US" sz="1000" dirty="0">
                              <a:effectLst/>
                            </a:rPr>
                          </a:br>
                          <a:r>
                            <a:rPr lang="en-US" sz="1000" dirty="0">
                              <a:effectLst/>
                            </a:rPr>
                            <a:t>2023</a:t>
                          </a:r>
                        </a:p>
                      </a:txBody>
                      <a:tcPr marL="95250" marR="95250" marT="47625" marB="47625" anchor="ctr"/>
                    </a:tc>
                    <a:tc>
                      <a:txBody>
                        <a:bodyPr/>
                        <a:lstStyle/>
                        <a:p>
                          <a:pPr algn="l">
                            <a:buNone/>
                          </a:pPr>
                          <a:r>
                            <a:rPr lang="en-US" sz="1000" b="1" dirty="0">
                              <a:effectLst/>
                            </a:rPr>
                            <a:t>Generative Red Teaming: Integrating LLMs for Automated Pen Testing</a:t>
                          </a:r>
                          <a:br>
                            <a:rPr lang="en-US" sz="1000" dirty="0">
                              <a:effectLst/>
                            </a:rPr>
                          </a:br>
                          <a:endParaRPr lang="en-US" sz="1000" dirty="0">
                            <a:effectLst/>
                          </a:endParaRPr>
                        </a:p>
                      </a:txBody>
                      <a:tcPr marL="95250" marR="95250" marT="47625" marB="47625" anchor="ctr"/>
                    </a:tc>
                    <a:tc>
                      <a:txBody>
                        <a:bodyPr/>
                        <a:lstStyle/>
                        <a:p>
                          <a:pPr algn="l">
                            <a:buNone/>
                          </a:pPr>
                          <a:r>
                            <a:rPr lang="en-US" sz="1000">
                              <a:effectLst/>
                            </a:rPr>
                            <a:t>Generates adversarial inputs programmatically via an LLM agent attempting to bypass validation logic.</a:t>
                          </a:r>
                        </a:p>
                      </a:txBody>
                      <a:tcPr marL="95250" marR="95250" marT="47625" marB="47625" anchor="ctr"/>
                    </a:tc>
                    <a:tc>
                      <a:txBody>
                        <a:bodyPr/>
                        <a:lstStyle/>
                        <a:p>
                          <a:pPr algn="l">
                            <a:buNone/>
                          </a:pPr>
                          <a:r>
                            <a:rPr lang="en-US" sz="1000" dirty="0">
                              <a:effectLst/>
                            </a:rPr>
                            <a:t>Essential for "testing" immunity outputs, but the Generator agent can suffer from collapse and loop repeated test vectors.</a:t>
                          </a:r>
                        </a:p>
                      </a:txBody>
                      <a:tcPr marL="95250" marR="95250" marT="47625" marB="47625" anchor="ctr"/>
                    </a:tc>
                    <a:extLst>
                      <a:ext uri="{0D108BD9-81ED-4DB2-BD59-A6C34878D82A}">
                        <a16:rowId xmlns:a16="http://schemas.microsoft.com/office/drawing/2014/main" val="1725386867"/>
                      </a:ext>
                    </a:extLst>
                  </a:tr>
                </a:tbl>
              </a:graphicData>
            </a:graphic>
          </p:graphicFrame>
        </mc:Fallback>
      </mc:AlternateContent>
    </p:spTree>
    <p:extLst>
      <p:ext uri="{BB962C8B-B14F-4D97-AF65-F5344CB8AC3E}">
        <p14:creationId xmlns:p14="http://schemas.microsoft.com/office/powerpoint/2010/main" val="11295320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FE421-BDA7-0AFB-F730-DF7BF4373C96}"/>
              </a:ext>
            </a:extLst>
          </p:cNvPr>
          <p:cNvSpPr>
            <a:spLocks noGrp="1"/>
          </p:cNvSpPr>
          <p:nvPr>
            <p:ph type="title"/>
          </p:nvPr>
        </p:nvSpPr>
        <p:spPr>
          <a:xfrm>
            <a:off x="623400" y="185954"/>
            <a:ext cx="8520600" cy="572700"/>
          </a:xfrm>
        </p:spPr>
        <p:txBody>
          <a:bodyPr>
            <a:normAutofit fontScale="90000"/>
          </a:bodyPr>
          <a:lstStyle/>
          <a:p>
            <a:r>
              <a:rPr lang="en-US" altLang="en-US" sz="2800" dirty="0">
                <a:solidFill>
                  <a:schemeClr val="tx2"/>
                </a:solidFill>
              </a:rPr>
              <a:t>                      </a:t>
            </a:r>
            <a:r>
              <a:rPr lang="en-US" altLang="en-US" sz="2800" dirty="0">
                <a:solidFill>
                  <a:schemeClr val="tx1"/>
                </a:solidFill>
              </a:rPr>
              <a:t>Synopsis (Word copy)</a:t>
            </a:r>
            <a:br>
              <a:rPr lang="en-US" altLang="en-US" sz="2800" dirty="0">
                <a:solidFill>
                  <a:schemeClr val="tx2"/>
                </a:solidFill>
              </a:rPr>
            </a:br>
            <a:r>
              <a:rPr lang="en-US" altLang="en-US" sz="2800" dirty="0">
                <a:solidFill>
                  <a:schemeClr val="tx2"/>
                </a:solidFill>
              </a:rPr>
              <a:t>  </a:t>
            </a:r>
            <a:endParaRPr lang="en-IN" dirty="0"/>
          </a:p>
        </p:txBody>
      </p:sp>
      <p:sp>
        <p:nvSpPr>
          <p:cNvPr id="4" name="TextBox 3">
            <a:extLst>
              <a:ext uri="{FF2B5EF4-FFF2-40B4-BE49-F238E27FC236}">
                <a16:creationId xmlns:a16="http://schemas.microsoft.com/office/drawing/2014/main" id="{C4EC0F78-78DE-82F1-1C95-E69BEC29535F}"/>
              </a:ext>
            </a:extLst>
          </p:cNvPr>
          <p:cNvSpPr txBox="1"/>
          <p:nvPr/>
        </p:nvSpPr>
        <p:spPr>
          <a:xfrm>
            <a:off x="515983" y="1404257"/>
            <a:ext cx="184731" cy="307777"/>
          </a:xfrm>
          <a:prstGeom prst="rect">
            <a:avLst/>
          </a:prstGeom>
          <a:noFill/>
        </p:spPr>
        <p:txBody>
          <a:bodyPr wrap="none" rtlCol="0">
            <a:spAutoFit/>
          </a:bodyPr>
          <a:lstStyle/>
          <a:p>
            <a:endParaRPr lang="en-US" dirty="0"/>
          </a:p>
        </p:txBody>
      </p:sp>
      <p:sp>
        <p:nvSpPr>
          <p:cNvPr id="5" name="TextBox 4">
            <a:extLst>
              <a:ext uri="{FF2B5EF4-FFF2-40B4-BE49-F238E27FC236}">
                <a16:creationId xmlns:a16="http://schemas.microsoft.com/office/drawing/2014/main" id="{BD1CB17D-E9D8-8C63-C0CA-807F92614A8B}"/>
              </a:ext>
            </a:extLst>
          </p:cNvPr>
          <p:cNvSpPr txBox="1"/>
          <p:nvPr/>
        </p:nvSpPr>
        <p:spPr>
          <a:xfrm>
            <a:off x="411480" y="1234440"/>
            <a:ext cx="8556171" cy="523220"/>
          </a:xfrm>
          <a:prstGeom prst="rect">
            <a:avLst/>
          </a:prstGeom>
          <a:noFill/>
        </p:spPr>
        <p:txBody>
          <a:bodyPr wrap="square" rtlCol="0">
            <a:spAutoFit/>
          </a:bodyPr>
          <a:lstStyle/>
          <a:p>
            <a:r>
              <a:rPr lang="en-US" dirty="0"/>
              <a:t>Link - </a:t>
            </a:r>
            <a:r>
              <a:rPr lang="en-US" dirty="0">
                <a:hlinkClick r:id="rId2"/>
              </a:rPr>
              <a:t>Synopsis-Google-Drive</a:t>
            </a:r>
            <a:endParaRPr lang="en-US" dirty="0"/>
          </a:p>
          <a:p>
            <a:endParaRPr lang="en-US" dirty="0"/>
          </a:p>
        </p:txBody>
      </p:sp>
    </p:spTree>
    <p:extLst>
      <p:ext uri="{BB962C8B-B14F-4D97-AF65-F5344CB8AC3E}">
        <p14:creationId xmlns:p14="http://schemas.microsoft.com/office/powerpoint/2010/main" val="18419612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3">
          <a:extLst>
            <a:ext uri="{FF2B5EF4-FFF2-40B4-BE49-F238E27FC236}">
              <a16:creationId xmlns:a16="http://schemas.microsoft.com/office/drawing/2014/main" id="{692862C0-58EE-2E32-2C60-99C37C77427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ED5A8B2-39FB-AE52-C2AE-0CC447A6A067}"/>
              </a:ext>
            </a:extLst>
          </p:cNvPr>
          <p:cNvSpPr txBox="1"/>
          <p:nvPr/>
        </p:nvSpPr>
        <p:spPr>
          <a:xfrm>
            <a:off x="2027104" y="167010"/>
            <a:ext cx="5310130" cy="400110"/>
          </a:xfrm>
          <a:prstGeom prst="rect">
            <a:avLst/>
          </a:prstGeom>
          <a:noFill/>
        </p:spPr>
        <p:txBody>
          <a:bodyPr wrap="square">
            <a:spAutoFit/>
          </a:bodyPr>
          <a:lstStyle/>
          <a:p>
            <a:pPr>
              <a:spcBef>
                <a:spcPct val="0"/>
              </a:spcBef>
            </a:pPr>
            <a:r>
              <a:rPr lang="en-US" altLang="en-US" sz="2000" dirty="0">
                <a:solidFill>
                  <a:schemeClr val="tx1"/>
                </a:solidFill>
              </a:rPr>
              <a:t>References(Minimum 10 with all details)</a:t>
            </a:r>
          </a:p>
        </p:txBody>
      </p:sp>
      <p:sp>
        <p:nvSpPr>
          <p:cNvPr id="6" name="TextBox 5">
            <a:extLst>
              <a:ext uri="{FF2B5EF4-FFF2-40B4-BE49-F238E27FC236}">
                <a16:creationId xmlns:a16="http://schemas.microsoft.com/office/drawing/2014/main" id="{0FFB1390-F280-EE51-D533-F9EF31BE1985}"/>
              </a:ext>
            </a:extLst>
          </p:cNvPr>
          <p:cNvSpPr txBox="1"/>
          <p:nvPr/>
        </p:nvSpPr>
        <p:spPr>
          <a:xfrm>
            <a:off x="191579" y="940426"/>
            <a:ext cx="8760842" cy="3970318"/>
          </a:xfrm>
          <a:prstGeom prst="rect">
            <a:avLst/>
          </a:prstGeom>
          <a:noFill/>
        </p:spPr>
        <p:txBody>
          <a:bodyPr wrap="square">
            <a:spAutoFit/>
          </a:bodyPr>
          <a:lstStyle/>
          <a:p>
            <a:pPr marL="285750" indent="-285750" algn="just">
              <a:buFont typeface="Arial" panose="020B0604020202020204" pitchFamily="34" charset="0"/>
              <a:buChar char="•"/>
            </a:pPr>
            <a:r>
              <a:rPr lang="en-US" dirty="0"/>
              <a:t>D. Zhang, Y. Yang, et al., "Tri-LLM Cooperative Federated Zero-Shot Intrusion Detection with Semantic Disagreement and Trust-Aware Aggregation," </a:t>
            </a:r>
            <a:r>
              <a:rPr lang="en-US" i="1" dirty="0"/>
              <a:t>arXiv:2602.00219</a:t>
            </a:r>
            <a:r>
              <a:rPr lang="en-US" dirty="0"/>
              <a:t>, Jan 2026.</a:t>
            </a:r>
          </a:p>
          <a:p>
            <a:pPr marL="285750" indent="-285750" algn="just">
              <a:buFont typeface="Arial" panose="020B0604020202020204" pitchFamily="34" charset="0"/>
              <a:buChar char="•"/>
            </a:pPr>
            <a:r>
              <a:rPr lang="en-US" dirty="0"/>
              <a:t>Anonymous, "</a:t>
            </a:r>
            <a:r>
              <a:rPr lang="en-US" dirty="0" err="1"/>
              <a:t>ReGAIN</a:t>
            </a:r>
            <a:r>
              <a:rPr lang="en-US" dirty="0"/>
              <a:t>: Retrieval-Grounded AI Framework for Network Traffic Analysis," </a:t>
            </a:r>
            <a:r>
              <a:rPr lang="en-US" i="1" dirty="0"/>
              <a:t>arXiv:2512.22223</a:t>
            </a:r>
            <a:r>
              <a:rPr lang="en-US" dirty="0"/>
              <a:t>, Dec 2025.</a:t>
            </a:r>
          </a:p>
          <a:p>
            <a:pPr marL="285750" indent="-285750" algn="just">
              <a:buFont typeface="Arial" panose="020B0604020202020204" pitchFamily="34" charset="0"/>
              <a:buChar char="•"/>
            </a:pPr>
            <a:r>
              <a:rPr lang="en-US" dirty="0"/>
              <a:t>H. Yuan, H. Zheng, et al., "</a:t>
            </a:r>
            <a:r>
              <a:rPr lang="en-US" dirty="0" err="1"/>
              <a:t>CyberRAG</a:t>
            </a:r>
            <a:r>
              <a:rPr lang="en-US" dirty="0"/>
              <a:t>: An Agentic RAG Cyber Attack Classification and Reporting Tool," </a:t>
            </a:r>
            <a:r>
              <a:rPr lang="en-US" i="1" dirty="0"/>
              <a:t>arXiv:2507.02498</a:t>
            </a:r>
            <a:r>
              <a:rPr lang="en-US" dirty="0"/>
              <a:t>, Sep 2025.</a:t>
            </a:r>
          </a:p>
          <a:p>
            <a:pPr marL="285750" indent="-285750" algn="just">
              <a:buFont typeface="Arial" panose="020B0604020202020204" pitchFamily="34" charset="0"/>
              <a:buChar char="•"/>
            </a:pPr>
            <a:r>
              <a:rPr lang="en-US" dirty="0"/>
              <a:t>I. Tariq et al., "Federated Learning based Network Intrusion Detection using Unbalanced IoT Data," </a:t>
            </a:r>
            <a:r>
              <a:rPr lang="en-US" i="1" dirty="0"/>
              <a:t>IEEE Access</a:t>
            </a:r>
            <a:r>
              <a:rPr lang="en-US" dirty="0"/>
              <a:t>, vol. 12, pp. 10452-10464, 2024.</a:t>
            </a:r>
          </a:p>
          <a:p>
            <a:pPr marL="285750" indent="-285750" algn="just">
              <a:buFont typeface="Arial" panose="020B0604020202020204" pitchFamily="34" charset="0"/>
              <a:buChar char="•"/>
            </a:pPr>
            <a:r>
              <a:rPr lang="en-US" dirty="0"/>
              <a:t>S. Z. Wu, M. K. O. Lee et al., "Large Language Models in Cybersecurity: A Systematic Review," </a:t>
            </a:r>
            <a:r>
              <a:rPr lang="en-US" i="1" dirty="0"/>
              <a:t>IEEE Access</a:t>
            </a:r>
            <a:r>
              <a:rPr lang="en-US" dirty="0"/>
              <a:t>, vol. 12, pp. 5042-5060, 2024.</a:t>
            </a:r>
          </a:p>
          <a:p>
            <a:pPr marL="285750" indent="-285750" algn="just">
              <a:buFont typeface="Arial" panose="020B0604020202020204" pitchFamily="34" charset="0"/>
              <a:buChar char="•"/>
            </a:pPr>
            <a:r>
              <a:rPr lang="en-US" dirty="0"/>
              <a:t>T. Kim and Y. Cho, "Agent-Based Autonomous Threat Landscape Analysis using LLMs," </a:t>
            </a:r>
            <a:r>
              <a:rPr lang="en-US" i="1" dirty="0"/>
              <a:t>IEEE Transactions on Information Forensics and Security</a:t>
            </a:r>
            <a:r>
              <a:rPr lang="en-US" dirty="0"/>
              <a:t>, early access, 2024.</a:t>
            </a:r>
          </a:p>
          <a:p>
            <a:pPr marL="285750" indent="-285750" algn="just">
              <a:buFont typeface="Arial" panose="020B0604020202020204" pitchFamily="34" charset="0"/>
              <a:buChar char="•"/>
            </a:pPr>
            <a:r>
              <a:rPr lang="en-US" dirty="0"/>
              <a:t>J. Huang et al., "Evaluating the Privacy of Large Language Model Ecosystems," </a:t>
            </a:r>
            <a:r>
              <a:rPr lang="en-US" i="1" dirty="0"/>
              <a:t>ACM Transactions on Privacy and Security</a:t>
            </a:r>
            <a:r>
              <a:rPr lang="en-US" dirty="0"/>
              <a:t>, vol. 27, no. 1, 2024.</a:t>
            </a:r>
          </a:p>
          <a:p>
            <a:pPr marL="285750" indent="-285750" algn="just">
              <a:buFont typeface="Arial" panose="020B0604020202020204" pitchFamily="34" charset="0"/>
              <a:buChar char="•"/>
            </a:pPr>
            <a:r>
              <a:rPr lang="en-US" dirty="0"/>
              <a:t>R. Wang et al., "Empowering Zero-Day Attack Discovery using Context-Aware Generative Pre-trained Transformers," </a:t>
            </a:r>
            <a:r>
              <a:rPr lang="en-US" i="1" dirty="0"/>
              <a:t>IEEE Transactions on Dependable and Secure Computing</a:t>
            </a:r>
            <a:r>
              <a:rPr lang="en-US" dirty="0"/>
              <a:t>, vol. 21, no. 1, 2024.</a:t>
            </a:r>
          </a:p>
          <a:p>
            <a:pPr marL="285750" indent="-285750" algn="just">
              <a:buFont typeface="Arial" panose="020B0604020202020204" pitchFamily="34" charset="0"/>
              <a:buChar char="•"/>
            </a:pPr>
            <a:r>
              <a:rPr lang="en-US" dirty="0"/>
              <a:t>Y. Lin et al., "PII Sanitization in Large Language Models: Methodologies, Datasets, and Challenges," </a:t>
            </a:r>
            <a:r>
              <a:rPr lang="en-US" i="1" dirty="0"/>
              <a:t>IEEE Transactions on Knowledge and Data Engineering</a:t>
            </a:r>
            <a:r>
              <a:rPr lang="en-US" dirty="0"/>
              <a:t>, 2024.</a:t>
            </a:r>
          </a:p>
        </p:txBody>
      </p:sp>
    </p:spTree>
    <p:extLst>
      <p:ext uri="{BB962C8B-B14F-4D97-AF65-F5344CB8AC3E}">
        <p14:creationId xmlns:p14="http://schemas.microsoft.com/office/powerpoint/2010/main" val="7007943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3">
          <a:extLst>
            <a:ext uri="{FF2B5EF4-FFF2-40B4-BE49-F238E27FC236}">
              <a16:creationId xmlns:a16="http://schemas.microsoft.com/office/drawing/2014/main" id="{D276B80F-E2FA-791C-015E-2F7212E65CD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F24DD4-B67E-3879-1A3E-F479FB2D3384}"/>
              </a:ext>
            </a:extLst>
          </p:cNvPr>
          <p:cNvSpPr txBox="1"/>
          <p:nvPr/>
        </p:nvSpPr>
        <p:spPr>
          <a:xfrm>
            <a:off x="2027104" y="167010"/>
            <a:ext cx="5310130" cy="400110"/>
          </a:xfrm>
          <a:prstGeom prst="rect">
            <a:avLst/>
          </a:prstGeom>
          <a:noFill/>
        </p:spPr>
        <p:txBody>
          <a:bodyPr wrap="square">
            <a:spAutoFit/>
          </a:bodyPr>
          <a:lstStyle/>
          <a:p>
            <a:pPr>
              <a:spcBef>
                <a:spcPct val="0"/>
              </a:spcBef>
            </a:pPr>
            <a:r>
              <a:rPr lang="en-US" altLang="en-US" sz="2000" dirty="0">
                <a:solidFill>
                  <a:schemeClr val="tx1"/>
                </a:solidFill>
              </a:rPr>
              <a:t>References(Minimum 10 with all details)</a:t>
            </a:r>
          </a:p>
        </p:txBody>
      </p:sp>
      <p:sp>
        <p:nvSpPr>
          <p:cNvPr id="6" name="TextBox 5">
            <a:extLst>
              <a:ext uri="{FF2B5EF4-FFF2-40B4-BE49-F238E27FC236}">
                <a16:creationId xmlns:a16="http://schemas.microsoft.com/office/drawing/2014/main" id="{EFDADC33-0F40-1A25-FAAA-907B6EDB9FC0}"/>
              </a:ext>
            </a:extLst>
          </p:cNvPr>
          <p:cNvSpPr txBox="1"/>
          <p:nvPr/>
        </p:nvSpPr>
        <p:spPr>
          <a:xfrm>
            <a:off x="191579" y="940426"/>
            <a:ext cx="8760842" cy="4185761"/>
          </a:xfrm>
          <a:prstGeom prst="rect">
            <a:avLst/>
          </a:prstGeom>
          <a:noFill/>
        </p:spPr>
        <p:txBody>
          <a:bodyPr wrap="square">
            <a:spAutoFit/>
          </a:bodyPr>
          <a:lstStyle/>
          <a:p>
            <a:pPr marL="285750" indent="-285750" algn="just">
              <a:buFont typeface="Arial" panose="020B0604020202020204" pitchFamily="34" charset="0"/>
              <a:buChar char="•"/>
            </a:pPr>
            <a:r>
              <a:rPr lang="en-US" dirty="0"/>
              <a:t>J. P. Hu et al., "RAG-Sec: Enhancing Zero-Day Vulnerability Analysis using Retrieval-Augmented Generation," </a:t>
            </a:r>
            <a:r>
              <a:rPr lang="en-US" i="1" dirty="0"/>
              <a:t>IEEE Transactions on Information Forensics and Security</a:t>
            </a:r>
            <a:r>
              <a:rPr lang="en-US" dirty="0"/>
              <a:t>, vol. 19, pp. 2481-2495, 2024.</a:t>
            </a:r>
          </a:p>
          <a:p>
            <a:pPr marL="285750" indent="-285750" algn="just">
              <a:buFont typeface="Arial" panose="020B0604020202020204" pitchFamily="34" charset="0"/>
              <a:buChar char="•"/>
            </a:pPr>
            <a:r>
              <a:rPr lang="en-US" dirty="0"/>
              <a:t>D. Zhang, Y. Yang, et al., "Synergizing Federated Learning and Vector Databases for Decentralized Cyber Immunity Orchestration," </a:t>
            </a:r>
            <a:r>
              <a:rPr lang="en-US" i="1" dirty="0"/>
              <a:t>IEEE Internet of Things Journal</a:t>
            </a:r>
            <a:r>
              <a:rPr lang="en-US" dirty="0"/>
              <a:t>, vol. 11, np. 5, 2024.</a:t>
            </a:r>
          </a:p>
          <a:p>
            <a:pPr marL="285750" indent="-285750" algn="just">
              <a:buFont typeface="Arial" panose="020B0604020202020204" pitchFamily="34" charset="0"/>
              <a:buChar char="•"/>
            </a:pPr>
            <a:r>
              <a:rPr lang="en-US" dirty="0"/>
              <a:t>Y. Chen et al., "A Federated Learning Approach to Network Intrusion Detection Systems," </a:t>
            </a:r>
            <a:r>
              <a:rPr lang="en-US" i="1" dirty="0"/>
              <a:t>IEEE Transactions on Information Forensics and Security</a:t>
            </a:r>
            <a:r>
              <a:rPr lang="en-US" dirty="0"/>
              <a:t>, vol. 18, pp. 131-144, 2023.</a:t>
            </a:r>
          </a:p>
          <a:p>
            <a:pPr marL="285750" indent="-285750" algn="just">
              <a:buFont typeface="Arial" panose="020B0604020202020204" pitchFamily="34" charset="0"/>
              <a:buChar char="•"/>
            </a:pPr>
            <a:r>
              <a:rPr lang="en-US" dirty="0"/>
              <a:t>M. Reynaud, A. Gupta et al., "Collaborative and Privacy-Preserving Intrusion Detection in Edge Computing: A Federated Learning Approach," </a:t>
            </a:r>
            <a:r>
              <a:rPr lang="en-US" i="1" dirty="0"/>
              <a:t>IEEE Transactions on Dependable and Secure Computing</a:t>
            </a:r>
            <a:r>
              <a:rPr lang="en-US" dirty="0"/>
              <a:t>, vol. 20, no. 2, 2023.</a:t>
            </a:r>
          </a:p>
          <a:p>
            <a:pPr marL="285750" indent="-285750" algn="just">
              <a:buFont typeface="Arial" panose="020B0604020202020204" pitchFamily="34" charset="0"/>
              <a:buChar char="•"/>
            </a:pPr>
            <a:r>
              <a:rPr lang="en-US" dirty="0"/>
              <a:t>B. Liu et al., "A Scalable and Privacy-Preserving Federated Learning Framework for Securing IoT Devices," </a:t>
            </a:r>
            <a:r>
              <a:rPr lang="en-US" i="1" dirty="0"/>
              <a:t>IEEE Internet of Things Journal</a:t>
            </a:r>
            <a:r>
              <a:rPr lang="en-US" dirty="0"/>
              <a:t>, vol. 10, no. 9, 2023.</a:t>
            </a:r>
          </a:p>
          <a:p>
            <a:pPr marL="285750" indent="-285750" algn="just">
              <a:buFont typeface="Arial" panose="020B0604020202020204" pitchFamily="34" charset="0"/>
              <a:buChar char="•"/>
            </a:pPr>
            <a:r>
              <a:rPr lang="en-US" dirty="0"/>
              <a:t>Z. Zhao et al., "Federated Learning with Non-IID Data: A Survey," </a:t>
            </a:r>
            <a:r>
              <a:rPr lang="en-US" i="1" dirty="0"/>
              <a:t>IEEE Transactions on Neural Networks and Learning Systems</a:t>
            </a:r>
            <a:r>
              <a:rPr lang="en-US" dirty="0"/>
              <a:t>, 2023.</a:t>
            </a:r>
          </a:p>
          <a:p>
            <a:pPr marL="285750" indent="-285750" algn="just">
              <a:buFont typeface="Arial" panose="020B0604020202020204" pitchFamily="34" charset="0"/>
              <a:buChar char="•"/>
            </a:pPr>
            <a:r>
              <a:rPr lang="en-US" dirty="0"/>
              <a:t>Y. Huang, L. Zhu, et al., "Dynamic Trust-Aware Federated Learning in Unreliable Environments," </a:t>
            </a:r>
            <a:r>
              <a:rPr lang="en-US" i="1" dirty="0"/>
              <a:t>IEEE Transactions on Information Forensics and Security</a:t>
            </a:r>
            <a:r>
              <a:rPr lang="en-US" dirty="0"/>
              <a:t>, vol. 18, pp. 433-446, 2023.</a:t>
            </a:r>
          </a:p>
          <a:p>
            <a:pPr marL="285750" indent="-285750" algn="just">
              <a:buFont typeface="Arial" panose="020B0604020202020204" pitchFamily="34" charset="0"/>
              <a:buChar char="•"/>
            </a:pPr>
            <a:r>
              <a:rPr lang="en-US" dirty="0"/>
              <a:t>N. Wang, X. Huang, and Y. Dai, "Differentially Private Vector Embeddings for Secure Information Retrieval," </a:t>
            </a:r>
            <a:r>
              <a:rPr lang="en-US" i="1" dirty="0"/>
              <a:t>IEEE Transactions on Knowledge and Data Engineering</a:t>
            </a:r>
            <a:r>
              <a:rPr lang="en-US" dirty="0"/>
              <a:t>, vol. 35, no. 4, 2023.</a:t>
            </a:r>
          </a:p>
          <a:p>
            <a:pPr marL="285750" indent="-285750" algn="just">
              <a:buFont typeface="Arial" panose="020B0604020202020204" pitchFamily="34" charset="0"/>
              <a:buChar char="•"/>
            </a:pPr>
            <a:r>
              <a:rPr lang="en-US" dirty="0"/>
              <a:t>Y. Badi et al., "Quantifying and Mitigating Data Leakage in Vector Embeddings via Differential Privacy," </a:t>
            </a:r>
            <a:r>
              <a:rPr lang="en-US" i="1" dirty="0"/>
              <a:t>ACM Transactions on Privacy and Security</a:t>
            </a:r>
            <a:r>
              <a:rPr lang="en-US" dirty="0"/>
              <a:t>, vol. 26, no. 2, 2023.</a:t>
            </a:r>
          </a:p>
        </p:txBody>
      </p:sp>
    </p:spTree>
    <p:extLst>
      <p:ext uri="{BB962C8B-B14F-4D97-AF65-F5344CB8AC3E}">
        <p14:creationId xmlns:p14="http://schemas.microsoft.com/office/powerpoint/2010/main" val="2888372501"/>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1231</TotalTime>
  <Words>2705</Words>
  <Application>Microsoft Macintosh PowerPoint</Application>
  <PresentationFormat>On-screen Show (16:9)</PresentationFormat>
  <Paragraphs>206</Paragraphs>
  <Slides>15</Slides>
  <Notes>14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Arial</vt:lpstr>
      <vt:lpstr>Cambria</vt:lpstr>
      <vt:lpstr>Cambria Math</vt:lpstr>
      <vt:lpstr>Playfair Display</vt:lpstr>
      <vt:lpstr>Times New Roman</vt:lpstr>
      <vt:lpstr>ui-sans-serif</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Synopsis (Word copy)   </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Veerasagar</cp:lastModifiedBy>
  <cp:revision>20</cp:revision>
  <dcterms:modified xsi:type="dcterms:W3CDTF">2026-03-24T06:33:05Z</dcterms:modified>
</cp:coreProperties>
</file>