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3"/>
  </p:notesMasterIdLst>
  <p:sldIdLst>
    <p:sldId id="256" r:id="rId2"/>
    <p:sldId id="257" r:id="rId3"/>
    <p:sldId id="258" r:id="rId4"/>
    <p:sldId id="268" r:id="rId5"/>
    <p:sldId id="267" r:id="rId6"/>
    <p:sldId id="269" r:id="rId7"/>
    <p:sldId id="270" r:id="rId8"/>
    <p:sldId id="259" r:id="rId9"/>
    <p:sldId id="265" r:id="rId10"/>
    <p:sldId id="271" r:id="rId11"/>
    <p:sldId id="263" r:id="rId1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16"/>
    <p:restoredTop sz="94659"/>
  </p:normalViewPr>
  <p:slideViewPr>
    <p:cSldViewPr snapToGrid="0">
      <p:cViewPr varScale="1">
        <p:scale>
          <a:sx n="195" d="100"/>
          <a:sy n="195" d="100"/>
        </p:scale>
        <p:origin x="106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23d66680d4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23d66680d4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23d66680d41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23d66680d41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23d66680d41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23d66680d41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40007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>
          <a:extLst>
            <a:ext uri="{FF2B5EF4-FFF2-40B4-BE49-F238E27FC236}">
              <a16:creationId xmlns:a16="http://schemas.microsoft.com/office/drawing/2014/main" id="{5BB61AB7-0F58-96EF-9BCF-648C26238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23d66680d41_0_20:notes">
            <a:extLst>
              <a:ext uri="{FF2B5EF4-FFF2-40B4-BE49-F238E27FC236}">
                <a16:creationId xmlns:a16="http://schemas.microsoft.com/office/drawing/2014/main" id="{09B133AD-CF9A-AF03-1F59-5ADABC9410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23d66680d41_0_20:notes">
            <a:extLst>
              <a:ext uri="{FF2B5EF4-FFF2-40B4-BE49-F238E27FC236}">
                <a16:creationId xmlns:a16="http://schemas.microsoft.com/office/drawing/2014/main" id="{4B1EB55B-BBA9-3B69-BF3D-404849F032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989292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>
          <a:extLst>
            <a:ext uri="{FF2B5EF4-FFF2-40B4-BE49-F238E27FC236}">
              <a16:creationId xmlns:a16="http://schemas.microsoft.com/office/drawing/2014/main" id="{5BB61AB7-0F58-96EF-9BCF-648C26238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23d66680d41_0_20:notes">
            <a:extLst>
              <a:ext uri="{FF2B5EF4-FFF2-40B4-BE49-F238E27FC236}">
                <a16:creationId xmlns:a16="http://schemas.microsoft.com/office/drawing/2014/main" id="{09B133AD-CF9A-AF03-1F59-5ADABC9410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23d66680d41_0_20:notes">
            <a:extLst>
              <a:ext uri="{FF2B5EF4-FFF2-40B4-BE49-F238E27FC236}">
                <a16:creationId xmlns:a16="http://schemas.microsoft.com/office/drawing/2014/main" id="{4B1EB55B-BBA9-3B69-BF3D-404849F032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76451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23d66680d41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23d66680d41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14243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23d66680d41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23d66680d41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23d66680d41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23d66680d41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68396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>
          <a:extLst>
            <a:ext uri="{FF2B5EF4-FFF2-40B4-BE49-F238E27FC236}">
              <a16:creationId xmlns:a16="http://schemas.microsoft.com/office/drawing/2014/main" id="{C5C0422C-5211-8F42-43A7-951145235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23d66680d41_0_20:notes">
            <a:extLst>
              <a:ext uri="{FF2B5EF4-FFF2-40B4-BE49-F238E27FC236}">
                <a16:creationId xmlns:a16="http://schemas.microsoft.com/office/drawing/2014/main" id="{F48ED4B4-508D-0CF5-6F2A-F8A4A96C72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23d66680d41_0_20:notes">
            <a:extLst>
              <a:ext uri="{FF2B5EF4-FFF2-40B4-BE49-F238E27FC236}">
                <a16:creationId xmlns:a16="http://schemas.microsoft.com/office/drawing/2014/main" id="{2617C3DF-EE3C-BA1F-B4D1-1B85D5D69B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55170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4" name="Google Shape;14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463213" y="4730051"/>
            <a:ext cx="2217574" cy="337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391725" y="934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body" idx="1"/>
          </p:nvPr>
        </p:nvSpPr>
        <p:spPr>
          <a:xfrm>
            <a:off x="253250" y="1857500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9" name="Google Shape;19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983600" y="415175"/>
            <a:ext cx="1974051" cy="3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391725" y="7765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91725" y="7765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91725" y="7765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5068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216000" y="216000"/>
            <a:ext cx="1507681" cy="647999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4">
            <a:extLst>
              <a:ext uri="{FF2B5EF4-FFF2-40B4-BE49-F238E27FC236}">
                <a16:creationId xmlns:a16="http://schemas.microsoft.com/office/drawing/2014/main" id="{52F5642A-CBAD-6EE0-2796-D807106F41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8488" y="324981"/>
            <a:ext cx="6087022" cy="27392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  <a:defRPr/>
            </a:pPr>
            <a:r>
              <a:rPr lang="en-US" altLang="en-US" sz="2000" dirty="0">
                <a:cs typeface="Times New Roman" panose="02020603050405020304" pitchFamily="18" charset="0"/>
              </a:rPr>
              <a:t>Major Project Review -I :</a:t>
            </a:r>
          </a:p>
          <a:p>
            <a:pPr algn="ctr">
              <a:spcBef>
                <a:spcPct val="0"/>
              </a:spcBef>
              <a:buFontTx/>
              <a:buNone/>
              <a:defRPr/>
            </a:pPr>
            <a:r>
              <a:rPr lang="en-US" sz="2000" b="1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MCE442P</a:t>
            </a:r>
          </a:p>
          <a:p>
            <a:pPr algn="ctr">
              <a:spcBef>
                <a:spcPct val="0"/>
              </a:spcBef>
              <a:buFontTx/>
              <a:buNone/>
              <a:defRPr/>
            </a:pPr>
            <a:endParaRPr lang="en-US" altLang="en-US" sz="2000" dirty="0">
              <a:cs typeface="Times New Roman" panose="02020603050405020304" pitchFamily="18" charset="0"/>
            </a:endParaRPr>
          </a:p>
          <a:p>
            <a:pPr algn="ctr">
              <a:spcBef>
                <a:spcPct val="0"/>
              </a:spcBef>
              <a:buFontTx/>
              <a:buNone/>
              <a:defRPr/>
            </a:pPr>
            <a:r>
              <a:rPr lang="en-US" altLang="en-US" sz="2400" kern="0" dirty="0">
                <a:cs typeface="Times New Roman" panose="02020603050405020304" pitchFamily="18" charset="0"/>
              </a:rPr>
              <a:t>ACTIS -Agentic Collaborative Threat Intelligence System via Trust-Aware Federated Learning</a:t>
            </a:r>
            <a:endParaRPr lang="en-US" altLang="en-US" sz="4400" dirty="0">
              <a:latin typeface="Cambria" panose="02040503050406030204" pitchFamily="18" charset="0"/>
              <a:cs typeface="Arial" panose="020B0604020202020204" pitchFamily="34" charset="0"/>
            </a:endParaRPr>
          </a:p>
          <a:p>
            <a:pPr algn="ctr">
              <a:spcBef>
                <a:spcPct val="0"/>
              </a:spcBef>
              <a:buFontTx/>
              <a:buNone/>
              <a:defRPr/>
            </a:pPr>
            <a:r>
              <a:rPr lang="en-US" altLang="en-US" sz="4000" dirty="0">
                <a:latin typeface="Cambria" panose="02040503050406030204" pitchFamily="18" charset="0"/>
                <a:cs typeface="Arial" panose="020B0604020202020204" pitchFamily="34" charset="0"/>
              </a:rPr>
              <a:t>                            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60C1A9E8-6E16-E2D0-7D46-FE5CC88DA4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2458" y="2493031"/>
            <a:ext cx="7759081" cy="22951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5198" rIns="0" bIns="0">
            <a:spAutoFit/>
          </a:bodyPr>
          <a:lstStyle>
            <a:lvl1pPr marL="12700">
              <a:spcBef>
                <a:spcPct val="20000"/>
              </a:spcBef>
              <a:tabLst>
                <a:tab pos="3514725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tabLst>
                <a:tab pos="3514725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tabLst>
                <a:tab pos="3514725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tabLst>
                <a:tab pos="3514725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tabLst>
                <a:tab pos="3514725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tabLst>
                <a:tab pos="3514725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tabLst>
                <a:tab pos="3514725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tabLst>
                <a:tab pos="3514725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tabLst>
                <a:tab pos="3514725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algn="ctr">
              <a:defRPr/>
            </a:pPr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Veerasagar S S</a:t>
            </a:r>
          </a:p>
          <a:p>
            <a:pPr algn="ctr">
              <a:defRPr/>
            </a:pPr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1RV24SCS17</a:t>
            </a:r>
          </a:p>
          <a:p>
            <a:pPr>
              <a:defRPr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defRPr/>
            </a:pPr>
            <a:r>
              <a:rPr lang="en-US" altLang="en-US" sz="20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Dr. Rajashree Shettar</a:t>
            </a:r>
          </a:p>
          <a:p>
            <a:pPr algn="ctr">
              <a:defRPr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Professor</a:t>
            </a:r>
            <a:endParaRPr lang="en-US" altLang="en-US" sz="2000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defRPr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Dept. of CSE, RVCE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4B67595-1B51-83EF-7FC9-8270560311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1835" y="947287"/>
            <a:ext cx="7645705" cy="30283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12065" rIns="0" bIns="0">
            <a:spAutoFit/>
          </a:bodyPr>
          <a:lstStyle>
            <a:lvl1pPr marL="698500" indent="-685800">
              <a:spcBef>
                <a:spcPct val="20000"/>
              </a:spcBef>
              <a:tabLst>
                <a:tab pos="8416925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tabLst>
                <a:tab pos="8416925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tabLst>
                <a:tab pos="8416925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tabLst>
                <a:tab pos="8416925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tabLst>
                <a:tab pos="8416925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tabLst>
                <a:tab pos="8416925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tabLst>
                <a:tab pos="8416925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tabLst>
                <a:tab pos="8416925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tabLst>
                <a:tab pos="8416925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Char char="•"/>
            </a:pPr>
            <a:r>
              <a:rPr lang="en-US" altLang="en-US" sz="2800" dirty="0"/>
              <a:t>Introduction about the project</a:t>
            </a:r>
          </a:p>
          <a:p>
            <a:pPr>
              <a:spcBef>
                <a:spcPct val="0"/>
              </a:spcBef>
              <a:buFontTx/>
              <a:buChar char="•"/>
            </a:pPr>
            <a:r>
              <a:rPr lang="en-US" sz="2800" dirty="0"/>
              <a:t>Relevance of Topic and Problem Identification</a:t>
            </a:r>
          </a:p>
          <a:p>
            <a:pPr>
              <a:spcBef>
                <a:spcPct val="0"/>
              </a:spcBef>
              <a:buFontTx/>
              <a:buChar char="•"/>
            </a:pPr>
            <a:r>
              <a:rPr lang="en-US" altLang="en-US" sz="2800" dirty="0"/>
              <a:t>Project Objectives</a:t>
            </a:r>
          </a:p>
          <a:p>
            <a:pPr>
              <a:spcBef>
                <a:spcPct val="0"/>
              </a:spcBef>
              <a:buFontTx/>
              <a:buChar char="•"/>
            </a:pPr>
            <a:r>
              <a:rPr lang="en-US" altLang="en-US" sz="2800" dirty="0"/>
              <a:t>Project Scope </a:t>
            </a:r>
          </a:p>
          <a:p>
            <a:pPr>
              <a:spcBef>
                <a:spcPct val="0"/>
              </a:spcBef>
              <a:buFontTx/>
              <a:buChar char="•"/>
            </a:pPr>
            <a:r>
              <a:rPr lang="en-US" sz="2800" dirty="0"/>
              <a:t>Literature Survey</a:t>
            </a:r>
          </a:p>
          <a:p>
            <a:pPr>
              <a:spcBef>
                <a:spcPct val="0"/>
              </a:spcBef>
              <a:buFontTx/>
              <a:buChar char="•"/>
            </a:pPr>
            <a:r>
              <a:rPr lang="en-US" altLang="en-US" sz="2800" dirty="0"/>
              <a:t>Synopsis</a:t>
            </a:r>
          </a:p>
          <a:p>
            <a:pPr>
              <a:spcBef>
                <a:spcPct val="0"/>
              </a:spcBef>
              <a:buFontTx/>
              <a:buChar char="•"/>
            </a:pPr>
            <a:r>
              <a:rPr lang="en-US" altLang="en-US" sz="2800" dirty="0"/>
              <a:t>References</a:t>
            </a:r>
            <a:endParaRPr lang="en-US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9">
            <a:extLst>
              <a:ext uri="{FF2B5EF4-FFF2-40B4-BE49-F238E27FC236}">
                <a16:creationId xmlns:a16="http://schemas.microsoft.com/office/drawing/2014/main" id="{1C6535F3-EE55-3BB0-8314-AEE11BB14C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2874" y="210473"/>
            <a:ext cx="4610750" cy="10868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12065" rIns="0" bIns="0">
            <a:spAutoFit/>
          </a:bodyPr>
          <a:lstStyle>
            <a:lvl1pPr marL="12700">
              <a:spcBef>
                <a:spcPct val="20000"/>
              </a:spcBef>
              <a:tabLst>
                <a:tab pos="6483350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tabLst>
                <a:tab pos="6483350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tabLst>
                <a:tab pos="6483350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tabLst>
                <a:tab pos="6483350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tabLst>
                <a:tab pos="6483350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tabLst>
                <a:tab pos="6483350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tabLst>
                <a:tab pos="6483350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tabLst>
                <a:tab pos="6483350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tabLst>
                <a:tab pos="6483350" algn="l"/>
              </a:tabLs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ts val="100"/>
              </a:spcBef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PRESENTATION CONTENTS</a:t>
            </a:r>
          </a:p>
          <a:p>
            <a:pPr eaLnBrk="1" hangingPunct="1">
              <a:spcBef>
                <a:spcPts val="100"/>
              </a:spcBef>
            </a:pPr>
            <a:endParaRPr lang="en-US" altLang="en-US" sz="4900" dirty="0">
              <a:solidFill>
                <a:srgbClr val="005893"/>
              </a:solidFill>
              <a:latin typeface="Playfair Display" panose="00000500000000000000" pitchFamily="2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8">
            <a:extLst>
              <a:ext uri="{FF2B5EF4-FFF2-40B4-BE49-F238E27FC236}">
                <a16:creationId xmlns:a16="http://schemas.microsoft.com/office/drawing/2014/main" id="{F2E7B7E9-21CB-4681-BDA3-90D7F3F4E9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19429" y="117057"/>
            <a:ext cx="4105141" cy="3199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12065" rIns="0" bIns="0">
            <a:spAutoFit/>
          </a:bodyPr>
          <a:lstStyle>
            <a:lvl1pPr marL="127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Introduction about the project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042DDB-D2C7-C416-A797-BB2A0AA68F7D}"/>
              </a:ext>
            </a:extLst>
          </p:cNvPr>
          <p:cNvSpPr txBox="1"/>
          <p:nvPr/>
        </p:nvSpPr>
        <p:spPr>
          <a:xfrm>
            <a:off x="790303" y="128016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AFFB70-96FD-BDB7-F909-51AE5A412E77}"/>
              </a:ext>
            </a:extLst>
          </p:cNvPr>
          <p:cNvSpPr txBox="1"/>
          <p:nvPr/>
        </p:nvSpPr>
        <p:spPr>
          <a:xfrm>
            <a:off x="385354" y="999309"/>
            <a:ext cx="8314509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Modern enterprise networks are facing an unprecedented volume of sophisticated, fast-moving cyber attacks. Threat actors are increasingly utilizing automated tools and AI to generate novel "zero-day" exploits that bypass traditional, signature-based defenses.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Currently, organizations operate in silos. When a zero-day attack breaches Company A, Company B remains entirely unaware and vulnerable until security vendors manually analyze the breach and distribute a patch. This "human-in-the-loop" latency is the exact window where attacks propagate globally.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logical solution is for organizations to pool their network traffic logs to train a massive, collective AI defense system. However, strict data privacy laws (like GDPR and CCPA) and the risk of leaking internal IP addresses, user credentials, or proprietary network structures (Personally Identifiable Information - PII) make sharing raw telemetry legally and operationally impossible.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project introduces </a:t>
            </a:r>
            <a:r>
              <a:rPr lang="en-US" b="1" dirty="0"/>
              <a:t>ACTIS (Agentic Collaborative Threat Intelligence System)</a:t>
            </a:r>
            <a:r>
              <a:rPr lang="en-US" dirty="0"/>
              <a:t>, a comprehensive AI-driven framework designed to solve the collaboration-privacy paradox.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8">
            <a:extLst>
              <a:ext uri="{FF2B5EF4-FFF2-40B4-BE49-F238E27FC236}">
                <a16:creationId xmlns:a16="http://schemas.microsoft.com/office/drawing/2014/main" id="{F2E7B7E9-21CB-4681-BDA3-90D7F3F4E9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19429" y="162777"/>
            <a:ext cx="4105141" cy="3199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12065" rIns="0" bIns="0">
            <a:spAutoFit/>
          </a:bodyPr>
          <a:lstStyle>
            <a:lvl1pPr marL="127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Relevance of Topic</a:t>
            </a:r>
          </a:p>
        </p:txBody>
      </p:sp>
    </p:spTree>
    <p:extLst>
      <p:ext uri="{BB962C8B-B14F-4D97-AF65-F5344CB8AC3E}">
        <p14:creationId xmlns:p14="http://schemas.microsoft.com/office/powerpoint/2010/main" val="8916157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>
          <a:extLst>
            <a:ext uri="{FF2B5EF4-FFF2-40B4-BE49-F238E27FC236}">
              <a16:creationId xmlns:a16="http://schemas.microsoft.com/office/drawing/2014/main" id="{303D71C0-83E8-CD31-C4F0-1A56EA2AF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D6AD8E5-B649-4AAE-5C5D-7CAA93055127}"/>
              </a:ext>
            </a:extLst>
          </p:cNvPr>
          <p:cNvSpPr txBox="1"/>
          <p:nvPr/>
        </p:nvSpPr>
        <p:spPr>
          <a:xfrm>
            <a:off x="2286000" y="165088"/>
            <a:ext cx="457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altLang="en-US" sz="2000" dirty="0">
                <a:solidFill>
                  <a:schemeClr val="tx1"/>
                </a:solidFill>
              </a:rPr>
              <a:t>Problem Identification</a:t>
            </a:r>
          </a:p>
        </p:txBody>
      </p:sp>
    </p:spTree>
    <p:extLst>
      <p:ext uri="{BB962C8B-B14F-4D97-AF65-F5344CB8AC3E}">
        <p14:creationId xmlns:p14="http://schemas.microsoft.com/office/powerpoint/2010/main" val="33701743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>
          <a:extLst>
            <a:ext uri="{FF2B5EF4-FFF2-40B4-BE49-F238E27FC236}">
              <a16:creationId xmlns:a16="http://schemas.microsoft.com/office/drawing/2014/main" id="{303D71C0-83E8-CD31-C4F0-1A56EA2AF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D6AD8E5-B649-4AAE-5C5D-7CAA93055127}"/>
              </a:ext>
            </a:extLst>
          </p:cNvPr>
          <p:cNvSpPr txBox="1"/>
          <p:nvPr/>
        </p:nvSpPr>
        <p:spPr>
          <a:xfrm>
            <a:off x="2286000" y="165088"/>
            <a:ext cx="457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altLang="en-US" sz="2000" dirty="0">
                <a:solidFill>
                  <a:schemeClr val="tx1"/>
                </a:solidFill>
              </a:rPr>
              <a:t>Project Objectives</a:t>
            </a:r>
          </a:p>
        </p:txBody>
      </p:sp>
    </p:spTree>
    <p:extLst>
      <p:ext uri="{BB962C8B-B14F-4D97-AF65-F5344CB8AC3E}">
        <p14:creationId xmlns:p14="http://schemas.microsoft.com/office/powerpoint/2010/main" val="16839464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8">
            <a:extLst>
              <a:ext uri="{FF2B5EF4-FFF2-40B4-BE49-F238E27FC236}">
                <a16:creationId xmlns:a16="http://schemas.microsoft.com/office/drawing/2014/main" id="{2395BE7A-9D0E-6337-F5A8-E3C5BA9620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4018" y="115112"/>
            <a:ext cx="5927132" cy="3199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12065" rIns="0" bIns="0">
            <a:spAutoFit/>
          </a:bodyPr>
          <a:lstStyle>
            <a:lvl1pPr marL="127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en-US" sz="2000" dirty="0"/>
              <a:t>Project Scope</a:t>
            </a:r>
          </a:p>
        </p:txBody>
      </p:sp>
    </p:spTree>
    <p:extLst>
      <p:ext uri="{BB962C8B-B14F-4D97-AF65-F5344CB8AC3E}">
        <p14:creationId xmlns:p14="http://schemas.microsoft.com/office/powerpoint/2010/main" val="383862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8">
            <a:extLst>
              <a:ext uri="{FF2B5EF4-FFF2-40B4-BE49-F238E27FC236}">
                <a16:creationId xmlns:a16="http://schemas.microsoft.com/office/drawing/2014/main" id="{B1C6201D-91E0-7567-93DE-89237FBBDC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3903" y="110829"/>
            <a:ext cx="4526747" cy="6277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12065" rIns="0" bIns="0">
            <a:spAutoFit/>
          </a:bodyPr>
          <a:lstStyle>
            <a:lvl1pPr marL="127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2000" dirty="0"/>
              <a:t>     Literature Survey(Minimum 20 papers)</a:t>
            </a:r>
          </a:p>
          <a:p>
            <a:pPr>
              <a:spcBef>
                <a:spcPct val="0"/>
              </a:spcBef>
            </a:pPr>
            <a:endParaRPr lang="en-US" altLang="en-US" sz="20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A4EE3ED-C358-D65B-5B64-E54C64A8EC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157628"/>
              </p:ext>
            </p:extLst>
          </p:nvPr>
        </p:nvGraphicFramePr>
        <p:xfrm>
          <a:off x="442604" y="738565"/>
          <a:ext cx="8523266" cy="4280169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836522">
                  <a:extLst>
                    <a:ext uri="{9D8B030D-6E8A-4147-A177-3AD203B41FA5}">
                      <a16:colId xmlns:a16="http://schemas.microsoft.com/office/drawing/2014/main" val="2279697044"/>
                    </a:ext>
                  </a:extLst>
                </a:gridCol>
                <a:gridCol w="1129114">
                  <a:extLst>
                    <a:ext uri="{9D8B030D-6E8A-4147-A177-3AD203B41FA5}">
                      <a16:colId xmlns:a16="http://schemas.microsoft.com/office/drawing/2014/main" val="803012569"/>
                    </a:ext>
                  </a:extLst>
                </a:gridCol>
                <a:gridCol w="2041235">
                  <a:extLst>
                    <a:ext uri="{9D8B030D-6E8A-4147-A177-3AD203B41FA5}">
                      <a16:colId xmlns:a16="http://schemas.microsoft.com/office/drawing/2014/main" val="1008628936"/>
                    </a:ext>
                  </a:extLst>
                </a:gridCol>
                <a:gridCol w="2497590">
                  <a:extLst>
                    <a:ext uri="{9D8B030D-6E8A-4147-A177-3AD203B41FA5}">
                      <a16:colId xmlns:a16="http://schemas.microsoft.com/office/drawing/2014/main" val="2676647448"/>
                    </a:ext>
                  </a:extLst>
                </a:gridCol>
                <a:gridCol w="2018805">
                  <a:extLst>
                    <a:ext uri="{9D8B030D-6E8A-4147-A177-3AD203B41FA5}">
                      <a16:colId xmlns:a16="http://schemas.microsoft.com/office/drawing/2014/main" val="3647373459"/>
                    </a:ext>
                  </a:extLst>
                </a:gridCol>
              </a:tblGrid>
              <a:tr h="496469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SL No</a:t>
                      </a:r>
                      <a:endParaRPr lang="en-IN" sz="14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Source</a:t>
                      </a:r>
                    </a:p>
                    <a:p>
                      <a:pPr algn="ctr"/>
                      <a:r>
                        <a:rPr lang="en-US" sz="1400" dirty="0"/>
                        <a:t>(Latest)</a:t>
                      </a:r>
                      <a:endParaRPr lang="en-IN" sz="14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Paper Details</a:t>
                      </a:r>
                      <a:endParaRPr lang="en-IN" sz="14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Key Attributes/Findings</a:t>
                      </a:r>
                      <a:endParaRPr lang="en-IN" sz="14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Challenges/</a:t>
                      </a:r>
                    </a:p>
                    <a:p>
                      <a:pPr algn="ctr"/>
                      <a:r>
                        <a:rPr lang="en-US" sz="1400" dirty="0"/>
                        <a:t>Limitations</a:t>
                      </a:r>
                      <a:endParaRPr lang="en-IN" sz="1400" dirty="0"/>
                    </a:p>
                  </a:txBody>
                  <a:tcPr marL="91456" marR="91456" marT="45711" marB="45711"/>
                </a:tc>
                <a:extLst>
                  <a:ext uri="{0D108BD9-81ED-4DB2-BD59-A6C34878D82A}">
                    <a16:rowId xmlns:a16="http://schemas.microsoft.com/office/drawing/2014/main" val="3876178566"/>
                  </a:ext>
                </a:extLst>
              </a:tr>
              <a:tr h="27521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1</a:t>
                      </a:r>
                      <a:endParaRPr lang="en-IN" sz="1200" b="1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marL="0"/>
                      <a:endParaRPr lang="en-IN" sz="18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extLst>
                  <a:ext uri="{0D108BD9-81ED-4DB2-BD59-A6C34878D82A}">
                    <a16:rowId xmlns:a16="http://schemas.microsoft.com/office/drawing/2014/main" val="3834328933"/>
                  </a:ext>
                </a:extLst>
              </a:tr>
              <a:tr h="308083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2</a:t>
                      </a:r>
                      <a:endParaRPr lang="en-IN" sz="1200" b="1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marL="0"/>
                      <a:endParaRPr lang="en-IN" sz="18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extLst>
                  <a:ext uri="{0D108BD9-81ED-4DB2-BD59-A6C34878D82A}">
                    <a16:rowId xmlns:a16="http://schemas.microsoft.com/office/drawing/2014/main" val="919704194"/>
                  </a:ext>
                </a:extLst>
              </a:tr>
              <a:tr h="198452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3</a:t>
                      </a:r>
                      <a:endParaRPr lang="en-IN" sz="1200" b="1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marL="0"/>
                      <a:endParaRPr lang="en-IN" sz="18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extLst>
                  <a:ext uri="{0D108BD9-81ED-4DB2-BD59-A6C34878D82A}">
                    <a16:rowId xmlns:a16="http://schemas.microsoft.com/office/drawing/2014/main" val="12129842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4</a:t>
                      </a:r>
                      <a:endParaRPr lang="en-IN" sz="1200" b="1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marL="0"/>
                      <a:endParaRPr lang="en-IN" sz="18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extLst>
                  <a:ext uri="{0D108BD9-81ED-4DB2-BD59-A6C34878D82A}">
                    <a16:rowId xmlns:a16="http://schemas.microsoft.com/office/drawing/2014/main" val="17253868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5</a:t>
                      </a:r>
                      <a:endParaRPr lang="en-IN" sz="1200" b="1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marL="0"/>
                      <a:endParaRPr lang="en-IN" sz="18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extLst>
                  <a:ext uri="{0D108BD9-81ED-4DB2-BD59-A6C34878D82A}">
                    <a16:rowId xmlns:a16="http://schemas.microsoft.com/office/drawing/2014/main" val="31489391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6</a:t>
                      </a:r>
                      <a:endParaRPr lang="en-IN" sz="1200" b="1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marL="0"/>
                      <a:endParaRPr lang="en-IN" sz="18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extLst>
                  <a:ext uri="{0D108BD9-81ED-4DB2-BD59-A6C34878D82A}">
                    <a16:rowId xmlns:a16="http://schemas.microsoft.com/office/drawing/2014/main" val="85979116"/>
                  </a:ext>
                </a:extLst>
              </a:tr>
              <a:tr h="306194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7</a:t>
                      </a:r>
                      <a:endParaRPr lang="en-IN" sz="1200" b="1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marL="0"/>
                      <a:endParaRPr lang="en-IN" sz="18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extLst>
                  <a:ext uri="{0D108BD9-81ED-4DB2-BD59-A6C34878D82A}">
                    <a16:rowId xmlns:a16="http://schemas.microsoft.com/office/drawing/2014/main" val="1608805990"/>
                  </a:ext>
                </a:extLst>
              </a:tr>
              <a:tr h="410319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8</a:t>
                      </a:r>
                      <a:endParaRPr lang="en-IN" sz="1200" b="1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marL="0"/>
                      <a:endParaRPr lang="en-IN" sz="18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extLst>
                  <a:ext uri="{0D108BD9-81ED-4DB2-BD59-A6C34878D82A}">
                    <a16:rowId xmlns:a16="http://schemas.microsoft.com/office/drawing/2014/main" val="2800858223"/>
                  </a:ext>
                </a:extLst>
              </a:tr>
              <a:tr h="332509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9</a:t>
                      </a:r>
                      <a:endParaRPr lang="en-IN" sz="1200" b="1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marL="0"/>
                      <a:endParaRPr lang="en-IN" sz="18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extLst>
                  <a:ext uri="{0D108BD9-81ED-4DB2-BD59-A6C34878D82A}">
                    <a16:rowId xmlns:a16="http://schemas.microsoft.com/office/drawing/2014/main" val="3386195573"/>
                  </a:ext>
                </a:extLst>
              </a:tr>
              <a:tr h="425772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10</a:t>
                      </a:r>
                      <a:endParaRPr lang="en-IN" sz="1200" b="1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marL="0"/>
                      <a:endParaRPr lang="en-IN" sz="18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extLst>
                  <a:ext uri="{0D108BD9-81ED-4DB2-BD59-A6C34878D82A}">
                    <a16:rowId xmlns:a16="http://schemas.microsoft.com/office/drawing/2014/main" val="321305887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8">
            <a:extLst>
              <a:ext uri="{FF2B5EF4-FFF2-40B4-BE49-F238E27FC236}">
                <a16:creationId xmlns:a16="http://schemas.microsoft.com/office/drawing/2014/main" id="{B1C6201D-91E0-7567-93DE-89237FBBDC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3903" y="110829"/>
            <a:ext cx="4526747" cy="6277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12065" rIns="0" bIns="0">
            <a:spAutoFit/>
          </a:bodyPr>
          <a:lstStyle>
            <a:lvl1pPr marL="127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2000" dirty="0"/>
              <a:t>     Literature Survey(Minimum 20 papers)</a:t>
            </a:r>
          </a:p>
          <a:p>
            <a:pPr>
              <a:spcBef>
                <a:spcPct val="0"/>
              </a:spcBef>
            </a:pPr>
            <a:endParaRPr lang="en-US" altLang="en-US" sz="20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A4EE3ED-C358-D65B-5B64-E54C64A8EC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481669"/>
              </p:ext>
            </p:extLst>
          </p:nvPr>
        </p:nvGraphicFramePr>
        <p:xfrm>
          <a:off x="442604" y="738565"/>
          <a:ext cx="8523266" cy="4280169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836522">
                  <a:extLst>
                    <a:ext uri="{9D8B030D-6E8A-4147-A177-3AD203B41FA5}">
                      <a16:colId xmlns:a16="http://schemas.microsoft.com/office/drawing/2014/main" val="2279697044"/>
                    </a:ext>
                  </a:extLst>
                </a:gridCol>
                <a:gridCol w="1129114">
                  <a:extLst>
                    <a:ext uri="{9D8B030D-6E8A-4147-A177-3AD203B41FA5}">
                      <a16:colId xmlns:a16="http://schemas.microsoft.com/office/drawing/2014/main" val="803012569"/>
                    </a:ext>
                  </a:extLst>
                </a:gridCol>
                <a:gridCol w="2041235">
                  <a:extLst>
                    <a:ext uri="{9D8B030D-6E8A-4147-A177-3AD203B41FA5}">
                      <a16:colId xmlns:a16="http://schemas.microsoft.com/office/drawing/2014/main" val="1008628936"/>
                    </a:ext>
                  </a:extLst>
                </a:gridCol>
                <a:gridCol w="2497590">
                  <a:extLst>
                    <a:ext uri="{9D8B030D-6E8A-4147-A177-3AD203B41FA5}">
                      <a16:colId xmlns:a16="http://schemas.microsoft.com/office/drawing/2014/main" val="2676647448"/>
                    </a:ext>
                  </a:extLst>
                </a:gridCol>
                <a:gridCol w="2018805">
                  <a:extLst>
                    <a:ext uri="{9D8B030D-6E8A-4147-A177-3AD203B41FA5}">
                      <a16:colId xmlns:a16="http://schemas.microsoft.com/office/drawing/2014/main" val="3647373459"/>
                    </a:ext>
                  </a:extLst>
                </a:gridCol>
              </a:tblGrid>
              <a:tr h="496469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SL No</a:t>
                      </a:r>
                      <a:endParaRPr lang="en-IN" sz="14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Source</a:t>
                      </a:r>
                    </a:p>
                    <a:p>
                      <a:pPr algn="ctr"/>
                      <a:r>
                        <a:rPr lang="en-US" sz="1400" dirty="0"/>
                        <a:t>(Latest)</a:t>
                      </a:r>
                      <a:endParaRPr lang="en-IN" sz="14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Paper Details</a:t>
                      </a:r>
                      <a:endParaRPr lang="en-IN" sz="14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Key Attributes/Findings</a:t>
                      </a:r>
                      <a:endParaRPr lang="en-IN" sz="14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Challenges/</a:t>
                      </a:r>
                    </a:p>
                    <a:p>
                      <a:pPr algn="ctr"/>
                      <a:r>
                        <a:rPr lang="en-US" sz="1400" dirty="0"/>
                        <a:t>Limitations</a:t>
                      </a:r>
                      <a:endParaRPr lang="en-IN" sz="1400" dirty="0"/>
                    </a:p>
                  </a:txBody>
                  <a:tcPr marL="91456" marR="91456" marT="45711" marB="45711"/>
                </a:tc>
                <a:extLst>
                  <a:ext uri="{0D108BD9-81ED-4DB2-BD59-A6C34878D82A}">
                    <a16:rowId xmlns:a16="http://schemas.microsoft.com/office/drawing/2014/main" val="3876178566"/>
                  </a:ext>
                </a:extLst>
              </a:tr>
              <a:tr h="27521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11</a:t>
                      </a:r>
                      <a:endParaRPr lang="en-IN" sz="1200" b="1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marL="0"/>
                      <a:endParaRPr lang="en-IN" sz="18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extLst>
                  <a:ext uri="{0D108BD9-81ED-4DB2-BD59-A6C34878D82A}">
                    <a16:rowId xmlns:a16="http://schemas.microsoft.com/office/drawing/2014/main" val="3834328933"/>
                  </a:ext>
                </a:extLst>
              </a:tr>
              <a:tr h="308083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12</a:t>
                      </a:r>
                      <a:endParaRPr lang="en-IN" sz="1200" b="1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marL="0"/>
                      <a:endParaRPr lang="en-IN" sz="18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extLst>
                  <a:ext uri="{0D108BD9-81ED-4DB2-BD59-A6C34878D82A}">
                    <a16:rowId xmlns:a16="http://schemas.microsoft.com/office/drawing/2014/main" val="919704194"/>
                  </a:ext>
                </a:extLst>
              </a:tr>
              <a:tr h="198452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13</a:t>
                      </a:r>
                      <a:endParaRPr lang="en-IN" sz="1200" b="1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marL="0"/>
                      <a:endParaRPr lang="en-IN" sz="18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extLst>
                  <a:ext uri="{0D108BD9-81ED-4DB2-BD59-A6C34878D82A}">
                    <a16:rowId xmlns:a16="http://schemas.microsoft.com/office/drawing/2014/main" val="12129842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14</a:t>
                      </a:r>
                      <a:endParaRPr lang="en-IN" sz="1200" b="1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marL="0"/>
                      <a:endParaRPr lang="en-IN" sz="18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extLst>
                  <a:ext uri="{0D108BD9-81ED-4DB2-BD59-A6C34878D82A}">
                    <a16:rowId xmlns:a16="http://schemas.microsoft.com/office/drawing/2014/main" val="17253868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15</a:t>
                      </a:r>
                      <a:endParaRPr lang="en-IN" sz="1200" b="1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marL="0"/>
                      <a:endParaRPr lang="en-IN" sz="18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extLst>
                  <a:ext uri="{0D108BD9-81ED-4DB2-BD59-A6C34878D82A}">
                    <a16:rowId xmlns:a16="http://schemas.microsoft.com/office/drawing/2014/main" val="31489391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16</a:t>
                      </a:r>
                      <a:endParaRPr lang="en-IN" sz="1200" b="1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marL="0"/>
                      <a:endParaRPr lang="en-IN" sz="18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extLst>
                  <a:ext uri="{0D108BD9-81ED-4DB2-BD59-A6C34878D82A}">
                    <a16:rowId xmlns:a16="http://schemas.microsoft.com/office/drawing/2014/main" val="85979116"/>
                  </a:ext>
                </a:extLst>
              </a:tr>
              <a:tr h="306194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17</a:t>
                      </a:r>
                      <a:endParaRPr lang="en-IN" sz="1200" b="1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marL="0"/>
                      <a:endParaRPr lang="en-IN" sz="18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extLst>
                  <a:ext uri="{0D108BD9-81ED-4DB2-BD59-A6C34878D82A}">
                    <a16:rowId xmlns:a16="http://schemas.microsoft.com/office/drawing/2014/main" val="1608805990"/>
                  </a:ext>
                </a:extLst>
              </a:tr>
              <a:tr h="410319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18</a:t>
                      </a:r>
                      <a:endParaRPr lang="en-IN" sz="1200" b="1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marL="0"/>
                      <a:endParaRPr lang="en-IN" sz="18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extLst>
                  <a:ext uri="{0D108BD9-81ED-4DB2-BD59-A6C34878D82A}">
                    <a16:rowId xmlns:a16="http://schemas.microsoft.com/office/drawing/2014/main" val="2800858223"/>
                  </a:ext>
                </a:extLst>
              </a:tr>
              <a:tr h="332509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19</a:t>
                      </a:r>
                      <a:endParaRPr lang="en-IN" sz="1200" b="1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marL="0"/>
                      <a:endParaRPr lang="en-IN" sz="18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extLst>
                  <a:ext uri="{0D108BD9-81ED-4DB2-BD59-A6C34878D82A}">
                    <a16:rowId xmlns:a16="http://schemas.microsoft.com/office/drawing/2014/main" val="3386195573"/>
                  </a:ext>
                </a:extLst>
              </a:tr>
              <a:tr h="425772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20</a:t>
                      </a:r>
                      <a:endParaRPr lang="en-IN" sz="1200" b="1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pPr marL="0"/>
                      <a:endParaRPr lang="en-IN" sz="18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 marL="91456" marR="91456" marT="45711" marB="45711"/>
                </a:tc>
                <a:extLst>
                  <a:ext uri="{0D108BD9-81ED-4DB2-BD59-A6C34878D82A}">
                    <a16:rowId xmlns:a16="http://schemas.microsoft.com/office/drawing/2014/main" val="32130588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11065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FE421-BDA7-0AFB-F730-DF7BF4373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00" y="185954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US" altLang="en-US" sz="2800" dirty="0">
                <a:solidFill>
                  <a:schemeClr val="tx2"/>
                </a:solidFill>
              </a:rPr>
              <a:t>                      </a:t>
            </a:r>
            <a:r>
              <a:rPr lang="en-US" altLang="en-US" sz="2800" dirty="0">
                <a:solidFill>
                  <a:schemeClr val="tx1"/>
                </a:solidFill>
              </a:rPr>
              <a:t>Synopsis (Word copy)</a:t>
            </a:r>
            <a:br>
              <a:rPr lang="en-US" altLang="en-US" sz="2800" dirty="0">
                <a:solidFill>
                  <a:schemeClr val="tx2"/>
                </a:solidFill>
              </a:rPr>
            </a:br>
            <a:r>
              <a:rPr lang="en-US" altLang="en-US" sz="2800" dirty="0">
                <a:solidFill>
                  <a:schemeClr val="tx2"/>
                </a:solidFill>
              </a:rPr>
              <a:t> 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1961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>
          <a:extLst>
            <a:ext uri="{FF2B5EF4-FFF2-40B4-BE49-F238E27FC236}">
              <a16:creationId xmlns:a16="http://schemas.microsoft.com/office/drawing/2014/main" id="{692862C0-58EE-2E32-2C60-99C37C774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ED5A8B2-39FB-AE52-C2AE-0CC447A6A067}"/>
              </a:ext>
            </a:extLst>
          </p:cNvPr>
          <p:cNvSpPr txBox="1"/>
          <p:nvPr/>
        </p:nvSpPr>
        <p:spPr>
          <a:xfrm>
            <a:off x="2027104" y="167010"/>
            <a:ext cx="53101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</a:pPr>
            <a:r>
              <a:rPr lang="en-US" altLang="en-US" sz="2000" dirty="0">
                <a:solidFill>
                  <a:schemeClr val="tx1"/>
                </a:solidFill>
              </a:rPr>
              <a:t>References(Minimum 10 with all details)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FB1390-F280-EE51-D533-F9EF31BE1985}"/>
              </a:ext>
            </a:extLst>
          </p:cNvPr>
          <p:cNvSpPr txBox="1"/>
          <p:nvPr/>
        </p:nvSpPr>
        <p:spPr>
          <a:xfrm>
            <a:off x="264406" y="1410688"/>
            <a:ext cx="8760842" cy="3985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algn="just">
              <a:buAutoNum type="arabicPeriod"/>
              <a:defRPr/>
            </a:pP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Journal Paper:    Name  initial, “title”, Journal name, vol. **(issue), year,  pp.** </a:t>
            </a:r>
            <a:r>
              <a:rPr lang="en-US" sz="1100" dirty="0" err="1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Eg</a:t>
            </a: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: 1. Honig, M.L., </a:t>
            </a:r>
            <a:r>
              <a:rPr lang="en-US" sz="1100" dirty="0" err="1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Steiglitz</a:t>
            </a: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, K., and Gopinath, B., </a:t>
            </a:r>
          </a:p>
          <a:p>
            <a:pPr algn="just">
              <a:defRPr/>
            </a:pP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       “Multichannel signal processing for data communication in the presence of crosstalk”, IEEE Trans. Communications.,  vol. 38, (4),       </a:t>
            </a:r>
          </a:p>
          <a:p>
            <a:pPr algn="just">
              <a:defRPr/>
            </a:pP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         1990 , pp.       551–558</a:t>
            </a:r>
          </a:p>
          <a:p>
            <a:pPr marL="12700" indent="-165100" algn="just">
              <a:defRPr/>
            </a:pPr>
            <a:endParaRPr lang="en-US" sz="1100" dirty="0">
              <a:solidFill>
                <a:schemeClr val="tx1"/>
              </a:solidFill>
              <a:latin typeface="Cambria" panose="02040503050406030204" pitchFamily="18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algn="just">
              <a:defRPr/>
            </a:pP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2.    Proceeding / conferences : Name Initial, “title”, Proceeding of the ***, Editor name, place, year, pp.  *** </a:t>
            </a:r>
            <a:r>
              <a:rPr lang="en-US" sz="1100" dirty="0" err="1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Eg</a:t>
            </a: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: 2. Shin, K.G. and        </a:t>
            </a:r>
          </a:p>
          <a:p>
            <a:pPr algn="just">
              <a:defRPr/>
            </a:pP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       </a:t>
            </a:r>
            <a:r>
              <a:rPr lang="en-US" sz="1100" dirty="0" err="1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Mckay</a:t>
            </a: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, N.D. “Open Loop Minimum Time Control of Mechanical   Manipulations and its Applications’”  Proceeding of the . Amer.     </a:t>
            </a:r>
          </a:p>
          <a:p>
            <a:pPr algn="just">
              <a:defRPr/>
            </a:pP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        Contr. Conf., San Diego, CA, ,1984, pp. 1231-1236.</a:t>
            </a:r>
          </a:p>
          <a:p>
            <a:pPr marL="304800" indent="-457200" algn="just">
              <a:buFontTx/>
              <a:buAutoNum type="arabicPeriod" startAt="2"/>
              <a:defRPr/>
            </a:pPr>
            <a:endParaRPr lang="en-US" sz="1100" dirty="0">
              <a:solidFill>
                <a:schemeClr val="tx1"/>
              </a:solidFill>
              <a:latin typeface="Cambria" panose="02040503050406030204" pitchFamily="18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algn="just">
              <a:defRPr/>
            </a:pP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3.     Thesis (Masters / Doctoral) : Name, initials, “title”,  University, Year </a:t>
            </a:r>
            <a:r>
              <a:rPr lang="en-US" sz="1100" dirty="0" err="1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Eg</a:t>
            </a: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: </a:t>
            </a:r>
            <a:r>
              <a:rPr lang="en-US" sz="1100" dirty="0" err="1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Nongpiur</a:t>
            </a: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, R C, “Near-End Crosstalk Cancellation in    </a:t>
            </a:r>
          </a:p>
          <a:p>
            <a:pPr algn="just">
              <a:defRPr/>
            </a:pP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       </a:t>
            </a:r>
            <a:r>
              <a:rPr lang="en-US" sz="1100" dirty="0" err="1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xDSL</a:t>
            </a: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 Systems” Doctoral thesis, University of      Victoria,  2005.</a:t>
            </a:r>
          </a:p>
          <a:p>
            <a:pPr algn="just">
              <a:defRPr/>
            </a:pPr>
            <a:endParaRPr lang="en-US" sz="1100" dirty="0">
              <a:solidFill>
                <a:schemeClr val="tx1"/>
              </a:solidFill>
              <a:latin typeface="Cambria" panose="02040503050406030204" pitchFamily="18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12700" indent="-165100" algn="just">
              <a:defRPr/>
            </a:pP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4.    Annual reports / manual:  Name (optional), “title”, Report number, Agencies, Year </a:t>
            </a:r>
          </a:p>
          <a:p>
            <a:pPr marL="12700" indent="-165100" algn="just">
              <a:defRPr/>
            </a:pP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        </a:t>
            </a:r>
            <a:r>
              <a:rPr lang="en-US" sz="1100" dirty="0" err="1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Eg</a:t>
            </a: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: The International Technology Roadmap for Semiconductors,  Report-7,  ITRS, 2011,</a:t>
            </a:r>
          </a:p>
          <a:p>
            <a:pPr marL="12700" indent="-165100" algn="just">
              <a:defRPr/>
            </a:pPr>
            <a:endParaRPr lang="en-US" sz="1100" dirty="0">
              <a:solidFill>
                <a:schemeClr val="tx1"/>
              </a:solidFill>
              <a:latin typeface="Cambria" panose="02040503050406030204" pitchFamily="18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12700" indent="-165100" algn="just">
              <a:defRPr/>
            </a:pP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5.    Patent: Name  initial, “title of patent”, Patent number, date of patent</a:t>
            </a:r>
          </a:p>
          <a:p>
            <a:pPr marL="12700" indent="-165100" algn="just">
              <a:defRPr/>
            </a:pP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       </a:t>
            </a:r>
            <a:r>
              <a:rPr lang="en-US" sz="1100" dirty="0" err="1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Eg</a:t>
            </a: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: Bischoff F, “Apparatus for vapor deposition of silicon,”  U.S. Patent 3 335 697, Aug. 15, 1967.</a:t>
            </a:r>
          </a:p>
          <a:p>
            <a:pPr marL="12700" indent="-165100" algn="just">
              <a:defRPr/>
            </a:pPr>
            <a:endParaRPr lang="en-US" sz="1100" dirty="0">
              <a:solidFill>
                <a:schemeClr val="tx1"/>
              </a:solidFill>
              <a:latin typeface="Cambria" panose="02040503050406030204" pitchFamily="18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12700" indent="-165100" algn="just">
              <a:defRPr/>
            </a:pP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6.    Books / Manual / standards </a:t>
            </a:r>
            <a:r>
              <a:rPr lang="en-US" sz="1100" dirty="0" err="1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datahand</a:t>
            </a: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 books :  “Title “,  publisher, year </a:t>
            </a:r>
          </a:p>
          <a:p>
            <a:pPr marL="12700" indent="-165100" algn="just">
              <a:defRPr/>
            </a:pP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       </a:t>
            </a:r>
            <a:r>
              <a:rPr lang="en-US" sz="1100" dirty="0" err="1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Eg</a:t>
            </a: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: “Ferrous Material Testing Procedure “ ASTM Standard- vol.3, </a:t>
            </a:r>
            <a:r>
              <a:rPr lang="en-US" sz="1100" dirty="0" err="1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Americal</a:t>
            </a: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 Society for Testing     </a:t>
            </a:r>
          </a:p>
          <a:p>
            <a:pPr marL="12700" indent="-165100" algn="just">
              <a:defRPr/>
            </a:pP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      Materials, 2003.</a:t>
            </a:r>
          </a:p>
          <a:p>
            <a:pPr marL="12700" algn="just">
              <a:defRPr/>
            </a:pPr>
            <a:r>
              <a:rPr lang="en-US" sz="1100" dirty="0">
                <a:solidFill>
                  <a:schemeClr val="tx1"/>
                </a:solidFill>
                <a:latin typeface="Cambria" panose="02040503050406030204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ANNEXURE /Appendix : Could include programs, company profile, specimen /representative  calculations, Data sheets, additional theory or related information, publications if any or any other information relevant to the work. </a:t>
            </a:r>
            <a:endParaRPr lang="en-IN" sz="1100" dirty="0">
              <a:solidFill>
                <a:schemeClr val="tx1"/>
              </a:solidFill>
              <a:latin typeface="Cambria" panose="02040503050406030204" pitchFamily="18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r>
              <a:rPr lang="en-US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</p:txBody>
      </p:sp>
      <p:sp>
        <p:nvSpPr>
          <p:cNvPr id="2" name="object 8">
            <a:extLst>
              <a:ext uri="{FF2B5EF4-FFF2-40B4-BE49-F238E27FC236}">
                <a16:creationId xmlns:a16="http://schemas.microsoft.com/office/drawing/2014/main" id="{2B9DBB05-203A-7F12-8204-F0E1A014DB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406" y="814836"/>
            <a:ext cx="8760842" cy="4430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12065" rIns="0" bIns="0">
            <a:spAutoFit/>
          </a:bodyPr>
          <a:lstStyle>
            <a:lvl1pPr marL="127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dirty="0">
                <a:solidFill>
                  <a:schemeClr val="accent2"/>
                </a:solidFill>
                <a:latin typeface="Cambria" panose="02040503050406030204" pitchFamily="18" charset="0"/>
              </a:rPr>
              <a:t>REFERENCES (</a:t>
            </a:r>
            <a:r>
              <a:rPr lang="en-US" altLang="en-US" i="1" dirty="0">
                <a:solidFill>
                  <a:schemeClr val="accent2"/>
                </a:solidFill>
                <a:latin typeface="Cambria" panose="02040503050406030204" pitchFamily="18" charset="0"/>
              </a:rPr>
              <a:t>As per IEEE format and must be </a:t>
            </a:r>
            <a:r>
              <a:rPr lang="en-IN" altLang="en-US" i="1" dirty="0">
                <a:solidFill>
                  <a:schemeClr val="accent2"/>
                </a:solidFill>
                <a:latin typeface="Cambria" panose="02040503050406030204" pitchFamily="18" charset="0"/>
              </a:rPr>
              <a:t>Numbered consecutively in order of first mention</a:t>
            </a:r>
            <a:r>
              <a:rPr lang="en-US" altLang="en-US" dirty="0">
                <a:solidFill>
                  <a:schemeClr val="accent2"/>
                </a:solidFill>
                <a:latin typeface="Cambria" panose="02040503050406030204" pitchFamily="18" charset="0"/>
              </a:rPr>
              <a:t>) &amp; Annexures / Appendix   (Minimum 15 latest references )</a:t>
            </a:r>
            <a:endParaRPr lang="en-US" altLang="en-US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0794372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</TotalTime>
  <Words>709</Words>
  <Application>Microsoft Macintosh PowerPoint</Application>
  <PresentationFormat>On-screen Show (16:9)</PresentationFormat>
  <Paragraphs>89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Cambria</vt:lpstr>
      <vt:lpstr>Playfair Display</vt:lpstr>
      <vt:lpstr>Times New Roman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                   Synopsis (Word copy)  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Veerasagar</cp:lastModifiedBy>
  <cp:revision>15</cp:revision>
  <dcterms:modified xsi:type="dcterms:W3CDTF">2026-03-17T18:01:56Z</dcterms:modified>
</cp:coreProperties>
</file>