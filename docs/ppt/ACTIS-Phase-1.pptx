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7" r:id="rId6"/>
    <p:sldId id="269" r:id="rId7"/>
    <p:sldId id="270" r:id="rId8"/>
    <p:sldId id="259" r:id="rId9"/>
    <p:sldId id="265" r:id="rId10"/>
    <p:sldId id="271" r:id="rId11"/>
    <p:sldId id="263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74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00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B61AB7-0F58-96EF-9BCF-648C2623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09B133AD-CF9A-AF03-1F59-5ADABC941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B1EB55B-BBA9-3B69-BF3D-404849F03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929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B61AB7-0F58-96EF-9BCF-648C2623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09B133AD-CF9A-AF03-1F59-5ADABC941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B1EB55B-BBA9-3B69-BF3D-404849F03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645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d66680d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d66680d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424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839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5C0422C-5211-8F42-43A7-95114523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F48ED4B4-508D-0CF5-6F2A-F8A4A96C7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2617C3DF-EE3C-BA1F-B4D1-1B85D5D69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5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52F5642A-CBAD-6EE0-2796-D807106F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913" y="-24270"/>
            <a:ext cx="4587301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Major Project Review -I : </a:t>
            </a:r>
            <a:r>
              <a:rPr lang="en-US" sz="2000" b="1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MCE442P/MCN442P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kern="0" dirty="0">
                <a:cs typeface="Times New Roman" panose="02020603050405020304" pitchFamily="18" charset="0"/>
              </a:rPr>
              <a:t>Title of the </a:t>
            </a:r>
            <a:r>
              <a:rPr lang="en-US" altLang="en-US" sz="2000" kern="0" dirty="0" smtClean="0">
                <a:cs typeface="Times New Roman" panose="02020603050405020304" pitchFamily="18" charset="0"/>
              </a:rPr>
              <a:t>Major </a:t>
            </a:r>
            <a:r>
              <a:rPr lang="en-US" altLang="en-US" sz="2000" kern="0" dirty="0">
                <a:cs typeface="Times New Roman" panose="02020603050405020304" pitchFamily="18" charset="0"/>
              </a:rPr>
              <a:t>Project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en-US" sz="40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4000" dirty="0">
                <a:latin typeface="Cambria" panose="02040503050406030204" pitchFamily="18" charset="0"/>
                <a:cs typeface="Arial" panose="020B0604020202020204" pitchFamily="34" charset="0"/>
              </a:rPr>
              <a:t>                            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0C1A9E8-6E16-E2D0-7D46-FE5CC88DA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605" y="945226"/>
            <a:ext cx="7759081" cy="405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198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21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&lt;Student Name&gt;</a:t>
            </a:r>
          </a:p>
          <a:p>
            <a:pPr algn="ctr">
              <a:defRPr/>
            </a:pPr>
            <a:r>
              <a:rPr lang="en-US" altLang="en-US" sz="21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&lt;USN&gt;</a:t>
            </a:r>
          </a:p>
          <a:p>
            <a:pPr algn="ctr">
              <a:defRPr/>
            </a:pPr>
            <a:r>
              <a:rPr lang="en-US" altLang="en-US" sz="21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&lt;Company Name&gt;</a:t>
            </a:r>
          </a:p>
          <a:p>
            <a:pPr algn="ctr">
              <a:defRPr/>
            </a:pPr>
            <a:endParaRPr lang="en-US" altLang="en-US" sz="218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en-US" sz="218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Internal Guide Name             </a:t>
            </a:r>
            <a:r>
              <a:rPr lang="en-US" altLang="en-US" sz="2400" kern="0" dirty="0"/>
              <a:t>External Guide Name            </a:t>
            </a:r>
          </a:p>
          <a:p>
            <a:pPr algn="ctr"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                             </a:t>
            </a:r>
            <a:r>
              <a:rPr lang="en-US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             </a:t>
            </a:r>
          </a:p>
          <a:p>
            <a:pPr algn="ctr"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                          </a:t>
            </a:r>
            <a:r>
              <a:rPr lang="en-US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	</a:t>
            </a:r>
          </a:p>
          <a:p>
            <a:pPr>
              <a:defRPr/>
            </a:pPr>
            <a:endParaRPr lang="en-US" altLang="en-US" sz="21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B67595-1B51-83EF-7FC9-827056031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35" y="947287"/>
            <a:ext cx="7645705" cy="395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698500" indent="-6858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3200" dirty="0"/>
              <a:t>Introduction about the project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3200" dirty="0"/>
              <a:t>Relevance of Topic and Problem </a:t>
            </a:r>
            <a:r>
              <a:rPr lang="en-US" sz="3200" dirty="0" smtClean="0"/>
              <a:t>Identification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3200" dirty="0"/>
              <a:t>Project Objectives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3200" dirty="0"/>
              <a:t>Project </a:t>
            </a:r>
            <a:r>
              <a:rPr lang="en-US" altLang="en-US" sz="3200" dirty="0" smtClean="0"/>
              <a:t>Scope</a:t>
            </a:r>
            <a:r>
              <a:rPr lang="en-US" altLang="en-US" sz="3200" dirty="0" smtClean="0"/>
              <a:t> </a:t>
            </a:r>
            <a:endParaRPr lang="en-US" altLang="en-US" sz="3200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3200" dirty="0"/>
              <a:t>Literature </a:t>
            </a:r>
            <a:r>
              <a:rPr lang="en-US" sz="3200" dirty="0" smtClean="0"/>
              <a:t>Survey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3200" dirty="0" smtClean="0"/>
              <a:t>Synopsis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3200" dirty="0" smtClean="0"/>
              <a:t>References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1C6535F3-EE55-3BB0-8314-AEE11BB14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874" y="210473"/>
            <a:ext cx="4610750" cy="108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</a:p>
          <a:p>
            <a:pPr eaLnBrk="1" hangingPunct="1">
              <a:spcBef>
                <a:spcPts val="100"/>
              </a:spcBef>
            </a:pPr>
            <a:endParaRPr lang="en-US" altLang="en-US" sz="4900" dirty="0">
              <a:solidFill>
                <a:srgbClr val="005893"/>
              </a:solidFill>
              <a:latin typeface="Playfair Display" panose="000005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Introduction about the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of Topic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1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03D71C0-83E8-CD31-C4F0-1A56EA2A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AD8E5-B649-4AAE-5C5D-7CAA93055127}"/>
              </a:ext>
            </a:extLst>
          </p:cNvPr>
          <p:cNvSpPr txBox="1"/>
          <p:nvPr/>
        </p:nvSpPr>
        <p:spPr>
          <a:xfrm>
            <a:off x="2286000" y="16508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Problem </a:t>
            </a:r>
            <a:r>
              <a:rPr lang="en-US" altLang="en-US" sz="2000" dirty="0" smtClean="0">
                <a:solidFill>
                  <a:schemeClr val="tx1"/>
                </a:solidFill>
              </a:rPr>
              <a:t>Identification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17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03D71C0-83E8-CD31-C4F0-1A56EA2A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AD8E5-B649-4AAE-5C5D-7CAA93055127}"/>
              </a:ext>
            </a:extLst>
          </p:cNvPr>
          <p:cNvSpPr txBox="1"/>
          <p:nvPr/>
        </p:nvSpPr>
        <p:spPr>
          <a:xfrm>
            <a:off x="2286000" y="16508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168394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2395BE7A-9D0E-6337-F5A8-E3C5BA962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018" y="115112"/>
            <a:ext cx="5927132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 smtClean="0"/>
              <a:t>Project Scope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386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B1C6201D-91E0-7567-93DE-89237FBBD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62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/>
              <a:t>     Literature Survey(Minimum 20 papers)</a:t>
            </a:r>
          </a:p>
          <a:p>
            <a:pPr>
              <a:spcBef>
                <a:spcPct val="0"/>
              </a:spcBef>
            </a:pPr>
            <a:endParaRPr lang="en-US" alt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4EE3ED-C358-D65B-5B64-E54C64A8E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57628"/>
              </p:ext>
            </p:extLst>
          </p:nvPr>
        </p:nvGraphicFramePr>
        <p:xfrm>
          <a:off x="442604" y="738565"/>
          <a:ext cx="8523266" cy="428016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36522">
                  <a:extLst>
                    <a:ext uri="{9D8B030D-6E8A-4147-A177-3AD203B41FA5}">
                      <a16:colId xmlns:a16="http://schemas.microsoft.com/office/drawing/2014/main" val="2279697044"/>
                    </a:ext>
                  </a:extLst>
                </a:gridCol>
                <a:gridCol w="1129114">
                  <a:extLst>
                    <a:ext uri="{9D8B030D-6E8A-4147-A177-3AD203B41FA5}">
                      <a16:colId xmlns:a16="http://schemas.microsoft.com/office/drawing/2014/main" val="803012569"/>
                    </a:ext>
                  </a:extLst>
                </a:gridCol>
                <a:gridCol w="2041235">
                  <a:extLst>
                    <a:ext uri="{9D8B030D-6E8A-4147-A177-3AD203B41FA5}">
                      <a16:colId xmlns:a16="http://schemas.microsoft.com/office/drawing/2014/main" val="1008628936"/>
                    </a:ext>
                  </a:extLst>
                </a:gridCol>
                <a:gridCol w="2497590">
                  <a:extLst>
                    <a:ext uri="{9D8B030D-6E8A-4147-A177-3AD203B41FA5}">
                      <a16:colId xmlns:a16="http://schemas.microsoft.com/office/drawing/2014/main" val="2676647448"/>
                    </a:ext>
                  </a:extLst>
                </a:gridCol>
                <a:gridCol w="2018805">
                  <a:extLst>
                    <a:ext uri="{9D8B030D-6E8A-4147-A177-3AD203B41FA5}">
                      <a16:colId xmlns:a16="http://schemas.microsoft.com/office/drawing/2014/main" val="3647373459"/>
                    </a:ext>
                  </a:extLst>
                </a:gridCol>
              </a:tblGrid>
              <a:tr h="4964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 No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  <a:p>
                      <a:pPr algn="ctr"/>
                      <a:r>
                        <a:rPr lang="en-US" sz="1400" dirty="0"/>
                        <a:t>(Latest)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Details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Attributes/Findings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Challenges/</a:t>
                      </a:r>
                    </a:p>
                    <a:p>
                      <a:pPr algn="ctr"/>
                      <a:r>
                        <a:rPr lang="en-US" sz="1400" dirty="0"/>
                        <a:t>Limitations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76178566"/>
                  </a:ext>
                </a:extLst>
              </a:tr>
              <a:tr h="27521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34328933"/>
                  </a:ext>
                </a:extLst>
              </a:tr>
              <a:tr h="30808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919704194"/>
                  </a:ext>
                </a:extLst>
              </a:tr>
              <a:tr h="19845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121298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172538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14893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85979116"/>
                  </a:ext>
                </a:extLst>
              </a:tr>
              <a:tr h="3061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7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1608805990"/>
                  </a:ext>
                </a:extLst>
              </a:tr>
              <a:tr h="41031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280085822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9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386195573"/>
                  </a:ext>
                </a:extLst>
              </a:tr>
              <a:tr h="42577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10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2130588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B1C6201D-91E0-7567-93DE-89237FBBD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62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/>
              <a:t>     Literature Survey(Minimum 20 papers)</a:t>
            </a:r>
          </a:p>
          <a:p>
            <a:pPr>
              <a:spcBef>
                <a:spcPct val="0"/>
              </a:spcBef>
            </a:pPr>
            <a:endParaRPr lang="en-US" alt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4EE3ED-C358-D65B-5B64-E54C64A8E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81669"/>
              </p:ext>
            </p:extLst>
          </p:nvPr>
        </p:nvGraphicFramePr>
        <p:xfrm>
          <a:off x="442604" y="738565"/>
          <a:ext cx="8523266" cy="428016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36522">
                  <a:extLst>
                    <a:ext uri="{9D8B030D-6E8A-4147-A177-3AD203B41FA5}">
                      <a16:colId xmlns:a16="http://schemas.microsoft.com/office/drawing/2014/main" val="2279697044"/>
                    </a:ext>
                  </a:extLst>
                </a:gridCol>
                <a:gridCol w="1129114">
                  <a:extLst>
                    <a:ext uri="{9D8B030D-6E8A-4147-A177-3AD203B41FA5}">
                      <a16:colId xmlns:a16="http://schemas.microsoft.com/office/drawing/2014/main" val="803012569"/>
                    </a:ext>
                  </a:extLst>
                </a:gridCol>
                <a:gridCol w="2041235">
                  <a:extLst>
                    <a:ext uri="{9D8B030D-6E8A-4147-A177-3AD203B41FA5}">
                      <a16:colId xmlns:a16="http://schemas.microsoft.com/office/drawing/2014/main" val="1008628936"/>
                    </a:ext>
                  </a:extLst>
                </a:gridCol>
                <a:gridCol w="2497590">
                  <a:extLst>
                    <a:ext uri="{9D8B030D-6E8A-4147-A177-3AD203B41FA5}">
                      <a16:colId xmlns:a16="http://schemas.microsoft.com/office/drawing/2014/main" val="2676647448"/>
                    </a:ext>
                  </a:extLst>
                </a:gridCol>
                <a:gridCol w="2018805">
                  <a:extLst>
                    <a:ext uri="{9D8B030D-6E8A-4147-A177-3AD203B41FA5}">
                      <a16:colId xmlns:a16="http://schemas.microsoft.com/office/drawing/2014/main" val="3647373459"/>
                    </a:ext>
                  </a:extLst>
                </a:gridCol>
              </a:tblGrid>
              <a:tr h="4964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 No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  <a:p>
                      <a:pPr algn="ctr"/>
                      <a:r>
                        <a:rPr lang="en-US" sz="1400" dirty="0"/>
                        <a:t>(Latest)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Details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Attributes/Findings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Challenges/</a:t>
                      </a:r>
                    </a:p>
                    <a:p>
                      <a:pPr algn="ctr"/>
                      <a:r>
                        <a:rPr lang="en-US" sz="1400" dirty="0"/>
                        <a:t>Limitations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76178566"/>
                  </a:ext>
                </a:extLst>
              </a:tr>
              <a:tr h="27521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11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34328933"/>
                  </a:ext>
                </a:extLst>
              </a:tr>
              <a:tr h="30808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919704194"/>
                  </a:ext>
                </a:extLst>
              </a:tr>
              <a:tr h="19845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13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121298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14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172538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15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14893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16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85979116"/>
                  </a:ext>
                </a:extLst>
              </a:tr>
              <a:tr h="3061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17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1608805990"/>
                  </a:ext>
                </a:extLst>
              </a:tr>
              <a:tr h="41031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18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280085822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19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386195573"/>
                  </a:ext>
                </a:extLst>
              </a:tr>
              <a:tr h="42577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20</a:t>
                      </a:r>
                      <a:endParaRPr lang="en-IN" sz="1200" b="1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marL="0"/>
                      <a:endParaRPr lang="en-IN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21305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106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E421-BDA7-0AFB-F730-DF7BF437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00" y="18595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schemeClr val="tx2"/>
                </a:solidFill>
              </a:rPr>
              <a:t>                      </a:t>
            </a:r>
            <a:r>
              <a:rPr lang="en-US" altLang="en-US" sz="2800" dirty="0">
                <a:solidFill>
                  <a:schemeClr val="tx1"/>
                </a:solidFill>
              </a:rPr>
              <a:t>Synopsis (Word copy)</a:t>
            </a:r>
            <a:r>
              <a:rPr lang="en-US" altLang="en-US" sz="2800" dirty="0">
                <a:solidFill>
                  <a:schemeClr val="tx2"/>
                </a:solidFill>
              </a:rPr>
              <a:t/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96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92862C0-58EE-2E32-2C60-99C37C77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D5A8B2-39FB-AE52-C2AE-0CC447A6A067}"/>
              </a:ext>
            </a:extLst>
          </p:cNvPr>
          <p:cNvSpPr txBox="1"/>
          <p:nvPr/>
        </p:nvSpPr>
        <p:spPr>
          <a:xfrm>
            <a:off x="2027104" y="167010"/>
            <a:ext cx="5310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References(Minimum 10 with all details)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B1390-F280-EE51-D533-F9EF31BE1985}"/>
              </a:ext>
            </a:extLst>
          </p:cNvPr>
          <p:cNvSpPr txBox="1"/>
          <p:nvPr/>
        </p:nvSpPr>
        <p:spPr>
          <a:xfrm>
            <a:off x="264406" y="1410688"/>
            <a:ext cx="8760842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Journal Paper:    Name  initial, “title”, Journal name, vol. **(issue), year,  pp.**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1. Honig, M.L.,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Steiglitz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K., and Gopinath, B., </a:t>
            </a: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“Multichannel signal processing for data communication in the presence of crosstalk”, IEEE Trans. Communications.,  vol. 38, (4),       </a:t>
            </a: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 1990 , pp.       551–558</a:t>
            </a:r>
          </a:p>
          <a:p>
            <a:pPr marL="12700" indent="-165100" algn="just">
              <a:defRPr/>
            </a:pPr>
            <a:endParaRPr lang="en-US" sz="1100" dirty="0">
              <a:solidFill>
                <a:schemeClr val="tx1"/>
              </a:solidFill>
              <a:latin typeface="Cambria" panose="020405030504060302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2.    Proceeding / conferences : Name Initial, “title”, Proceeding of the ***, Editor name, place, year, pp.  ***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2. Shin, K.G. and        </a:t>
            </a: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Mckay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N.D. “Open Loop Minimum Time Control of Mechanical   Manipulations and its Applications’”  Proceeding of the . Amer.     </a:t>
            </a: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Contr. Conf., San Diego, CA, ,1984, pp. 1231-1236.</a:t>
            </a:r>
          </a:p>
          <a:p>
            <a:pPr marL="304800" indent="-457200" algn="just">
              <a:buFontTx/>
              <a:buAutoNum type="arabicPeriod" startAt="2"/>
              <a:defRPr/>
            </a:pPr>
            <a:endParaRPr lang="en-US" sz="1100" dirty="0">
              <a:solidFill>
                <a:schemeClr val="tx1"/>
              </a:solidFill>
              <a:latin typeface="Cambria" panose="020405030504060302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3.     Thesis (Masters / Doctoral) : Name, initials, “title”,  University, Year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Nongpiur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R C, “Near-End Crosstalk Cancellation in    </a:t>
            </a:r>
          </a:p>
          <a:p>
            <a:pPr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xDSL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Systems” Doctoral thesis, University of      Victoria,  2005.</a:t>
            </a:r>
          </a:p>
          <a:p>
            <a:pPr algn="just">
              <a:defRPr/>
            </a:pPr>
            <a:endParaRPr lang="en-US" sz="1100" dirty="0">
              <a:solidFill>
                <a:schemeClr val="tx1"/>
              </a:solidFill>
              <a:latin typeface="Cambria" panose="020405030504060302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    Annual reports / manual:  Name (optional), “title”, Report number, Agencies, Year </a:t>
            </a: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International Technology Roadmap for Semiconductors,  Report-7,  ITRS, 2011,</a:t>
            </a:r>
          </a:p>
          <a:p>
            <a:pPr marL="12700" indent="-165100" algn="just">
              <a:defRPr/>
            </a:pPr>
            <a:endParaRPr lang="en-US" sz="1100" dirty="0">
              <a:solidFill>
                <a:schemeClr val="tx1"/>
              </a:solidFill>
              <a:latin typeface="Cambria" panose="020405030504060302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5.    Patent: Name  initial, “title of patent”, Patent number, date of patent</a:t>
            </a: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Bischoff F, “Apparatus for vapor deposition of silicon,”  U.S. Patent 3 335 697, Aug. 15, 1967.</a:t>
            </a:r>
          </a:p>
          <a:p>
            <a:pPr marL="12700" indent="-165100" algn="just">
              <a:defRPr/>
            </a:pPr>
            <a:endParaRPr lang="en-US" sz="1100" dirty="0">
              <a:solidFill>
                <a:schemeClr val="tx1"/>
              </a:solidFill>
              <a:latin typeface="Cambria" panose="020405030504060302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6.    Books / Manual / standards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datahand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books :  “Title “,  publisher, year </a:t>
            </a: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“Ferrous Material Testing Procedure “ ASTM Standard- vol.3, </a:t>
            </a:r>
            <a:r>
              <a:rPr lang="en-US" sz="1100" dirty="0" err="1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Americal</a:t>
            </a: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Society for Testing     </a:t>
            </a:r>
          </a:p>
          <a:p>
            <a:pPr marL="12700" indent="-1651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Materials, 2003.</a:t>
            </a:r>
          </a:p>
          <a:p>
            <a:pPr marL="12700" algn="just">
              <a:defRPr/>
            </a:pPr>
            <a:r>
              <a:rPr lang="en-US" sz="1100" dirty="0">
                <a:solidFill>
                  <a:schemeClr val="tx1"/>
                </a:solidFill>
                <a:latin typeface="Cambria" panose="020405030504060302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ANNEXURE /Appendix : Could include programs, company profile, specimen /representative  calculations, Data sheets, additional theory or related information, publications if any or any other information relevant to the work. </a:t>
            </a:r>
            <a:endParaRPr lang="en-IN" sz="1100" dirty="0">
              <a:solidFill>
                <a:schemeClr val="tx1"/>
              </a:solidFill>
              <a:latin typeface="Cambria" panose="020405030504060302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r>
              <a:rPr lang="en-US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B9DBB05-203A-7F12-8204-F0E1A014D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06" y="814836"/>
            <a:ext cx="8760842" cy="44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</a:rPr>
              <a:t>REFERENCES (</a:t>
            </a:r>
            <a:r>
              <a:rPr lang="en-US" altLang="en-US" i="1" dirty="0">
                <a:solidFill>
                  <a:schemeClr val="accent2"/>
                </a:solidFill>
                <a:latin typeface="Cambria" panose="02040503050406030204" pitchFamily="18" charset="0"/>
              </a:rPr>
              <a:t>As per IEEE format and must be </a:t>
            </a:r>
            <a:r>
              <a:rPr lang="en-IN" altLang="en-US" i="1" dirty="0">
                <a:solidFill>
                  <a:schemeClr val="accent2"/>
                </a:solidFill>
                <a:latin typeface="Cambria" panose="02040503050406030204" pitchFamily="18" charset="0"/>
              </a:rPr>
              <a:t>Numbered consecutively in order of first mention</a:t>
            </a: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</a:rPr>
              <a:t>) &amp; Annexures / Appendix   (Minimum 15 latest references )</a:t>
            </a:r>
            <a:endParaRPr lang="en-US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79437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512</Words>
  <Application>Microsoft Office PowerPoint</Application>
  <PresentationFormat>On-screen Show (16:9)</PresentationFormat>
  <Paragraphs>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Calibri</vt:lpstr>
      <vt:lpstr>Cambria</vt:lpstr>
      <vt:lpstr>Playfair Display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Synopsis (Word copy)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PGCSE</cp:lastModifiedBy>
  <cp:revision>13</cp:revision>
  <dcterms:modified xsi:type="dcterms:W3CDTF">2026-03-16T10:56:16Z</dcterms:modified>
</cp:coreProperties>
</file>