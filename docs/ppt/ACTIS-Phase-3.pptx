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15"/>
  </p:notesMasterIdLst>
  <p:sldIdLst>
    <p:sldId id="272" r:id="rId2"/>
    <p:sldId id="257" r:id="rId3"/>
    <p:sldId id="258" r:id="rId4"/>
    <p:sldId id="274" r:id="rId5"/>
    <p:sldId id="275" r:id="rId6"/>
    <p:sldId id="260" r:id="rId7"/>
    <p:sldId id="261" r:id="rId8"/>
    <p:sldId id="276" r:id="rId9"/>
    <p:sldId id="267" r:id="rId10"/>
    <p:sldId id="277" r:id="rId11"/>
    <p:sldId id="271" r:id="rId12"/>
    <p:sldId id="268" r:id="rId13"/>
    <p:sldId id="273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59"/>
  </p:normalViewPr>
  <p:slideViewPr>
    <p:cSldViewPr snapToGrid="0">
      <p:cViewPr varScale="1">
        <p:scale>
          <a:sx n="195" d="100"/>
          <a:sy n="195" d="100"/>
        </p:scale>
        <p:origin x="106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3d66680d4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3d66680d4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F998CB31-E5BD-9E3A-2A1D-17CBA51F5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3d66680d41_0_5:notes">
            <a:extLst>
              <a:ext uri="{FF2B5EF4-FFF2-40B4-BE49-F238E27FC236}">
                <a16:creationId xmlns:a16="http://schemas.microsoft.com/office/drawing/2014/main" id="{63AB7260-7B5C-2BB3-3DFD-76D9212DE8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3d66680d41_0_5:notes">
            <a:extLst>
              <a:ext uri="{FF2B5EF4-FFF2-40B4-BE49-F238E27FC236}">
                <a16:creationId xmlns:a16="http://schemas.microsoft.com/office/drawing/2014/main" id="{E2A1D9BF-4E0A-9327-ECEE-2C530C9EE9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59324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C0E49059-3F58-5C09-8DB9-D660AED28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3d66680d41_0_5:notes">
            <a:extLst>
              <a:ext uri="{FF2B5EF4-FFF2-40B4-BE49-F238E27FC236}">
                <a16:creationId xmlns:a16="http://schemas.microsoft.com/office/drawing/2014/main" id="{2572F309-49FE-C189-1F00-566F2F19AC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3d66680d41_0_5:notes">
            <a:extLst>
              <a:ext uri="{FF2B5EF4-FFF2-40B4-BE49-F238E27FC236}">
                <a16:creationId xmlns:a16="http://schemas.microsoft.com/office/drawing/2014/main" id="{025E1960-5A7B-4D1A-8449-F53A880C2B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487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3d66680d41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3d66680d41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3d66680d41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3d66680d41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FA388723-1571-8257-9F27-5B4B8FA65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3d66680d41_0_20:notes">
            <a:extLst>
              <a:ext uri="{FF2B5EF4-FFF2-40B4-BE49-F238E27FC236}">
                <a16:creationId xmlns:a16="http://schemas.microsoft.com/office/drawing/2014/main" id="{3D7DB9DC-529F-BD68-20C3-71A7DABE12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3d66680d41_0_20:notes">
            <a:extLst>
              <a:ext uri="{FF2B5EF4-FFF2-40B4-BE49-F238E27FC236}">
                <a16:creationId xmlns:a16="http://schemas.microsoft.com/office/drawing/2014/main" id="{D2BF6153-5B79-ED03-B920-F9EEC57022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97323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3d66680d41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3d66680d41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68132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AE117F2B-AAF5-4016-7906-8A35AC605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3d66680d41_0_20:notes">
            <a:extLst>
              <a:ext uri="{FF2B5EF4-FFF2-40B4-BE49-F238E27FC236}">
                <a16:creationId xmlns:a16="http://schemas.microsoft.com/office/drawing/2014/main" id="{3F9BB226-1512-842B-2CB7-09BF865A2E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3d66680d41_0_20:notes">
            <a:extLst>
              <a:ext uri="{FF2B5EF4-FFF2-40B4-BE49-F238E27FC236}">
                <a16:creationId xmlns:a16="http://schemas.microsoft.com/office/drawing/2014/main" id="{37B6C443-D52A-617E-D559-EAB6D4B37F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41480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3d66680d41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3d66680d41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9252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3d66680d41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3d66680d41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83188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C5C0422C-5211-8F42-43A7-951145235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3d66680d41_0_20:notes">
            <a:extLst>
              <a:ext uri="{FF2B5EF4-FFF2-40B4-BE49-F238E27FC236}">
                <a16:creationId xmlns:a16="http://schemas.microsoft.com/office/drawing/2014/main" id="{F48ED4B4-508D-0CF5-6F2A-F8A4A96C72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3d66680d41_0_20:notes">
            <a:extLst>
              <a:ext uri="{FF2B5EF4-FFF2-40B4-BE49-F238E27FC236}">
                <a16:creationId xmlns:a16="http://schemas.microsoft.com/office/drawing/2014/main" id="{2617C3DF-EE3C-BA1F-B4D1-1B85D5D69B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5517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63213" y="4730051"/>
            <a:ext cx="2217574" cy="33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91725" y="934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253250" y="18575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3600" y="415175"/>
            <a:ext cx="1974051" cy="3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91725" y="776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91725" y="776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91725" y="7765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068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16000" y="216000"/>
            <a:ext cx="1507681" cy="64799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52F5642A-CBAD-6EE0-2796-D807106F4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8347" y="333103"/>
            <a:ext cx="4587301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cs typeface="Times New Roman" panose="02020603050405020304" pitchFamily="18" charset="0"/>
              </a:rPr>
              <a:t>Major Project Review - III : 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MCE442P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altLang="en-US" sz="2000" kern="0" dirty="0">
                <a:cs typeface="Times New Roman" panose="02020603050405020304" pitchFamily="18" charset="0"/>
              </a:rPr>
              <a:t>ACTIS – Agentic Collaborative Threat Intelligence System via Trust Aware Federated Learning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endParaRPr lang="en-US" altLang="en-US" sz="4000" dirty="0">
              <a:latin typeface="Cambria" panose="02040503050406030204" pitchFamily="18" charset="0"/>
              <a:cs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altLang="en-US" sz="4000" dirty="0">
                <a:latin typeface="Cambria" panose="02040503050406030204" pitchFamily="18" charset="0"/>
                <a:cs typeface="Arial" panose="020B0604020202020204" pitchFamily="34" charset="0"/>
              </a:rPr>
              <a:t>                            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7AF2D5FA-FA9C-22FB-3C15-90E6779E1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458" y="2316682"/>
            <a:ext cx="7759081" cy="2295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5198" rIns="0" bIns="0">
            <a:spAutoFit/>
          </a:bodyPr>
          <a:lstStyle>
            <a:lvl1pPr marL="1270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Veerasagar S S</a:t>
            </a:r>
          </a:p>
          <a:p>
            <a:pPr algn="ctr">
              <a:defRPr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1RV24SCS17</a:t>
            </a:r>
          </a:p>
          <a:p>
            <a:pPr>
              <a:defRPr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en-US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Dr. Rajashree Shettar</a:t>
            </a:r>
          </a:p>
          <a:p>
            <a:pPr algn="ctr">
              <a:defRPr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  <a:endParaRPr lang="en-US" altLang="en-US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 RVCE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4B67595-1B51-83EF-7FC9-827056031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570" y="1000450"/>
            <a:ext cx="7645705" cy="3336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698500" indent="-685800">
              <a:spcBef>
                <a:spcPct val="20000"/>
              </a:spcBef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Char char="•"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 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Demonstration: Major Project work 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sz="2400" dirty="0"/>
              <a:t>Testing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sz="2400" dirty="0"/>
              <a:t>Experimental Results and Analysis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sz="2400" dirty="0"/>
              <a:t>Conclusions and Future scope of work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and Outcomes</a:t>
            </a:r>
            <a:endParaRPr lang="en-US" sz="2400" dirty="0"/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sz="2400" dirty="0"/>
              <a:t>Report writing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sz="2400" dirty="0"/>
              <a:t>Paper Publication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object 9">
            <a:extLst>
              <a:ext uri="{FF2B5EF4-FFF2-40B4-BE49-F238E27FC236}">
                <a16:creationId xmlns:a16="http://schemas.microsoft.com/office/drawing/2014/main" id="{1C6535F3-EE55-3BB0-8314-AEE11BB14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6995" y="210473"/>
            <a:ext cx="4614531" cy="319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tabLst>
                <a:tab pos="64833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tabLst>
                <a:tab pos="64833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tabLst>
                <a:tab pos="64833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tabLst>
                <a:tab pos="64833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tabLst>
                <a:tab pos="64833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CONTENTS</a:t>
            </a:r>
            <a:endParaRPr lang="en-US" altLang="en-US" sz="4900" dirty="0">
              <a:solidFill>
                <a:srgbClr val="005893"/>
              </a:solidFill>
              <a:latin typeface="Playfair Display" panose="000005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F2E7B7E9-21CB-4681-BDA3-90D7F3F4E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9429" y="117057"/>
            <a:ext cx="4105141" cy="381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altLang="en-US" sz="2400" dirty="0"/>
              <a:t>Implementation details</a:t>
            </a:r>
            <a:endParaRPr lang="en-US" altLang="en-US" sz="2400" dirty="0"/>
          </a:p>
        </p:txBody>
      </p:sp>
      <p:pic>
        <p:nvPicPr>
          <p:cNvPr id="3" name="Picture 2" descr="A diagram of a network&#10;&#10;AI-generated content may be incorrect.">
            <a:extLst>
              <a:ext uri="{FF2B5EF4-FFF2-40B4-BE49-F238E27FC236}">
                <a16:creationId xmlns:a16="http://schemas.microsoft.com/office/drawing/2014/main" id="{9E5F7923-524F-3BAA-B2B8-2407FDEA1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591" y="1004207"/>
            <a:ext cx="3726815" cy="37268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5276F5F2-5D5E-A08B-C8DE-EBFA37032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3783AEA3-9515-2D8F-7E9E-AF340397A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9429" y="117057"/>
            <a:ext cx="4105141" cy="381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altLang="en-US" sz="2400" dirty="0"/>
              <a:t>Implementation details</a:t>
            </a:r>
            <a:endParaRPr lang="en-US" alt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53A3D6-939A-820A-0CA6-231902A5CE33}"/>
              </a:ext>
            </a:extLst>
          </p:cNvPr>
          <p:cNvSpPr txBox="1"/>
          <p:nvPr/>
        </p:nvSpPr>
        <p:spPr>
          <a:xfrm>
            <a:off x="179613" y="888746"/>
            <a:ext cx="8784771" cy="425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— Data Ingestion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(Kaggle API + Apache Parquet)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47M+ network flow records loaded from two Kaggle datasets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Parquet format enables fast columnar reads on limited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memory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— Dataset Partitioning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(Non-IID Federated Split)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NF-CSE-CIC-IDS2018 (17M enterprise flows) → Nodes A &amp; B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-IoT (30M IoT flows) → Nodes C &amp; D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Deliberate heterogeneity simulates real-world multi-org environments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— Feature Engineering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(Pandas + NumPy)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 derived statistical features (bytes-per-packet ratio, flow asymmetry, burst rate)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Expands raw 41-feature vector to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66 dimensions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richer representation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— IDS Classification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DNN)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4-layer deep neural network: 66 → 256 → 128 → 64 → N classes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BatchNorm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training stability, Dropout for regularization,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activations</a:t>
            </a:r>
          </a:p>
        </p:txBody>
      </p:sp>
    </p:spTree>
    <p:extLst>
      <p:ext uri="{BB962C8B-B14F-4D97-AF65-F5344CB8AC3E}">
        <p14:creationId xmlns:p14="http://schemas.microsoft.com/office/powerpoint/2010/main" val="1214853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601DEB56-6C32-A33A-FD1C-EB51EEABE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DBD97A61-D358-DB8D-6609-689FD1A45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9429" y="117057"/>
            <a:ext cx="4105141" cy="381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altLang="en-US" sz="2400" dirty="0"/>
              <a:t>Implementation details</a:t>
            </a:r>
            <a:endParaRPr lang="en-US" alt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FE14F8-E7ED-4C5F-F347-46E11A921FD9}"/>
              </a:ext>
            </a:extLst>
          </p:cNvPr>
          <p:cNvSpPr txBox="1"/>
          <p:nvPr/>
        </p:nvSpPr>
        <p:spPr>
          <a:xfrm>
            <a:off x="163286" y="1038497"/>
            <a:ext cx="8784771" cy="4165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5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 — Zero-Day Detection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Autoencoders)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15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autoencoders for TCP, UDP, and ICMP protocols</a:t>
            </a:r>
          </a:p>
          <a:p>
            <a:pPr marL="285750" indent="-285750">
              <a:spcBef>
                <a:spcPts val="15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 scoring: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entropy (classifier uncertainty) + reconstruction error (anomaly signal)</a:t>
            </a:r>
          </a:p>
          <a:p>
            <a:pPr marL="285750" indent="-285750">
              <a:spcBef>
                <a:spcPts val="15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Benign traffic is logged; anomalous traffic is escalated</a:t>
            </a:r>
          </a:p>
          <a:p>
            <a:pPr>
              <a:spcBef>
                <a:spcPts val="15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 — Privacy Pipeline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(Regex + Recursive Scanner)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15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 regex patterns scrub IPs, emails, MACs, hostnames, SSNs from threat reports</a:t>
            </a:r>
          </a:p>
          <a:p>
            <a:pPr marL="285750" indent="-285750">
              <a:spcBef>
                <a:spcPts val="15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PII Validator ensures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0% leakage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before any data leaves the node</a:t>
            </a:r>
          </a:p>
          <a:p>
            <a:pPr>
              <a:spcBef>
                <a:spcPts val="15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7a — Federated Learning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FedAvg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DP Noise)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15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weights (not data) shared across 4 nodes over 10 rounds</a:t>
            </a:r>
          </a:p>
          <a:p>
            <a:pPr marL="285750" indent="-285750">
              <a:spcBef>
                <a:spcPts val="15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noise added for Differential Privacy guarantee</a:t>
            </a:r>
          </a:p>
          <a:p>
            <a:pPr marL="285750" indent="-285750">
              <a:spcBef>
                <a:spcPts val="15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improved global model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loops back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strengthen the IDS classifier</a:t>
            </a:r>
          </a:p>
          <a:p>
            <a:pPr>
              <a:spcBef>
                <a:spcPts val="15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7b — Global Intelligence Hub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Cross-Encoder RAG)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15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Sanitized reports stored as 384-dim embeddings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15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Cross-encoder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reranks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retrieval results; abstention threshold prevents hallucinations</a:t>
            </a:r>
          </a:p>
          <a:p>
            <a:pPr>
              <a:spcBef>
                <a:spcPts val="15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8 — Immunity Engine 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(Snort + iptables)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15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Auto-generates firewall rules from detected threats</a:t>
            </a:r>
          </a:p>
          <a:p>
            <a:pPr marL="285750" indent="-285750">
              <a:spcBef>
                <a:spcPts val="15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 deployed to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federated nodes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one detection protects everyone</a:t>
            </a:r>
          </a:p>
        </p:txBody>
      </p:sp>
    </p:spTree>
    <p:extLst>
      <p:ext uri="{BB962C8B-B14F-4D97-AF65-F5344CB8AC3E}">
        <p14:creationId xmlns:p14="http://schemas.microsoft.com/office/powerpoint/2010/main" val="2458257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2395BE7A-9D0E-6337-F5A8-E3C5BA962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8943" y="226146"/>
            <a:ext cx="4466113" cy="381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Demonstration: Major Project work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07AABB-7848-5934-4648-7664BB5F5063}"/>
              </a:ext>
            </a:extLst>
          </p:cNvPr>
          <p:cNvSpPr txBox="1"/>
          <p:nvPr/>
        </p:nvSpPr>
        <p:spPr>
          <a:xfrm>
            <a:off x="1250767" y="1318996"/>
            <a:ext cx="66424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colab.research.google.com</a:t>
            </a:r>
            <a:r>
              <a:rPr lang="en-US" dirty="0"/>
              <a:t>/drive/1wywXGCfp4qpyF2IihCtmla79CTXpKa2L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D0AD732F-239F-0EA5-6D19-3656A8B7E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7446" y="164388"/>
            <a:ext cx="4769108" cy="381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0ABBB3-466C-B286-FFA8-F769085E43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134969"/>
              </p:ext>
            </p:extLst>
          </p:nvPr>
        </p:nvGraphicFramePr>
        <p:xfrm>
          <a:off x="382995" y="1218248"/>
          <a:ext cx="8521700" cy="1432560"/>
        </p:xfrm>
        <a:graphic>
          <a:graphicData uri="http://schemas.openxmlformats.org/drawingml/2006/table">
            <a:tbl>
              <a:tblPr/>
              <a:tblGrid>
                <a:gridCol w="2130425">
                  <a:extLst>
                    <a:ext uri="{9D8B030D-6E8A-4147-A177-3AD203B41FA5}">
                      <a16:colId xmlns:a16="http://schemas.microsoft.com/office/drawing/2014/main" val="3778113950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925179553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3663225472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42278522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Configuration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F1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AC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F1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5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Accuracy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10AC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A4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AC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EA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PII Safe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0A4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C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A4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6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Intel Sharing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BC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C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C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0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9491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FL Only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105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EA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5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0.96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F0EA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6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EA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77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706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0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69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AE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00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0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0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0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308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FL + Privacy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77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FF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0.95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077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AE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77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0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✅</a:t>
                      </a:r>
                    </a:p>
                  </a:txBody>
                  <a:tcPr anchor="ctr">
                    <a:lnL w="9525" cap="flat" cmpd="sng" algn="ctr">
                      <a:solidFill>
                        <a:srgbClr val="80AE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0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AE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00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0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04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C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47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FL + Privacy + RAG (Full ACTIS)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0FF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0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FF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FF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0.95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00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0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0D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✅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0B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C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7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✅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0C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C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C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CA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07121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71CB4EE-BA49-DA0F-26A4-27CD9D19C333}"/>
              </a:ext>
            </a:extLst>
          </p:cNvPr>
          <p:cNvSpPr txBox="1"/>
          <p:nvPr/>
        </p:nvSpPr>
        <p:spPr>
          <a:xfrm>
            <a:off x="257991" y="3017311"/>
            <a:ext cx="877170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 Only (0.96 acc):</a:t>
            </a: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All 4 nodes train together with no privacy — highest accuracy but raw weights are exposed, and no threat intelligence is shared between organizations.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 + Privacy (0.95 acc):</a:t>
            </a: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Differential Privacy noise is added to weights and PII is scrubbed from reports — costs only 1% accuracy but ensures full legal compliance with zero data leakage.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 + Privacy + RAG (0.95 acc):</a:t>
            </a: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The complete ACTIS system — adds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storage, RAG retrieval, and auto-generated firewall rules at zero additional accuracy cost.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Takeaway:</a:t>
            </a: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Privacy costs just 1% accuracy, intelligence sharing is free — proving that collaborative defense does not require sacrificing detection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D4D71527-7058-0260-C600-40E730810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E4A231EC-EB64-18B2-56C3-F7708FFFF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7446" y="236994"/>
            <a:ext cx="4769108" cy="381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Experimental Results and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CF07E1-68D6-FD23-4A68-58771D9E6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713" y="1185273"/>
            <a:ext cx="5300574" cy="343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354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D0AD732F-239F-0EA5-6D19-3656A8B7E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7446" y="236994"/>
            <a:ext cx="4769108" cy="381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Experimental Results and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275603-4D2D-B879-73D1-C4FC243BA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671" y="907409"/>
            <a:ext cx="6450657" cy="4134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159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D3359772-8823-5554-9170-A2E4DA5E5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08CBDA88-A70D-F2E9-FE1C-CAEC2DFDB2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6767" y="334966"/>
            <a:ext cx="5050466" cy="381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Conclusions and Future scope of 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7CA973-138C-2A1E-5E8C-9C7956FAC80E}"/>
              </a:ext>
            </a:extLst>
          </p:cNvPr>
          <p:cNvSpPr txBox="1"/>
          <p:nvPr/>
        </p:nvSpPr>
        <p:spPr>
          <a:xfrm>
            <a:off x="199208" y="1198425"/>
            <a:ext cx="8993777" cy="2746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buNone/>
            </a:pPr>
            <a:endParaRPr lang="en-US" b="1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 improves IDS accuracy by 5–15% over local training without sharing any raw data between organizations.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Per-protocol autoencoders achieve 99.5% zero-day detection rate, outperforming Tri-LLM's 85.6%.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three-layer privacy pipeline guarantees 0% PII leakage with only 1% accuracy cost.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RAG-based intelligence sharing and auto-generated firewall rules enable herd immunity at zero accuracy penalty.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ACTIS is the first system to unify federated learning, zero-day detection, privacy preservation, and agentic RAG into one framework.</a:t>
            </a:r>
          </a:p>
        </p:txBody>
      </p:sp>
    </p:spTree>
    <p:extLst>
      <p:ext uri="{BB962C8B-B14F-4D97-AF65-F5344CB8AC3E}">
        <p14:creationId xmlns:p14="http://schemas.microsoft.com/office/powerpoint/2010/main" val="3135564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D0AD732F-239F-0EA5-6D19-3656A8B7E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6767" y="334966"/>
            <a:ext cx="5050466" cy="381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Conclusions and Future scope of 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F799AF-D704-1A6B-1C2D-90B2DAA479A7}"/>
              </a:ext>
            </a:extLst>
          </p:cNvPr>
          <p:cNvSpPr txBox="1"/>
          <p:nvPr/>
        </p:nvSpPr>
        <p:spPr>
          <a:xfrm>
            <a:off x="257991" y="1088042"/>
            <a:ext cx="8628017" cy="3290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US" b="1" i="0" dirty="0">
                <a:solidFill>
                  <a:schemeClr val="tx1"/>
                </a:solidFill>
                <a:effectLst/>
                <a:latin typeface="ui-sans-serif"/>
              </a:rPr>
              <a:t>Future Scope</a:t>
            </a:r>
          </a:p>
          <a:p>
            <a:pPr algn="l">
              <a:lnSpc>
                <a:spcPct val="150000"/>
              </a:lnSpc>
              <a:buNone/>
            </a:pPr>
            <a:endParaRPr lang="en-US" b="0" i="0" dirty="0">
              <a:solidFill>
                <a:schemeClr val="tx1"/>
              </a:solidFill>
              <a:effectLst/>
              <a:latin typeface="ui-sans-serif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ui-sans-serif"/>
              </a:rPr>
              <a:t>Deploy on live enterprise networks with SIEM integration (Splunk/Elastic) for production-grade monitoring.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ui-sans-serif"/>
              </a:rPr>
              <a:t>Add secure aggregation using homomorphic encryption so even the server cannot read individual weights.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ui-sans-serif"/>
              </a:rPr>
              <a:t>Scale from 4 nodes to 100+ organizations with asynchronous federated learning and model compression.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ui-sans-serif"/>
              </a:rPr>
              <a:t>Replace autoencoders with VAEs/GANs and add LSTM-based temporal analysis for multi-step attack detection.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ui-sans-serif"/>
              </a:rPr>
              <a:t>Use locally hosted open-source LLMs (</a:t>
            </a:r>
            <a:r>
              <a:rPr lang="en-US" b="0" i="0" dirty="0" err="1">
                <a:solidFill>
                  <a:schemeClr val="tx1"/>
                </a:solidFill>
                <a:effectLst/>
                <a:latin typeface="ui-sans-serif"/>
              </a:rPr>
              <a:t>LLaMA</a:t>
            </a:r>
            <a:r>
              <a:rPr lang="en-US" b="0" i="0" dirty="0">
                <a:solidFill>
                  <a:schemeClr val="tx1"/>
                </a:solidFill>
                <a:effectLst/>
                <a:latin typeface="ui-sans-serif"/>
              </a:rPr>
              <a:t> 3/Mistral) to eliminate API dependency and enable offline operation.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ui-sans-serif"/>
              </a:rPr>
              <a:t>Store threat reports on blockchain for tamper-proof auditability and reputation-based trust scoring.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ui-sans-serif"/>
              </a:rPr>
              <a:t>Deploy lightweight models on edge devices (Raspberry Pi/Jetson) for IoT-specific real-time protection.</a:t>
            </a:r>
          </a:p>
        </p:txBody>
      </p:sp>
    </p:spTree>
    <p:extLst>
      <p:ext uri="{BB962C8B-B14F-4D97-AF65-F5344CB8AC3E}">
        <p14:creationId xmlns:p14="http://schemas.microsoft.com/office/powerpoint/2010/main" val="298851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D0AD732F-239F-0EA5-6D19-3656A8B7E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7446" y="191273"/>
            <a:ext cx="4769108" cy="381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Outcomes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EB4EE1-A29D-B557-E472-0AEAEA121424}"/>
              </a:ext>
            </a:extLst>
          </p:cNvPr>
          <p:cNvSpPr txBox="1"/>
          <p:nvPr/>
        </p:nvSpPr>
        <p:spPr>
          <a:xfrm>
            <a:off x="238397" y="948737"/>
            <a:ext cx="8667206" cy="3936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US" b="1" i="0" dirty="0">
                <a:solidFill>
                  <a:schemeClr val="tx1"/>
                </a:solidFill>
                <a:effectLst/>
                <a:latin typeface="ui-sans-serif"/>
              </a:rPr>
              <a:t>Project Outcomes</a:t>
            </a:r>
            <a:endParaRPr lang="en-US" b="0" i="0" dirty="0">
              <a:solidFill>
                <a:schemeClr val="tx1"/>
              </a:solidFill>
              <a:effectLst/>
              <a:latin typeface="ui-sans-serif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ui-sans-serif"/>
              </a:rPr>
              <a:t>Built a fully functional federated IDS system that trains across 4 organizations on 47M+ network flows without exchanging any raw data.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ui-sans-serif"/>
              </a:rPr>
              <a:t>Achieved </a:t>
            </a:r>
            <a:r>
              <a:rPr lang="en-US" b="1" i="0" dirty="0">
                <a:solidFill>
                  <a:schemeClr val="tx1"/>
                </a:solidFill>
                <a:effectLst/>
                <a:latin typeface="ui-sans-serif"/>
              </a:rPr>
              <a:t>99.5% zero-day detection rate</a:t>
            </a:r>
            <a:r>
              <a:rPr lang="en-US" b="0" i="0" dirty="0">
                <a:solidFill>
                  <a:schemeClr val="tx1"/>
                </a:solidFill>
                <a:effectLst/>
                <a:latin typeface="ui-sans-serif"/>
              </a:rPr>
              <a:t> on unseen DDoS attacks using per-protocol autoencoders, outperforming Tri-LLM's 85.6%.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ui-sans-serif"/>
              </a:rPr>
              <a:t>Achieved </a:t>
            </a:r>
            <a:r>
              <a:rPr lang="en-US" b="1" i="0" dirty="0">
                <a:solidFill>
                  <a:schemeClr val="tx1"/>
                </a:solidFill>
                <a:effectLst/>
                <a:latin typeface="ui-sans-serif"/>
              </a:rPr>
              <a:t>0% PII leakage</a:t>
            </a:r>
            <a:r>
              <a:rPr lang="en-US" b="0" i="0" dirty="0">
                <a:solidFill>
                  <a:schemeClr val="tx1"/>
                </a:solidFill>
                <a:effectLst/>
                <a:latin typeface="ui-sans-serif"/>
              </a:rPr>
              <a:t> across 600+ threat reports using a two-layer sanitization and validation pipeline.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ui-sans-serif"/>
              </a:rPr>
              <a:t>Implemented an </a:t>
            </a:r>
            <a:r>
              <a:rPr lang="en-US" b="1" i="0" dirty="0">
                <a:solidFill>
                  <a:schemeClr val="tx1"/>
                </a:solidFill>
                <a:effectLst/>
                <a:latin typeface="ui-sans-serif"/>
              </a:rPr>
              <a:t>Immunity Engine</a:t>
            </a:r>
            <a:r>
              <a:rPr lang="en-US" b="0" i="0" dirty="0">
                <a:solidFill>
                  <a:schemeClr val="tx1"/>
                </a:solidFill>
                <a:effectLst/>
                <a:latin typeface="ui-sans-serif"/>
              </a:rPr>
              <a:t> that auto-generates Snort and iptables firewall rules, enabling real-time herd immunity across all nodes.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ui-sans-serif"/>
              </a:rPr>
              <a:t>Demonstrated through ablation study that privacy costs only </a:t>
            </a:r>
            <a:r>
              <a:rPr lang="en-US" b="1" i="0" dirty="0">
                <a:solidFill>
                  <a:schemeClr val="tx1"/>
                </a:solidFill>
                <a:effectLst/>
                <a:latin typeface="ui-sans-serif"/>
              </a:rPr>
              <a:t>1% accuracy</a:t>
            </a:r>
            <a:r>
              <a:rPr lang="en-US" b="0" i="0" dirty="0">
                <a:solidFill>
                  <a:schemeClr val="tx1"/>
                </a:solidFill>
                <a:effectLst/>
                <a:latin typeface="ui-sans-serif"/>
              </a:rPr>
              <a:t> and intelligence sharing costs </a:t>
            </a:r>
            <a:r>
              <a:rPr lang="en-US" b="1" i="0" dirty="0">
                <a:solidFill>
                  <a:schemeClr val="tx1"/>
                </a:solidFill>
                <a:effectLst/>
                <a:latin typeface="ui-sans-serif"/>
              </a:rPr>
              <a:t>0% accuracy</a:t>
            </a:r>
            <a:r>
              <a:rPr lang="en-US" b="0" i="0" dirty="0">
                <a:solidFill>
                  <a:schemeClr val="tx1"/>
                </a:solidFill>
                <a:effectLst/>
                <a:latin typeface="ui-sans-serif"/>
              </a:rPr>
              <a:t>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ui-sans-serif"/>
              </a:rPr>
              <a:t>Developed a complete end-to-end pipeline from raw packet ingestion to automated firewall rule deployment runnable on Google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ui-sans-serif"/>
              </a:rPr>
              <a:t>Colab</a:t>
            </a:r>
            <a:r>
              <a:rPr lang="en-US" b="0" i="0" dirty="0">
                <a:solidFill>
                  <a:schemeClr val="tx1"/>
                </a:solidFill>
                <a:effectLst/>
                <a:latin typeface="ui-sans-serif"/>
              </a:rPr>
              <a:t> with GPU support.</a:t>
            </a:r>
          </a:p>
        </p:txBody>
      </p:sp>
    </p:spTree>
    <p:extLst>
      <p:ext uri="{BB962C8B-B14F-4D97-AF65-F5344CB8AC3E}">
        <p14:creationId xmlns:p14="http://schemas.microsoft.com/office/powerpoint/2010/main" val="1240132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692862C0-58EE-2E32-2C60-99C37C774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D5A8B2-39FB-AE52-C2AE-0CC447A6A067}"/>
              </a:ext>
            </a:extLst>
          </p:cNvPr>
          <p:cNvSpPr txBox="1"/>
          <p:nvPr/>
        </p:nvSpPr>
        <p:spPr>
          <a:xfrm>
            <a:off x="2027104" y="167010"/>
            <a:ext cx="53101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FB1390-F280-EE51-D533-F9EF31BE1985}"/>
              </a:ext>
            </a:extLst>
          </p:cNvPr>
          <p:cNvSpPr txBox="1"/>
          <p:nvPr/>
        </p:nvSpPr>
        <p:spPr>
          <a:xfrm>
            <a:off x="191579" y="892425"/>
            <a:ext cx="876084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dirty="0"/>
              <a:t>D. Zhang, Y. Yang, et al., "Tri-LLM Cooperative Federated Zero-Shot Intrusion Detection with Semantic Disagreement and Trust-Aware Aggregation," </a:t>
            </a:r>
            <a:r>
              <a:rPr lang="en-US" sz="1200" i="1" dirty="0"/>
              <a:t>*arXiv:2602.00219*</a:t>
            </a:r>
            <a:r>
              <a:rPr lang="en-US" sz="1200" dirty="0"/>
              <a:t>, Jan 2026.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dirty="0"/>
              <a:t>H. Yuan, H. Zheng, et al., "</a:t>
            </a:r>
            <a:r>
              <a:rPr lang="en-US" sz="1200" dirty="0" err="1"/>
              <a:t>CyberRAG</a:t>
            </a:r>
            <a:r>
              <a:rPr lang="en-US" sz="1200" dirty="0"/>
              <a:t>: An Agentic RAG Cyber Attack Classification and Reporting Tool," </a:t>
            </a:r>
            <a:r>
              <a:rPr lang="en-US" sz="1200" i="1" dirty="0"/>
              <a:t>*arXiv:2507.02498*</a:t>
            </a:r>
            <a:r>
              <a:rPr lang="en-US" sz="1200" dirty="0"/>
              <a:t>, Sep 2025.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dirty="0"/>
              <a:t>Shajarian, Shaghayegh, et al. "</a:t>
            </a:r>
            <a:r>
              <a:rPr lang="en-US" sz="1200" dirty="0" err="1"/>
              <a:t>ReGAIN</a:t>
            </a:r>
            <a:r>
              <a:rPr lang="en-US" sz="1200" dirty="0"/>
              <a:t>: Retrieval-Grounded AI Framework for Network Traffic Analysis." </a:t>
            </a:r>
            <a:r>
              <a:rPr lang="en-US" sz="1200" i="1" dirty="0"/>
              <a:t>2026 International Conference on Computing, Networking and Communications (ICNC)</a:t>
            </a:r>
            <a:r>
              <a:rPr lang="en-US" sz="1200" dirty="0"/>
              <a:t>. IEEE, 2026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dirty="0"/>
              <a:t>D. Zhang, Y. Yang, et al., "Synergizing Federated Learning and Vector Databases for Decentralized Cyber Immunity Orchestration," </a:t>
            </a:r>
            <a:r>
              <a:rPr lang="en-US" sz="1200" i="1" dirty="0"/>
              <a:t>IEEE Internet of Things Journal</a:t>
            </a:r>
            <a:r>
              <a:rPr lang="en-US" sz="1200" dirty="0"/>
              <a:t>, vol. 11, np. 5, 2024.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dirty="0"/>
              <a:t>Y. Chen et al., "A Federated Learning Approach to Network Intrusion Detection Systems," </a:t>
            </a:r>
            <a:r>
              <a:rPr lang="en-US" sz="1200" i="1" dirty="0"/>
              <a:t>IEEE Transactions on Information Forensics and Security</a:t>
            </a:r>
            <a:r>
              <a:rPr lang="en-US" sz="1200" dirty="0"/>
              <a:t>, vol. 18, pp. 131-144, 2023.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dirty="0"/>
              <a:t>J. P. Hu et al., "RAG-Sec: Enhancing Zero-Day Vulnerability Analysis using Retrieval-Augmented Generation," </a:t>
            </a:r>
            <a:r>
              <a:rPr lang="en-US" sz="1200" i="1" dirty="0"/>
              <a:t>IEEE Transactions on Information Forensics and Security</a:t>
            </a:r>
            <a:r>
              <a:rPr lang="en-US" sz="1200" dirty="0"/>
              <a:t>, vol. 19, pp. 2481-2495, 2024.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dirty="0"/>
              <a:t>M. Reynaud, A. Gupta et al., "Collaborative and Privacy-Preserving Intrusion Detection in Edge Computing: A Federated Learning Approach," </a:t>
            </a:r>
            <a:r>
              <a:rPr lang="en-US" sz="1200" i="1" dirty="0"/>
              <a:t>IEEE Transactions on Dependable and Secure Computing</a:t>
            </a:r>
            <a:r>
              <a:rPr lang="en-US" sz="1200" dirty="0"/>
              <a:t>, vol. 20, no. 2, 2023.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dirty="0"/>
              <a:t>B. Liu et al., "A Scalable and Privacy-Preserving Federated Learning Framework for Securing IoT Devices," </a:t>
            </a:r>
            <a:r>
              <a:rPr lang="en-US" sz="1200" i="1" dirty="0"/>
              <a:t>IEEE Internet of Things Journal</a:t>
            </a:r>
            <a:r>
              <a:rPr lang="en-US" sz="1200" dirty="0"/>
              <a:t>, vol. 10, no. 9, 2023.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dirty="0"/>
              <a:t>Z. Zhao et al., "Federated Learning with Non-IID Data: A Survey," </a:t>
            </a:r>
            <a:r>
              <a:rPr lang="en-US" sz="1200" i="1" dirty="0"/>
              <a:t>IEEE Transactions on Neural Networks and Learning Systems</a:t>
            </a:r>
            <a:r>
              <a:rPr lang="en-US" sz="1200" dirty="0"/>
              <a:t>, 2023.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dirty="0"/>
              <a:t>Y. Huang, L. Zhu, et al., "Dynamic Trust-Aware Federated Learning in Unreliable Environments," </a:t>
            </a:r>
            <a:r>
              <a:rPr lang="en-US" sz="1200" i="1" dirty="0"/>
              <a:t>IEEE Transactions on Information Forensics and Security</a:t>
            </a:r>
            <a:r>
              <a:rPr lang="en-US" sz="1200" dirty="0"/>
              <a:t>, vol. 18, pp. 433-446, 2023.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dirty="0"/>
              <a:t>N. Wang, X. Huang, and Y. Dai, "Differentially Private Vector Embeddings for Secure Information Retrieval," </a:t>
            </a:r>
            <a:r>
              <a:rPr lang="en-US" sz="1200" i="1" dirty="0"/>
              <a:t>IEEE Transactions on Knowledge and Data Engineering</a:t>
            </a:r>
            <a:r>
              <a:rPr lang="en-US" sz="1200" dirty="0"/>
              <a:t>, vol. 35, no. 4, 2023.</a:t>
            </a:r>
          </a:p>
        </p:txBody>
      </p:sp>
    </p:spTree>
    <p:extLst>
      <p:ext uri="{BB962C8B-B14F-4D97-AF65-F5344CB8AC3E}">
        <p14:creationId xmlns:p14="http://schemas.microsoft.com/office/powerpoint/2010/main" val="24302353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1315</Words>
  <Application>Microsoft Macintosh PowerPoint</Application>
  <PresentationFormat>On-screen Show (16:9)</PresentationFormat>
  <Paragraphs>117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Cambria</vt:lpstr>
      <vt:lpstr>Playfair Display</vt:lpstr>
      <vt:lpstr>Times New Roman</vt:lpstr>
      <vt:lpstr>ui-sans-serif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RVCECS7537</dc:creator>
  <cp:lastModifiedBy>Veerasagar</cp:lastModifiedBy>
  <cp:revision>17</cp:revision>
  <dcterms:modified xsi:type="dcterms:W3CDTF">2026-05-19T17:21:48Z</dcterms:modified>
</cp:coreProperties>
</file>