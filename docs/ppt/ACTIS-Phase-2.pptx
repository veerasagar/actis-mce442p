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8" r:id="rId1"/>
  </p:sldMasterIdLst>
  <p:notesMasterIdLst>
    <p:notesMasterId r:id="rId17"/>
  </p:notesMasterIdLst>
  <p:sldIdLst>
    <p:sldId id="256" r:id="rId2"/>
    <p:sldId id="257" r:id="rId3"/>
    <p:sldId id="258" r:id="rId4"/>
    <p:sldId id="278" r:id="rId5"/>
    <p:sldId id="276" r:id="rId6"/>
    <p:sldId id="277" r:id="rId7"/>
    <p:sldId id="268" r:id="rId8"/>
    <p:sldId id="275" r:id="rId9"/>
    <p:sldId id="267" r:id="rId10"/>
    <p:sldId id="269" r:id="rId11"/>
    <p:sldId id="270" r:id="rId12"/>
    <p:sldId id="272" r:id="rId13"/>
    <p:sldId id="273" r:id="rId14"/>
    <p:sldId id="274" r:id="rId15"/>
    <p:sldId id="263" r:id="rId16"/>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09"/>
    <p:restoredTop sz="94659"/>
  </p:normalViewPr>
  <p:slideViewPr>
    <p:cSldViewPr snapToGrid="0">
      <p:cViewPr varScale="1">
        <p:scale>
          <a:sx n="195" d="100"/>
          <a:sy n="195" d="100"/>
        </p:scale>
        <p:origin x="1064" y="17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g23d66680d41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 name="Google Shape;56;g23d66680d41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3d66680d4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CF6FED08-5981-27CA-8CFC-2A1D65FA8A9C}"/>
            </a:ext>
          </a:extLst>
        </p:cNvPr>
        <p:cNvGrpSpPr/>
        <p:nvPr/>
      </p:nvGrpSpPr>
      <p:grpSpPr>
        <a:xfrm>
          <a:off x="0" y="0"/>
          <a:ext cx="0" cy="0"/>
          <a:chOff x="0" y="0"/>
          <a:chExt cx="0" cy="0"/>
        </a:xfrm>
      </p:grpSpPr>
      <p:sp>
        <p:nvSpPr>
          <p:cNvPr id="59" name="Google Shape;59;g23d66680d41_0_5:notes">
            <a:extLst>
              <a:ext uri="{FF2B5EF4-FFF2-40B4-BE49-F238E27FC236}">
                <a16:creationId xmlns:a16="http://schemas.microsoft.com/office/drawing/2014/main" id="{27E4C6F9-B850-D125-475E-25C16AFA2B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a:extLst>
              <a:ext uri="{FF2B5EF4-FFF2-40B4-BE49-F238E27FC236}">
                <a16:creationId xmlns:a16="http://schemas.microsoft.com/office/drawing/2014/main" id="{F341BB2E-4D80-1C2F-4EDD-1E0F7D3F669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228779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634E4C1A-EBCD-3C9E-21E0-0CCB2B080C81}"/>
            </a:ext>
          </a:extLst>
        </p:cNvPr>
        <p:cNvGrpSpPr/>
        <p:nvPr/>
      </p:nvGrpSpPr>
      <p:grpSpPr>
        <a:xfrm>
          <a:off x="0" y="0"/>
          <a:ext cx="0" cy="0"/>
          <a:chOff x="0" y="0"/>
          <a:chExt cx="0" cy="0"/>
        </a:xfrm>
      </p:grpSpPr>
      <p:sp>
        <p:nvSpPr>
          <p:cNvPr id="59" name="Google Shape;59;g23d66680d41_0_5:notes">
            <a:extLst>
              <a:ext uri="{FF2B5EF4-FFF2-40B4-BE49-F238E27FC236}">
                <a16:creationId xmlns:a16="http://schemas.microsoft.com/office/drawing/2014/main" id="{C613ECE4-73C4-6F7A-DB76-49F34D90AC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a:extLst>
              <a:ext uri="{FF2B5EF4-FFF2-40B4-BE49-F238E27FC236}">
                <a16:creationId xmlns:a16="http://schemas.microsoft.com/office/drawing/2014/main" id="{A71B17BC-C2DB-4014-C2A3-29F0BB602B7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40852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93698F41-7FAE-4F97-CE65-0FDE5B74ADDC}"/>
            </a:ext>
          </a:extLst>
        </p:cNvPr>
        <p:cNvGrpSpPr/>
        <p:nvPr/>
      </p:nvGrpSpPr>
      <p:grpSpPr>
        <a:xfrm>
          <a:off x="0" y="0"/>
          <a:ext cx="0" cy="0"/>
          <a:chOff x="0" y="0"/>
          <a:chExt cx="0" cy="0"/>
        </a:xfrm>
      </p:grpSpPr>
      <p:sp>
        <p:nvSpPr>
          <p:cNvPr id="59" name="Google Shape;59;g23d66680d41_0_5:notes">
            <a:extLst>
              <a:ext uri="{FF2B5EF4-FFF2-40B4-BE49-F238E27FC236}">
                <a16:creationId xmlns:a16="http://schemas.microsoft.com/office/drawing/2014/main" id="{CF9DF3EE-453E-C20A-B109-4AF9AD340BF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a:extLst>
              <a:ext uri="{FF2B5EF4-FFF2-40B4-BE49-F238E27FC236}">
                <a16:creationId xmlns:a16="http://schemas.microsoft.com/office/drawing/2014/main" id="{740DB8C3-C068-5498-D7D1-63D2A071F01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804152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g23d66680d41_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940007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a:extLst>
            <a:ext uri="{FF2B5EF4-FFF2-40B4-BE49-F238E27FC236}">
              <a16:creationId xmlns:a16="http://schemas.microsoft.com/office/drawing/2014/main" id="{399CE8CC-7199-792D-A978-D6722422036A}"/>
            </a:ext>
          </a:extLst>
        </p:cNvPr>
        <p:cNvGrpSpPr/>
        <p:nvPr/>
      </p:nvGrpSpPr>
      <p:grpSpPr>
        <a:xfrm>
          <a:off x="0" y="0"/>
          <a:ext cx="0" cy="0"/>
          <a:chOff x="0" y="0"/>
          <a:chExt cx="0" cy="0"/>
        </a:xfrm>
      </p:grpSpPr>
      <p:sp>
        <p:nvSpPr>
          <p:cNvPr id="59" name="Google Shape;59;g23d66680d41_0_5:notes">
            <a:extLst>
              <a:ext uri="{FF2B5EF4-FFF2-40B4-BE49-F238E27FC236}">
                <a16:creationId xmlns:a16="http://schemas.microsoft.com/office/drawing/2014/main" id="{6049E357-828D-2F11-0189-6989952C9F0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0" name="Google Shape;60;g23d66680d41_0_5:notes">
            <a:extLst>
              <a:ext uri="{FF2B5EF4-FFF2-40B4-BE49-F238E27FC236}">
                <a16:creationId xmlns:a16="http://schemas.microsoft.com/office/drawing/2014/main" id="{69B863BF-5882-F568-AAB2-0E30C4D3EE9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42389476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5BB61AB7-0F58-96EF-9BCF-648C2623863C}"/>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09B133AD-CF9A-AF03-1F59-5ADABC941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4B1EB55B-BBA9-3B69-BF3D-404849F032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8989292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5BB61AB7-0F58-96EF-9BCF-648C2623863C}"/>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09B133AD-CF9A-AF03-1F59-5ADABC94105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4B1EB55B-BBA9-3B69-BF3D-404849F0325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576451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3d66680d4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3d66680d4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05142437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3d66680d4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3d66680d4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7851779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3d66680d4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3d66680d4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520732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
        <p:cNvGrpSpPr/>
        <p:nvPr/>
      </p:nvGrpSpPr>
      <p:grpSpPr>
        <a:xfrm>
          <a:off x="0" y="0"/>
          <a:ext cx="0" cy="0"/>
          <a:chOff x="0" y="0"/>
          <a:chExt cx="0" cy="0"/>
        </a:xfrm>
      </p:grpSpPr>
      <p:sp>
        <p:nvSpPr>
          <p:cNvPr id="67" name="Google Shape;67;g23d66680d41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8" name="Google Shape;68;g23d66680d41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75943231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a:extLst>
            <a:ext uri="{FF2B5EF4-FFF2-40B4-BE49-F238E27FC236}">
              <a16:creationId xmlns:a16="http://schemas.microsoft.com/office/drawing/2014/main" id="{C5C0422C-5211-8F42-43A7-95114523507D}"/>
            </a:ext>
          </a:extLst>
        </p:cNvPr>
        <p:cNvGrpSpPr/>
        <p:nvPr/>
      </p:nvGrpSpPr>
      <p:grpSpPr>
        <a:xfrm>
          <a:off x="0" y="0"/>
          <a:ext cx="0" cy="0"/>
          <a:chOff x="0" y="0"/>
          <a:chExt cx="0" cy="0"/>
        </a:xfrm>
      </p:grpSpPr>
      <p:sp>
        <p:nvSpPr>
          <p:cNvPr id="71" name="Google Shape;71;g23d66680d41_0_20:notes">
            <a:extLst>
              <a:ext uri="{FF2B5EF4-FFF2-40B4-BE49-F238E27FC236}">
                <a16:creationId xmlns:a16="http://schemas.microsoft.com/office/drawing/2014/main" id="{F48ED4B4-508D-0CF5-6F2A-F8A4A96C72A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23d66680d41_0_20:notes">
            <a:extLst>
              <a:ext uri="{FF2B5EF4-FFF2-40B4-BE49-F238E27FC236}">
                <a16:creationId xmlns:a16="http://schemas.microsoft.com/office/drawing/2014/main" id="{2617C3DF-EE3C-BA1F-B4D1-1B85D5D69B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04551705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2" name="Google Shape;12;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3" name="Google Shape;13;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4" name="Google Shape;14;p2"/>
          <p:cNvPicPr preferRelativeResize="0"/>
          <p:nvPr/>
        </p:nvPicPr>
        <p:blipFill>
          <a:blip r:embed="rId2">
            <a:alphaModFix/>
          </a:blip>
          <a:stretch>
            <a:fillRect/>
          </a:stretch>
        </p:blipFill>
        <p:spPr>
          <a:xfrm>
            <a:off x="3463213" y="4730051"/>
            <a:ext cx="2217574" cy="337250"/>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5"/>
        <p:cNvGrpSpPr/>
        <p:nvPr/>
      </p:nvGrpSpPr>
      <p:grpSpPr>
        <a:xfrm>
          <a:off x="0" y="0"/>
          <a:ext cx="0" cy="0"/>
          <a:chOff x="0" y="0"/>
          <a:chExt cx="0" cy="0"/>
        </a:xfrm>
      </p:grpSpPr>
      <p:sp>
        <p:nvSpPr>
          <p:cNvPr id="16" name="Google Shape;16;p3"/>
          <p:cNvSpPr txBox="1">
            <a:spLocks noGrp="1"/>
          </p:cNvSpPr>
          <p:nvPr>
            <p:ph type="title"/>
          </p:nvPr>
        </p:nvSpPr>
        <p:spPr>
          <a:xfrm>
            <a:off x="391725" y="9341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7" name="Google Shape;17;p3"/>
          <p:cNvSpPr txBox="1">
            <a:spLocks noGrp="1"/>
          </p:cNvSpPr>
          <p:nvPr>
            <p:ph type="body" idx="1"/>
          </p:nvPr>
        </p:nvSpPr>
        <p:spPr>
          <a:xfrm>
            <a:off x="253250" y="1857500"/>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8" name="Google Shape;18;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pic>
        <p:nvPicPr>
          <p:cNvPr id="19" name="Google Shape;19;p3"/>
          <p:cNvPicPr preferRelativeResize="0"/>
          <p:nvPr/>
        </p:nvPicPr>
        <p:blipFill>
          <a:blip r:embed="rId2">
            <a:alphaModFix/>
          </a:blip>
          <a:stretch>
            <a:fillRect/>
          </a:stretch>
        </p:blipFill>
        <p:spPr>
          <a:xfrm>
            <a:off x="6983600" y="415175"/>
            <a:ext cx="1974051" cy="300175"/>
          </a:xfrm>
          <a:prstGeom prst="rect">
            <a:avLst/>
          </a:prstGeom>
          <a:noFill/>
          <a:ln>
            <a:noFill/>
          </a:ln>
        </p:spPr>
      </p:pic>
    </p:spTree>
  </p:cSld>
  <p:clrMapOvr>
    <a:masterClrMapping/>
  </p:clrMapOvr>
  <p:extLst>
    <p:ext uri="{DCECCB84-F9BA-43D5-87BE-67443E8EF086}">
      <p15:sldGuideLst xmlns:p15="http://schemas.microsoft.com/office/powerpoint/2012/main">
        <p15:guide id="1" orient="horz" pos="413">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4"/>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4"/>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4"/>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5"/>
          <p:cNvSpPr txBox="1">
            <a:spLocks noGrp="1"/>
          </p:cNvSpPr>
          <p:nvPr>
            <p:ph type="title"/>
          </p:nvPr>
        </p:nvSpPr>
        <p:spPr>
          <a:xfrm>
            <a:off x="391725" y="776500"/>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6"/>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6"/>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7"/>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8"/>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8"/>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8"/>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8"/>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9"/>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0"/>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0"/>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blipFill>
          <a:blip r:embed="rId12">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91725" y="776500"/>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506800"/>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GB"/>
              <a:t>‹#›</a:t>
            </a:fld>
            <a:endParaRPr/>
          </a:p>
        </p:txBody>
      </p:sp>
      <p:pic>
        <p:nvPicPr>
          <p:cNvPr id="9" name="Google Shape;9;p1"/>
          <p:cNvPicPr preferRelativeResize="0"/>
          <p:nvPr/>
        </p:nvPicPr>
        <p:blipFill>
          <a:blip r:embed="rId13">
            <a:alphaModFix/>
          </a:blip>
          <a:stretch>
            <a:fillRect/>
          </a:stretch>
        </p:blipFill>
        <p:spPr>
          <a:xfrm>
            <a:off x="216000" y="216000"/>
            <a:ext cx="1507681" cy="647999"/>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Lst>
  <p:hf sldNum="0" hd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8" Type="http://schemas.openxmlformats.org/officeDocument/2006/relationships/hyperlink" Target="https://ieeexplore.ieee.org/xpl/RecentIssue.jsp?punumber=8858" TargetMode="External"/><Relationship Id="rId3" Type="http://schemas.openxmlformats.org/officeDocument/2006/relationships/hyperlink" Target="https://ieeexplore.ieee.org/xpl/RecentIssue.jsp?punumber=10206" TargetMode="External"/><Relationship Id="rId7" Type="http://schemas.openxmlformats.org/officeDocument/2006/relationships/hyperlink" Target="https://www.sciencedirect.com/journal/journal-of-information-security-and-applications" TargetMode="Externa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hyperlink" Target="https://ieeexplore.ieee.org/xpl/RecentIssue.jsp?punumber=4275028" TargetMode="External"/><Relationship Id="rId5" Type="http://schemas.openxmlformats.org/officeDocument/2006/relationships/hyperlink" Target="https://ieeeaccess.ieee.org/" TargetMode="External"/><Relationship Id="rId4" Type="http://schemas.openxmlformats.org/officeDocument/2006/relationships/hyperlink" Target="https://www.sciencedirect.com/journal/computers-and-security" TargetMode="External"/><Relationship Id="rId9" Type="http://schemas.openxmlformats.org/officeDocument/2006/relationships/hyperlink" Target="https://cybersecurity.springeropen.com/"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2" name="Text Box 4">
            <a:extLst>
              <a:ext uri="{FF2B5EF4-FFF2-40B4-BE49-F238E27FC236}">
                <a16:creationId xmlns:a16="http://schemas.microsoft.com/office/drawing/2014/main" id="{52F5642A-CBAD-6EE0-2796-D807106F41AE}"/>
              </a:ext>
            </a:extLst>
          </p:cNvPr>
          <p:cNvSpPr txBox="1">
            <a:spLocks noChangeArrowheads="1"/>
          </p:cNvSpPr>
          <p:nvPr/>
        </p:nvSpPr>
        <p:spPr bwMode="auto">
          <a:xfrm>
            <a:off x="2278347" y="333103"/>
            <a:ext cx="4587301" cy="28623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spcBef>
                <a:spcPct val="20000"/>
              </a:spcBef>
              <a:buChar char="•"/>
              <a:defRPr sz="3200">
                <a:solidFill>
                  <a:schemeClr val="tx1"/>
                </a:solidFill>
                <a:latin typeface="Times New Roman" panose="02020603050405020304" pitchFamily="18" charset="0"/>
              </a:defRPr>
            </a:lvl1pPr>
            <a:lvl2pPr marL="742950" indent="-285750">
              <a:spcBef>
                <a:spcPct val="20000"/>
              </a:spcBef>
              <a:buChar char="–"/>
              <a:defRPr sz="2800">
                <a:solidFill>
                  <a:schemeClr val="tx1"/>
                </a:solidFill>
                <a:latin typeface="Times New Roman" panose="02020603050405020304" pitchFamily="18" charset="0"/>
              </a:defRPr>
            </a:lvl2pPr>
            <a:lvl3pPr marL="1143000" indent="-228600">
              <a:spcBef>
                <a:spcPct val="20000"/>
              </a:spcBef>
              <a:buChar char="•"/>
              <a:defRPr sz="2400">
                <a:solidFill>
                  <a:schemeClr val="tx1"/>
                </a:solidFill>
                <a:latin typeface="Times New Roman" panose="02020603050405020304" pitchFamily="18" charset="0"/>
              </a:defRPr>
            </a:lvl3pPr>
            <a:lvl4pPr marL="1600200" indent="-228600">
              <a:spcBef>
                <a:spcPct val="20000"/>
              </a:spcBef>
              <a:buChar char="–"/>
              <a:defRPr sz="2000">
                <a:solidFill>
                  <a:schemeClr val="tx1"/>
                </a:solidFill>
                <a:latin typeface="Times New Roman" panose="02020603050405020304" pitchFamily="18" charset="0"/>
              </a:defRPr>
            </a:lvl4pPr>
            <a:lvl5pPr marL="2057400" indent="-228600">
              <a:spcBef>
                <a:spcPct val="20000"/>
              </a:spcBef>
              <a:buChar char="•"/>
              <a:defRPr sz="2000">
                <a:solidFill>
                  <a:schemeClr val="tx1"/>
                </a:solidFill>
                <a:latin typeface="Times New Roman" panose="02020603050405020304" pitchFamily="18" charset="0"/>
              </a:defRPr>
            </a:lvl5pPr>
            <a:lvl6pPr marL="2514600" indent="-228600" eaLnBrk="0" fontAlgn="base" hangingPunct="0">
              <a:spcBef>
                <a:spcPct val="20000"/>
              </a:spcBef>
              <a:spcAft>
                <a:spcPct val="0"/>
              </a:spcAft>
              <a:buChar char="•"/>
              <a:defRPr sz="2000">
                <a:solidFill>
                  <a:schemeClr val="tx1"/>
                </a:solidFill>
                <a:latin typeface="Times New Roman" panose="02020603050405020304" pitchFamily="18" charset="0"/>
              </a:defRPr>
            </a:lvl6pPr>
            <a:lvl7pPr marL="2971800" indent="-22860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429000" indent="-228600" eaLnBrk="0" fontAlgn="base" hangingPunct="0">
              <a:spcBef>
                <a:spcPct val="20000"/>
              </a:spcBef>
              <a:spcAft>
                <a:spcPct val="0"/>
              </a:spcAft>
              <a:buChar char="•"/>
              <a:defRPr sz="2000">
                <a:solidFill>
                  <a:schemeClr val="tx1"/>
                </a:solidFill>
                <a:latin typeface="Times New Roman" panose="02020603050405020304" pitchFamily="18" charset="0"/>
              </a:defRPr>
            </a:lvl8pPr>
            <a:lvl9pPr marL="3886200" indent="-228600" eaLnBrk="0" fontAlgn="base" hangingPunct="0">
              <a:spcBef>
                <a:spcPct val="20000"/>
              </a:spcBef>
              <a:spcAft>
                <a:spcPct val="0"/>
              </a:spcAft>
              <a:buChar char="•"/>
              <a:defRPr sz="2000">
                <a:solidFill>
                  <a:schemeClr val="tx1"/>
                </a:solidFill>
                <a:latin typeface="Times New Roman" panose="02020603050405020304" pitchFamily="18" charset="0"/>
              </a:defRPr>
            </a:lvl9pPr>
          </a:lstStyle>
          <a:p>
            <a:pPr algn="ctr">
              <a:spcBef>
                <a:spcPct val="0"/>
              </a:spcBef>
              <a:buFontTx/>
              <a:buNone/>
              <a:defRPr/>
            </a:pPr>
            <a:r>
              <a:rPr lang="en-US" altLang="en-US" sz="2000" dirty="0">
                <a:cs typeface="Times New Roman" panose="02020603050405020304" pitchFamily="18" charset="0"/>
              </a:rPr>
              <a:t>Major Project Review -II : </a:t>
            </a:r>
          </a:p>
          <a:p>
            <a:pPr algn="ctr">
              <a:spcBef>
                <a:spcPct val="0"/>
              </a:spcBef>
              <a:buFontTx/>
              <a:buNone/>
              <a:defRPr/>
            </a:pPr>
            <a:r>
              <a:rPr lang="en-US" sz="2000" b="1" dirty="0">
                <a:solidFill>
                  <a:srgbClr val="FF0000"/>
                </a:solidFill>
                <a:effectLst/>
                <a:latin typeface="Times New Roman" panose="02020603050405020304" pitchFamily="18" charset="0"/>
                <a:ea typeface="Times New Roman" panose="02020603050405020304" pitchFamily="18" charset="0"/>
              </a:rPr>
              <a:t>MCE442P</a:t>
            </a:r>
            <a:endParaRPr lang="en-US" altLang="en-US" sz="2000" dirty="0">
              <a:cs typeface="Times New Roman" panose="02020603050405020304" pitchFamily="18" charset="0"/>
            </a:endParaRPr>
          </a:p>
          <a:p>
            <a:pPr algn="ctr">
              <a:spcBef>
                <a:spcPct val="0"/>
              </a:spcBef>
              <a:buFontTx/>
              <a:buNone/>
              <a:defRPr/>
            </a:pPr>
            <a:r>
              <a:rPr lang="en-US" altLang="en-US" sz="2000" kern="0" dirty="0">
                <a:cs typeface="Times New Roman" panose="02020603050405020304" pitchFamily="18" charset="0"/>
              </a:rPr>
              <a:t>ACTIS – Agentic Collaborative Threat Intelligence System via Trust Aware Federated Learning</a:t>
            </a:r>
          </a:p>
          <a:p>
            <a:pPr algn="ctr">
              <a:spcBef>
                <a:spcPct val="0"/>
              </a:spcBef>
              <a:buFontTx/>
              <a:buNone/>
              <a:defRPr/>
            </a:pPr>
            <a:endParaRPr lang="en-US" altLang="en-US" sz="4000" dirty="0">
              <a:latin typeface="Cambria" panose="02040503050406030204" pitchFamily="18" charset="0"/>
              <a:cs typeface="Arial" panose="020B0604020202020204" pitchFamily="34" charset="0"/>
            </a:endParaRPr>
          </a:p>
          <a:p>
            <a:pPr algn="ctr">
              <a:spcBef>
                <a:spcPct val="0"/>
              </a:spcBef>
              <a:buFontTx/>
              <a:buNone/>
              <a:defRPr/>
            </a:pPr>
            <a:r>
              <a:rPr lang="en-US" altLang="en-US" sz="4000" dirty="0">
                <a:latin typeface="Cambria" panose="02040503050406030204" pitchFamily="18" charset="0"/>
                <a:cs typeface="Arial" panose="020B0604020202020204" pitchFamily="34" charset="0"/>
              </a:rPr>
              <a:t>                            </a:t>
            </a:r>
          </a:p>
        </p:txBody>
      </p:sp>
      <p:sp>
        <p:nvSpPr>
          <p:cNvPr id="3" name="object 2">
            <a:extLst>
              <a:ext uri="{FF2B5EF4-FFF2-40B4-BE49-F238E27FC236}">
                <a16:creationId xmlns:a16="http://schemas.microsoft.com/office/drawing/2014/main" id="{7AF2D5FA-FA9C-22FB-3C15-90E6779E113E}"/>
              </a:ext>
            </a:extLst>
          </p:cNvPr>
          <p:cNvSpPr txBox="1">
            <a:spLocks noChangeArrowheads="1"/>
          </p:cNvSpPr>
          <p:nvPr/>
        </p:nvSpPr>
        <p:spPr bwMode="auto">
          <a:xfrm>
            <a:off x="692458" y="2316682"/>
            <a:ext cx="7759081" cy="229510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5198" rIns="0" bIns="0">
            <a:spAutoFit/>
          </a:bodyPr>
          <a:lstStyle>
            <a:lvl1pPr marL="127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3514725"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3514725" algn="l"/>
              </a:tabLst>
              <a:defRPr>
                <a:solidFill>
                  <a:schemeClr val="tx1"/>
                </a:solidFill>
                <a:latin typeface="Calibri" panose="020F0502020204030204" pitchFamily="34" charset="0"/>
                <a:ea typeface="ＭＳ Ｐゴシック" panose="020B0600070205080204" pitchFamily="34" charset="-128"/>
              </a:defRPr>
            </a:lvl9pPr>
          </a:lstStyle>
          <a:p>
            <a:pPr algn="ctr">
              <a:defRPr/>
            </a:pPr>
            <a:r>
              <a:rPr lang="en-US" altLang="en-US" sz="2200" dirty="0">
                <a:latin typeface="Times New Roman" panose="02020603050405020304" pitchFamily="18" charset="0"/>
                <a:cs typeface="Times New Roman" panose="02020603050405020304" pitchFamily="18" charset="0"/>
              </a:rPr>
              <a:t>Veerasagar S S</a:t>
            </a:r>
          </a:p>
          <a:p>
            <a:pPr algn="ctr">
              <a:defRPr/>
            </a:pPr>
            <a:r>
              <a:rPr lang="en-US" altLang="en-US" sz="2200" dirty="0">
                <a:latin typeface="Times New Roman" panose="02020603050405020304" pitchFamily="18" charset="0"/>
                <a:cs typeface="Times New Roman" panose="02020603050405020304" pitchFamily="18" charset="0"/>
              </a:rPr>
              <a:t>1RV24SCS17</a:t>
            </a:r>
          </a:p>
          <a:p>
            <a:pPr>
              <a:defRPr/>
            </a:pPr>
            <a:endParaRPr lang="en-US" altLang="en-US" sz="2000" dirty="0">
              <a:latin typeface="Times New Roman" panose="02020603050405020304" pitchFamily="18" charset="0"/>
              <a:cs typeface="Times New Roman" panose="02020603050405020304" pitchFamily="18" charset="0"/>
            </a:endParaRPr>
          </a:p>
          <a:p>
            <a:pPr algn="ctr">
              <a:defRPr/>
            </a:pPr>
            <a:r>
              <a:rPr lang="en-US" altLang="en-US" sz="2000" kern="0" dirty="0">
                <a:latin typeface="Times New Roman" panose="02020603050405020304" pitchFamily="18" charset="0"/>
                <a:cs typeface="Times New Roman" panose="02020603050405020304" pitchFamily="18" charset="0"/>
              </a:rPr>
              <a:t>    Dr. Rajashree Shettar</a:t>
            </a:r>
          </a:p>
          <a:p>
            <a:pPr algn="ctr">
              <a:defRPr/>
            </a:pPr>
            <a:r>
              <a:rPr lang="en-US" altLang="en-US" sz="2000" dirty="0">
                <a:latin typeface="Times New Roman" panose="02020603050405020304" pitchFamily="18" charset="0"/>
                <a:cs typeface="Times New Roman" panose="02020603050405020304" pitchFamily="18" charset="0"/>
              </a:rPr>
              <a:t>Professor</a:t>
            </a:r>
            <a:endParaRPr lang="en-US" altLang="en-US" sz="2000" kern="0" dirty="0">
              <a:latin typeface="Times New Roman" panose="02020603050405020304" pitchFamily="18" charset="0"/>
              <a:cs typeface="Times New Roman" panose="02020603050405020304" pitchFamily="18" charset="0"/>
            </a:endParaRPr>
          </a:p>
          <a:p>
            <a:pPr algn="ctr">
              <a:defRPr/>
            </a:pPr>
            <a:r>
              <a:rPr lang="en-US" altLang="en-US" sz="2000" dirty="0">
                <a:latin typeface="Times New Roman" panose="02020603050405020304" pitchFamily="18" charset="0"/>
                <a:cs typeface="Times New Roman" panose="02020603050405020304" pitchFamily="18" charset="0"/>
              </a:rPr>
              <a:t>Dept. of CSE, RVCE</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7"/>
        <p:cNvGrpSpPr/>
        <p:nvPr/>
      </p:nvGrpSpPr>
      <p:grpSpPr>
        <a:xfrm>
          <a:off x="0" y="0"/>
          <a:ext cx="0" cy="0"/>
          <a:chOff x="0" y="0"/>
          <a:chExt cx="0" cy="0"/>
        </a:xfrm>
      </p:grpSpPr>
      <p:sp>
        <p:nvSpPr>
          <p:cNvPr id="2" name="object 2">
            <a:extLst>
              <a:ext uri="{FF2B5EF4-FFF2-40B4-BE49-F238E27FC236}">
                <a16:creationId xmlns:a16="http://schemas.microsoft.com/office/drawing/2014/main" id="{14B67595-1B51-83EF-7FC9-8270560311A2}"/>
              </a:ext>
            </a:extLst>
          </p:cNvPr>
          <p:cNvSpPr txBox="1">
            <a:spLocks noChangeArrowheads="1"/>
          </p:cNvSpPr>
          <p:nvPr/>
        </p:nvSpPr>
        <p:spPr bwMode="auto">
          <a:xfrm>
            <a:off x="527078" y="1215075"/>
            <a:ext cx="7645705" cy="3243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698500" indent="-6858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8416925"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8416925" algn="l"/>
              </a:tabLst>
              <a:defRPr>
                <a:solidFill>
                  <a:schemeClr val="tx1"/>
                </a:solidFill>
                <a:latin typeface="Calibri" panose="020F0502020204030204" pitchFamily="34" charset="0"/>
                <a:ea typeface="ＭＳ Ｐゴシック" panose="020B0600070205080204" pitchFamily="34" charset="-128"/>
              </a:defRPr>
            </a:lvl9pPr>
          </a:lstStyle>
          <a:p>
            <a:pPr>
              <a:spcBef>
                <a:spcPct val="0"/>
              </a:spcBef>
              <a:buFontTx/>
              <a:buChar char="•"/>
            </a:pPr>
            <a:r>
              <a:rPr lang="en-US" sz="2000" dirty="0">
                <a:latin typeface="Times New Roman" panose="02020603050405020304" pitchFamily="18" charset="0"/>
                <a:cs typeface="Times New Roman" panose="02020603050405020304" pitchFamily="18" charset="0"/>
              </a:rPr>
              <a:t>Problem Analysis &amp; Methodology</a:t>
            </a:r>
          </a:p>
          <a:p>
            <a:pPr>
              <a:spcBef>
                <a:spcPct val="0"/>
              </a:spcBef>
              <a:buFontTx/>
              <a:buChar char="•"/>
            </a:pPr>
            <a:r>
              <a:rPr lang="en-US" sz="2000" dirty="0">
                <a:latin typeface="Times New Roman" panose="02020603050405020304" pitchFamily="18" charset="0"/>
                <a:cs typeface="Times New Roman" panose="02020603050405020304" pitchFamily="18" charset="0"/>
              </a:rPr>
              <a:t>Design &amp; Technical Approach</a:t>
            </a:r>
          </a:p>
          <a:p>
            <a:pPr marL="12700" indent="0">
              <a:spcBef>
                <a:spcPct val="0"/>
              </a:spcBef>
              <a:defRPr/>
            </a:pPr>
            <a:r>
              <a:rPr lang="en-US" altLang="en-US" sz="1800" dirty="0">
                <a:latin typeface="Times New Roman" panose="02020603050405020304" pitchFamily="18" charset="0"/>
                <a:cs typeface="Times New Roman" panose="02020603050405020304" pitchFamily="18" charset="0"/>
              </a:rPr>
              <a:t>                  Introduction and Significance</a:t>
            </a:r>
            <a:endParaRPr lang="en-IN" altLang="en-US" sz="1800" dirty="0">
              <a:latin typeface="Times New Roman" panose="02020603050405020304" pitchFamily="18" charset="0"/>
              <a:cs typeface="Times New Roman" panose="02020603050405020304" pitchFamily="18" charset="0"/>
            </a:endParaRPr>
          </a:p>
          <a:p>
            <a:pPr marL="12700" indent="0">
              <a:spcBef>
                <a:spcPct val="0"/>
              </a:spcBef>
              <a:defRPr/>
            </a:pPr>
            <a:r>
              <a:rPr lang="en-IN" altLang="en-US" sz="1800" dirty="0">
                <a:latin typeface="Times New Roman" panose="02020603050405020304" pitchFamily="18" charset="0"/>
                <a:cs typeface="Times New Roman" panose="02020603050405020304" pitchFamily="18" charset="0"/>
              </a:rPr>
              <a:t>                  System Architecture</a:t>
            </a:r>
          </a:p>
          <a:p>
            <a:pPr marL="12700" indent="0">
              <a:spcBef>
                <a:spcPct val="0"/>
              </a:spcBef>
              <a:defRPr/>
            </a:pPr>
            <a:r>
              <a:rPr lang="en-IN" altLang="en-US" sz="1800" dirty="0">
                <a:latin typeface="Times New Roman" panose="02020603050405020304" pitchFamily="18" charset="0"/>
                <a:cs typeface="Times New Roman" panose="02020603050405020304" pitchFamily="18" charset="0"/>
              </a:rPr>
              <a:t>                  DFD’s (Level-0,1,2) </a:t>
            </a:r>
          </a:p>
          <a:p>
            <a:pPr marL="12700" indent="0">
              <a:spcBef>
                <a:spcPct val="0"/>
              </a:spcBef>
              <a:defRPr/>
            </a:pPr>
            <a:r>
              <a:rPr lang="en-IN" altLang="en-US" sz="1800" dirty="0">
                <a:latin typeface="Times New Roman" panose="02020603050405020304" pitchFamily="18" charset="0"/>
                <a:cs typeface="Times New Roman" panose="02020603050405020304" pitchFamily="18" charset="0"/>
              </a:rPr>
              <a:t>                  Structure chart</a:t>
            </a:r>
          </a:p>
          <a:p>
            <a:pPr marL="12700" indent="0">
              <a:spcBef>
                <a:spcPct val="0"/>
              </a:spcBef>
              <a:defRPr/>
            </a:pPr>
            <a:r>
              <a:rPr lang="en-IN" altLang="en-US" sz="1800" dirty="0">
                <a:latin typeface="Times New Roman" panose="02020603050405020304" pitchFamily="18" charset="0"/>
                <a:cs typeface="Times New Roman" panose="02020603050405020304" pitchFamily="18" charset="0"/>
              </a:rPr>
              <a:t>                  Flow Chart </a:t>
            </a:r>
            <a:endParaRPr lang="en-US" sz="3200" dirty="0">
              <a:latin typeface="Times New Roman" panose="02020603050405020304" pitchFamily="18" charset="0"/>
              <a:cs typeface="Times New Roman" panose="02020603050405020304" pitchFamily="18" charset="0"/>
            </a:endParaRPr>
          </a:p>
          <a:p>
            <a:pPr>
              <a:spcBef>
                <a:spcPct val="0"/>
              </a:spcBef>
              <a:buFontTx/>
              <a:buChar char="•"/>
            </a:pPr>
            <a:r>
              <a:rPr lang="en-US" sz="2000" dirty="0">
                <a:latin typeface="Times New Roman" panose="02020603050405020304" pitchFamily="18" charset="0"/>
                <a:cs typeface="Times New Roman" panose="02020603050405020304" pitchFamily="18" charset="0"/>
              </a:rPr>
              <a:t>Use of Tools / Techniques and Implementation</a:t>
            </a:r>
            <a:endParaRPr lang="en-US" altLang="en-US" sz="2000" dirty="0">
              <a:latin typeface="Times New Roman" panose="02020603050405020304" pitchFamily="18" charset="0"/>
              <a:cs typeface="Times New Roman" panose="02020603050405020304" pitchFamily="18" charset="0"/>
            </a:endParaRPr>
          </a:p>
          <a:p>
            <a:pPr>
              <a:spcBef>
                <a:spcPct val="0"/>
              </a:spcBef>
              <a:buFontTx/>
              <a:buChar char="•"/>
            </a:pPr>
            <a:r>
              <a:rPr lang="en-US" sz="2000" dirty="0">
                <a:latin typeface="Times New Roman" panose="02020603050405020304" pitchFamily="18" charset="0"/>
                <a:cs typeface="Times New Roman" panose="02020603050405020304" pitchFamily="18" charset="0"/>
              </a:rPr>
              <a:t>Documentation, Interim Presentation &amp; Identification of Relevant Journal / Conference</a:t>
            </a:r>
            <a:endParaRPr lang="en-US" altLang="en-US" sz="2000" dirty="0">
              <a:latin typeface="Times New Roman" panose="02020603050405020304" pitchFamily="18" charset="0"/>
              <a:cs typeface="Times New Roman" panose="02020603050405020304" pitchFamily="18" charset="0"/>
            </a:endParaRPr>
          </a:p>
          <a:p>
            <a:pPr>
              <a:spcBef>
                <a:spcPct val="0"/>
              </a:spcBef>
              <a:buFontTx/>
              <a:buChar char="•"/>
            </a:pPr>
            <a:r>
              <a:rPr lang="en-US" altLang="en-US" sz="2000" dirty="0">
                <a:latin typeface="Times New Roman" panose="02020603050405020304" pitchFamily="18" charset="0"/>
                <a:cs typeface="Times New Roman" panose="02020603050405020304" pitchFamily="18" charset="0"/>
              </a:rPr>
              <a:t>References</a:t>
            </a:r>
          </a:p>
        </p:txBody>
      </p:sp>
      <p:sp>
        <p:nvSpPr>
          <p:cNvPr id="3" name="object 9">
            <a:extLst>
              <a:ext uri="{FF2B5EF4-FFF2-40B4-BE49-F238E27FC236}">
                <a16:creationId xmlns:a16="http://schemas.microsoft.com/office/drawing/2014/main" id="{1C6535F3-EE55-3BB0-8314-AEE11BB14C2A}"/>
              </a:ext>
            </a:extLst>
          </p:cNvPr>
          <p:cNvSpPr txBox="1">
            <a:spLocks noChangeArrowheads="1"/>
          </p:cNvSpPr>
          <p:nvPr/>
        </p:nvSpPr>
        <p:spPr bwMode="auto">
          <a:xfrm>
            <a:off x="2266625" y="288850"/>
            <a:ext cx="4610750"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tabLst>
                <a:tab pos="6483350" algn="l"/>
              </a:tabLst>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tabLst>
                <a:tab pos="6483350" algn="l"/>
              </a:tabLst>
              <a:defRPr>
                <a:solidFill>
                  <a:schemeClr val="tx1"/>
                </a:solidFill>
                <a:latin typeface="Calibri" panose="020F0502020204030204" pitchFamily="34" charset="0"/>
                <a:ea typeface="ＭＳ Ｐゴシック" panose="020B0600070205080204" pitchFamily="34" charset="-128"/>
              </a:defRPr>
            </a:lvl9pPr>
          </a:lstStyle>
          <a:p>
            <a:pPr algn="ctr" eaLnBrk="1" hangingPunct="1">
              <a:spcBef>
                <a:spcPts val="100"/>
              </a:spcBef>
            </a:pPr>
            <a:r>
              <a:rPr lang="en-US" altLang="en-US" sz="2000" dirty="0">
                <a:solidFill>
                  <a:srgbClr val="FF0000"/>
                </a:solidFill>
                <a:latin typeface="Times New Roman" panose="02020603050405020304" pitchFamily="18" charset="0"/>
                <a:cs typeface="Times New Roman" panose="02020603050405020304" pitchFamily="18" charset="0"/>
              </a:rPr>
              <a:t>PRESENTATION CONTENTS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2" name="object 8">
            <a:extLst>
              <a:ext uri="{FF2B5EF4-FFF2-40B4-BE49-F238E27FC236}">
                <a16:creationId xmlns:a16="http://schemas.microsoft.com/office/drawing/2014/main" id="{F2E7B7E9-21CB-4681-BDA3-90D7F3F4E983}"/>
              </a:ext>
            </a:extLst>
          </p:cNvPr>
          <p:cNvSpPr txBox="1">
            <a:spLocks noChangeArrowheads="1"/>
          </p:cNvSpPr>
          <p:nvPr/>
        </p:nvSpPr>
        <p:spPr bwMode="auto">
          <a:xfrm>
            <a:off x="2519429" y="328723"/>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r>
              <a:rPr lang="en-US" sz="2000" b="1" dirty="0">
                <a:solidFill>
                  <a:srgbClr val="FF0000"/>
                </a:solidFill>
              </a:rPr>
              <a:t>Introduction &amp; Significance</a:t>
            </a:r>
            <a:endParaRPr lang="en-US" sz="2000" dirty="0">
              <a:solidFill>
                <a:srgbClr val="FF0000"/>
              </a:solidFill>
            </a:endParaRPr>
          </a:p>
        </p:txBody>
      </p:sp>
      <p:sp>
        <p:nvSpPr>
          <p:cNvPr id="4" name="TextBox 3">
            <a:extLst>
              <a:ext uri="{FF2B5EF4-FFF2-40B4-BE49-F238E27FC236}">
                <a16:creationId xmlns:a16="http://schemas.microsoft.com/office/drawing/2014/main" id="{3B6FE25B-EA7C-6D29-0B8E-6E2C1580BB2B}"/>
              </a:ext>
            </a:extLst>
          </p:cNvPr>
          <p:cNvSpPr txBox="1"/>
          <p:nvPr/>
        </p:nvSpPr>
        <p:spPr>
          <a:xfrm>
            <a:off x="414744" y="889963"/>
            <a:ext cx="8314509" cy="4253537"/>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US" dirty="0"/>
              <a:t>Modern enterprise networks are facing an unprecedented volume of sophisticated, fast-moving cyber attacks. Threat actors are increasingly utilizing automated tools and AI to generate novel "zero-day" exploits that bypass traditional, signature-based defenses.</a:t>
            </a:r>
          </a:p>
          <a:p>
            <a:pPr marL="285750" indent="-285750">
              <a:lnSpc>
                <a:spcPct val="150000"/>
              </a:lnSpc>
              <a:buFont typeface="Arial" panose="020B0604020202020204" pitchFamily="34" charset="0"/>
              <a:buChar char="•"/>
            </a:pPr>
            <a:r>
              <a:rPr lang="en-US" dirty="0"/>
              <a:t>Currently, organizations operate in silos. When a zero-day attack breaches Company A, Company B remains entirely unaware and vulnerable until security vendors manually analyze the breach and distribute a patch. This "human-in-the-loop" latency is the exact window where attacks propagate globally.</a:t>
            </a:r>
          </a:p>
          <a:p>
            <a:pPr marL="285750" indent="-285750">
              <a:lnSpc>
                <a:spcPct val="150000"/>
              </a:lnSpc>
              <a:buFont typeface="Arial" panose="020B0604020202020204" pitchFamily="34" charset="0"/>
              <a:buChar char="•"/>
            </a:pPr>
            <a:r>
              <a:rPr lang="en-US" dirty="0"/>
              <a:t>The logical solution is for organizations to pool their network traffic logs to train a massive, collective AI defense system. However, strict data privacy laws (like GDPR and CCPA) and the risk of leaking internal IP addresses, user credentials, or proprietary network structures (Personally Identifiable Information - PII) make sharing raw telemetry legally and operationally impossible. </a:t>
            </a:r>
          </a:p>
          <a:p>
            <a:pPr marL="285750" indent="-285750">
              <a:lnSpc>
                <a:spcPct val="150000"/>
              </a:lnSpc>
              <a:buFont typeface="Arial" panose="020B0604020202020204" pitchFamily="34" charset="0"/>
              <a:buChar char="•"/>
            </a:pPr>
            <a:r>
              <a:rPr lang="en-US" dirty="0"/>
              <a:t>This project introduces </a:t>
            </a:r>
            <a:r>
              <a:rPr lang="en-US" b="1" dirty="0"/>
              <a:t>ACTIS (Agentic Collaborative Threat Intelligence System)</a:t>
            </a:r>
            <a:r>
              <a:rPr lang="en-US" dirty="0"/>
              <a:t>, a comprehensive AI-driven framework designed to solve the collaboration-privacy paradox.</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45B62F5-42C2-16A5-1EDB-5396A2EB8808}"/>
            </a:ext>
          </a:extLst>
        </p:cNvPr>
        <p:cNvGrpSpPr/>
        <p:nvPr/>
      </p:nvGrpSpPr>
      <p:grpSpPr>
        <a:xfrm>
          <a:off x="0" y="0"/>
          <a:ext cx="0" cy="0"/>
          <a:chOff x="0" y="0"/>
          <a:chExt cx="0" cy="0"/>
        </a:xfrm>
      </p:grpSpPr>
      <p:sp>
        <p:nvSpPr>
          <p:cNvPr id="2" name="object 8">
            <a:extLst>
              <a:ext uri="{FF2B5EF4-FFF2-40B4-BE49-F238E27FC236}">
                <a16:creationId xmlns:a16="http://schemas.microsoft.com/office/drawing/2014/main" id="{C42912E6-9C6F-B697-69FC-22C61B69D599}"/>
              </a:ext>
            </a:extLst>
          </p:cNvPr>
          <p:cNvSpPr txBox="1">
            <a:spLocks noChangeArrowheads="1"/>
          </p:cNvSpPr>
          <p:nvPr/>
        </p:nvSpPr>
        <p:spPr bwMode="auto">
          <a:xfrm>
            <a:off x="2519429" y="328723"/>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latin typeface="Times New Roman" panose="02020603050405020304" pitchFamily="18" charset="0"/>
                <a:cs typeface="Times New Roman" panose="02020603050405020304" pitchFamily="18" charset="0"/>
              </a:rPr>
              <a:t>Problem Analysis &amp; Methodology</a:t>
            </a:r>
            <a:endParaRPr lang="en-US" altLang="en-US" sz="2000" dirty="0">
              <a:solidFill>
                <a:srgbClr val="FF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2B3A5C45-73A4-BD45-5EF7-66BE536FB428}"/>
              </a:ext>
            </a:extLst>
          </p:cNvPr>
          <p:cNvSpPr txBox="1"/>
          <p:nvPr/>
        </p:nvSpPr>
        <p:spPr>
          <a:xfrm>
            <a:off x="267789" y="1028394"/>
            <a:ext cx="8601891" cy="3323987"/>
          </a:xfrm>
          <a:prstGeom prst="rect">
            <a:avLst/>
          </a:prstGeom>
          <a:noFill/>
        </p:spPr>
        <p:txBody>
          <a:bodyPr wrap="square">
            <a:spAutoFit/>
          </a:bodyPr>
          <a:lstStyle/>
          <a:p>
            <a:pPr marL="285750" indent="-285750" algn="just">
              <a:buFont typeface="Arial" panose="020B0604020202020204" pitchFamily="34" charset="0"/>
              <a:buChar char="•"/>
            </a:pPr>
            <a:r>
              <a:rPr lang="en-US" b="1" dirty="0"/>
              <a:t>Organizations cannot share data to build better IDS models.</a:t>
            </a:r>
            <a:r>
              <a:rPr lang="en-US" dirty="0"/>
              <a:t> Each company trains its intrusion detection system only on its own network traffic, so they miss attack patterns that other companies have already seen. Sharing raw data is not possible because it contains private information like IP addresses and user details, which violates privacy laws. </a:t>
            </a:r>
          </a:p>
          <a:p>
            <a:pPr marL="285750" indent="-285750" algn="just">
              <a:buFont typeface="Arial" panose="020B0604020202020204" pitchFamily="34" charset="0"/>
              <a:buChar char="•"/>
            </a:pPr>
            <a:r>
              <a:rPr lang="en-US" b="1" dirty="0"/>
              <a:t>Federated Fragility Against Real-World (Non-IID) Data:</a:t>
            </a:r>
            <a:r>
              <a:rPr lang="en-US" dirty="0"/>
              <a:t> Traditional federated aggregation algorithms (like </a:t>
            </a:r>
            <a:r>
              <a:rPr lang="en-US" dirty="0" err="1"/>
              <a:t>FedAvg</a:t>
            </a:r>
            <a:r>
              <a:rPr lang="en-US" dirty="0"/>
              <a:t>) assume all network traffic looks identical. When deployed across real-world corporate networks with vastly misaligned (Non-IID) traffic distributions, these standard algorithms mathematically diverge or collapse entirely.</a:t>
            </a:r>
          </a:p>
          <a:p>
            <a:pPr marL="285750" indent="-285750" algn="just">
              <a:buFont typeface="Arial" panose="020B0604020202020204" pitchFamily="34" charset="0"/>
              <a:buChar char="•"/>
            </a:pPr>
            <a:r>
              <a:rPr lang="en-US" b="1" dirty="0"/>
              <a:t>Existing IDS systems cannot detect new, unknown attacks.</a:t>
            </a:r>
            <a:r>
              <a:rPr lang="en-US" dirty="0"/>
              <a:t> Traditional classifiers are trained on known attack types — if a completely new attack (a "zero-day") arrives that was never in the training data, the system either misses it entirely or misclassifies it.</a:t>
            </a:r>
          </a:p>
          <a:p>
            <a:pPr marL="285750" indent="-285750" algn="just">
              <a:buFont typeface="Arial" panose="020B0604020202020204" pitchFamily="34" charset="0"/>
              <a:buChar char="•"/>
            </a:pPr>
            <a:r>
              <a:rPr lang="en-US" b="1" dirty="0"/>
              <a:t>The "Human-in-the-Loop" Zero-Day Vulnerability:</a:t>
            </a:r>
            <a:r>
              <a:rPr lang="en-US" dirty="0"/>
              <a:t> Even when an advanced system correctly categorizes and shares a novel threat, human security analysts must manually read the report, synthesize a patch, and write firewall rules. This manual latency creates the exact time window where zero-day horizontal attacks propagate and inflict maximum damage.</a:t>
            </a:r>
          </a:p>
        </p:txBody>
      </p:sp>
    </p:spTree>
    <p:extLst>
      <p:ext uri="{BB962C8B-B14F-4D97-AF65-F5344CB8AC3E}">
        <p14:creationId xmlns:p14="http://schemas.microsoft.com/office/powerpoint/2010/main" val="28272498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D5AAF409-9CC2-42B2-1832-5FB27C50B19F}"/>
            </a:ext>
          </a:extLst>
        </p:cNvPr>
        <p:cNvGrpSpPr/>
        <p:nvPr/>
      </p:nvGrpSpPr>
      <p:grpSpPr>
        <a:xfrm>
          <a:off x="0" y="0"/>
          <a:ext cx="0" cy="0"/>
          <a:chOff x="0" y="0"/>
          <a:chExt cx="0" cy="0"/>
        </a:xfrm>
      </p:grpSpPr>
      <p:sp>
        <p:nvSpPr>
          <p:cNvPr id="2" name="object 8">
            <a:extLst>
              <a:ext uri="{FF2B5EF4-FFF2-40B4-BE49-F238E27FC236}">
                <a16:creationId xmlns:a16="http://schemas.microsoft.com/office/drawing/2014/main" id="{7F883B5D-670B-393A-E471-60DDCCBC2098}"/>
              </a:ext>
            </a:extLst>
          </p:cNvPr>
          <p:cNvSpPr txBox="1">
            <a:spLocks noChangeArrowheads="1"/>
          </p:cNvSpPr>
          <p:nvPr/>
        </p:nvSpPr>
        <p:spPr bwMode="auto">
          <a:xfrm>
            <a:off x="2519429" y="328723"/>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latin typeface="Times New Roman" panose="02020603050405020304" pitchFamily="18" charset="0"/>
                <a:cs typeface="Times New Roman" panose="02020603050405020304" pitchFamily="18" charset="0"/>
              </a:rPr>
              <a:t>Problem Analysis &amp; Methodology</a:t>
            </a:r>
            <a:endParaRPr lang="en-US" altLang="en-US" sz="20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85FBA209-DA76-6AF5-60C0-EDA1BF09D925}"/>
              </a:ext>
            </a:extLst>
          </p:cNvPr>
          <p:cNvSpPr txBox="1"/>
          <p:nvPr/>
        </p:nvSpPr>
        <p:spPr>
          <a:xfrm>
            <a:off x="257990" y="877865"/>
            <a:ext cx="8628017" cy="3936912"/>
          </a:xfrm>
          <a:prstGeom prst="rect">
            <a:avLst/>
          </a:prstGeom>
          <a:noFill/>
        </p:spPr>
        <p:txBody>
          <a:bodyPr wrap="square">
            <a:spAutoFit/>
          </a:bodyPr>
          <a:lstStyle/>
          <a:p>
            <a:pPr algn="l">
              <a:lnSpc>
                <a:spcPct val="150000"/>
              </a:lnSpc>
              <a:buNone/>
            </a:pPr>
            <a:r>
              <a:rPr lang="en-US" b="1" i="0" dirty="0">
                <a:solidFill>
                  <a:schemeClr val="tx1"/>
                </a:solidFill>
                <a:effectLst/>
                <a:latin typeface="ui-sans-serif"/>
              </a:rPr>
              <a:t>Data Collection &amp; Preprocessing</a:t>
            </a:r>
            <a:endParaRPr lang="en-US" b="0" i="0" dirty="0">
              <a:solidFill>
                <a:schemeClr val="tx1"/>
              </a:solidFill>
              <a:effectLst/>
              <a:latin typeface="ui-sans-serif"/>
            </a:endParaRPr>
          </a:p>
          <a:p>
            <a:pPr algn="l">
              <a:lnSpc>
                <a:spcPct val="150000"/>
              </a:lnSpc>
              <a:buFont typeface="Arial" panose="020B0604020202020204" pitchFamily="34" charset="0"/>
              <a:buChar char="•"/>
            </a:pPr>
            <a:r>
              <a:rPr lang="en-US" b="0" i="0" dirty="0">
                <a:solidFill>
                  <a:schemeClr val="tx1"/>
                </a:solidFill>
                <a:effectLst/>
                <a:latin typeface="ui-sans-serif"/>
              </a:rPr>
              <a:t> Collect two benchmark datasets: NF-CSE-CIC-IDS2018 (17M flows) and NF-</a:t>
            </a:r>
            <a:r>
              <a:rPr lang="en-US" b="0" i="0" dirty="0" err="1">
                <a:solidFill>
                  <a:schemeClr val="tx1"/>
                </a:solidFill>
                <a:effectLst/>
                <a:latin typeface="ui-sans-serif"/>
              </a:rPr>
              <a:t>BoT</a:t>
            </a:r>
            <a:r>
              <a:rPr lang="en-US" b="0" i="0" dirty="0">
                <a:solidFill>
                  <a:schemeClr val="tx1"/>
                </a:solidFill>
                <a:effectLst/>
                <a:latin typeface="ui-sans-serif"/>
              </a:rPr>
              <a:t>-IoT (30M flows)</a:t>
            </a:r>
          </a:p>
          <a:p>
            <a:pPr algn="l">
              <a:lnSpc>
                <a:spcPct val="150000"/>
              </a:lnSpc>
              <a:buFont typeface="Arial" panose="020B0604020202020204" pitchFamily="34" charset="0"/>
              <a:buChar char="•"/>
            </a:pPr>
            <a:r>
              <a:rPr lang="en-US" b="0" i="0" dirty="0">
                <a:solidFill>
                  <a:schemeClr val="tx1"/>
                </a:solidFill>
                <a:effectLst/>
                <a:latin typeface="ui-sans-serif"/>
              </a:rPr>
              <a:t> Extract 41 raw NetFlow features → engineer 25 derived features → </a:t>
            </a:r>
            <a:r>
              <a:rPr lang="en-US" b="1" i="0" dirty="0">
                <a:solidFill>
                  <a:schemeClr val="tx1"/>
                </a:solidFill>
                <a:effectLst/>
                <a:latin typeface="ui-sans-serif"/>
              </a:rPr>
              <a:t>66-dimensional feature vector</a:t>
            </a:r>
            <a:endParaRPr lang="en-US" b="0" i="0" dirty="0">
              <a:solidFill>
                <a:schemeClr val="tx1"/>
              </a:solidFill>
              <a:effectLst/>
              <a:latin typeface="ui-sans-serif"/>
            </a:endParaRPr>
          </a:p>
          <a:p>
            <a:pPr algn="l">
              <a:lnSpc>
                <a:spcPct val="150000"/>
              </a:lnSpc>
              <a:buFont typeface="Arial" panose="020B0604020202020204" pitchFamily="34" charset="0"/>
              <a:buChar char="•"/>
            </a:pPr>
            <a:r>
              <a:rPr lang="en-US" b="0" i="0" dirty="0">
                <a:solidFill>
                  <a:schemeClr val="tx1"/>
                </a:solidFill>
                <a:effectLst/>
                <a:latin typeface="ui-sans-serif"/>
              </a:rPr>
              <a:t> Partition data across 4 simulated organizations (non-IID distribution)</a:t>
            </a:r>
          </a:p>
          <a:p>
            <a:pPr algn="l">
              <a:lnSpc>
                <a:spcPct val="150000"/>
              </a:lnSpc>
              <a:buNone/>
            </a:pPr>
            <a:r>
              <a:rPr lang="en-US" b="1" i="0" dirty="0">
                <a:solidFill>
                  <a:schemeClr val="tx1"/>
                </a:solidFill>
                <a:effectLst/>
                <a:latin typeface="ui-sans-serif"/>
              </a:rPr>
              <a:t>Federated Model Training</a:t>
            </a:r>
            <a:endParaRPr lang="en-US" b="0" i="0" dirty="0">
              <a:solidFill>
                <a:schemeClr val="tx1"/>
              </a:solidFill>
              <a:effectLst/>
              <a:latin typeface="ui-sans-serif"/>
            </a:endParaRPr>
          </a:p>
          <a:p>
            <a:pPr algn="l">
              <a:lnSpc>
                <a:spcPct val="150000"/>
              </a:lnSpc>
              <a:buFont typeface="Arial" panose="020B0604020202020204" pitchFamily="34" charset="0"/>
              <a:buChar char="•"/>
            </a:pPr>
            <a:r>
              <a:rPr lang="en-US" b="0" i="0" dirty="0">
                <a:solidFill>
                  <a:schemeClr val="tx1"/>
                </a:solidFill>
                <a:effectLst/>
                <a:latin typeface="ui-sans-serif"/>
              </a:rPr>
              <a:t> Each organization trains a local deep neural network IDS on its private data</a:t>
            </a:r>
          </a:p>
          <a:p>
            <a:pPr algn="l">
              <a:lnSpc>
                <a:spcPct val="150000"/>
              </a:lnSpc>
              <a:buFont typeface="Arial" panose="020B0604020202020204" pitchFamily="34" charset="0"/>
              <a:buChar char="•"/>
            </a:pPr>
            <a:r>
              <a:rPr lang="en-US" b="0" i="0" dirty="0">
                <a:solidFill>
                  <a:schemeClr val="tx1"/>
                </a:solidFill>
                <a:effectLst/>
                <a:latin typeface="ui-sans-serif"/>
              </a:rPr>
              <a:t> Only model weights (with DP noise) are sent to the central server — </a:t>
            </a:r>
            <a:r>
              <a:rPr lang="en-US" b="1" i="0" dirty="0">
                <a:solidFill>
                  <a:schemeClr val="tx1"/>
                </a:solidFill>
                <a:effectLst/>
                <a:latin typeface="ui-sans-serif"/>
              </a:rPr>
              <a:t>raw data never leaves</a:t>
            </a:r>
            <a:endParaRPr lang="en-US" b="0" i="0" dirty="0">
              <a:solidFill>
                <a:schemeClr val="tx1"/>
              </a:solidFill>
              <a:effectLst/>
              <a:latin typeface="ui-sans-serif"/>
            </a:endParaRPr>
          </a:p>
          <a:p>
            <a:pPr algn="l">
              <a:lnSpc>
                <a:spcPct val="150000"/>
              </a:lnSpc>
              <a:buFont typeface="Arial" panose="020B0604020202020204" pitchFamily="34" charset="0"/>
              <a:buChar char="•"/>
            </a:pPr>
            <a:r>
              <a:rPr lang="en-US" b="0" i="0" dirty="0">
                <a:solidFill>
                  <a:schemeClr val="tx1"/>
                </a:solidFill>
                <a:effectLst/>
                <a:latin typeface="ui-sans-serif"/>
              </a:rPr>
              <a:t> Server aggregates using </a:t>
            </a:r>
            <a:r>
              <a:rPr lang="en-US" b="0" i="0" dirty="0" err="1">
                <a:solidFill>
                  <a:schemeClr val="tx1"/>
                </a:solidFill>
                <a:effectLst/>
                <a:latin typeface="ui-sans-serif"/>
              </a:rPr>
              <a:t>FedAvg</a:t>
            </a:r>
            <a:r>
              <a:rPr lang="en-US" b="0" i="0" dirty="0">
                <a:solidFill>
                  <a:schemeClr val="tx1"/>
                </a:solidFill>
                <a:effectLst/>
                <a:latin typeface="ui-sans-serif"/>
              </a:rPr>
              <a:t> → distributes improved global model → repeat for 10 rounds</a:t>
            </a:r>
          </a:p>
          <a:p>
            <a:pPr algn="l">
              <a:lnSpc>
                <a:spcPct val="150000"/>
              </a:lnSpc>
              <a:buNone/>
            </a:pPr>
            <a:r>
              <a:rPr lang="en-US" b="1" i="0" dirty="0">
                <a:solidFill>
                  <a:schemeClr val="tx1"/>
                </a:solidFill>
                <a:effectLst/>
                <a:latin typeface="ui-sans-serif"/>
              </a:rPr>
              <a:t>Zero-Day Detection</a:t>
            </a:r>
            <a:endParaRPr lang="en-US" b="0" i="0" dirty="0">
              <a:solidFill>
                <a:schemeClr val="tx1"/>
              </a:solidFill>
              <a:effectLst/>
              <a:latin typeface="ui-sans-serif"/>
            </a:endParaRPr>
          </a:p>
          <a:p>
            <a:pPr algn="l">
              <a:lnSpc>
                <a:spcPct val="150000"/>
              </a:lnSpc>
              <a:buFont typeface="Arial" panose="020B0604020202020204" pitchFamily="34" charset="0"/>
              <a:buChar char="•"/>
            </a:pPr>
            <a:r>
              <a:rPr lang="en-US" b="0" i="0" dirty="0">
                <a:solidFill>
                  <a:schemeClr val="tx1"/>
                </a:solidFill>
                <a:effectLst/>
                <a:latin typeface="ui-sans-serif"/>
              </a:rPr>
              <a:t> Train per-protocol autoencoders (TCP, UDP, ICMP) on known traffic only</a:t>
            </a:r>
          </a:p>
          <a:p>
            <a:pPr algn="l">
              <a:lnSpc>
                <a:spcPct val="150000"/>
              </a:lnSpc>
              <a:buFont typeface="Arial" panose="020B0604020202020204" pitchFamily="34" charset="0"/>
              <a:buChar char="•"/>
            </a:pPr>
            <a:r>
              <a:rPr lang="en-US" b="0" i="0" dirty="0">
                <a:solidFill>
                  <a:schemeClr val="tx1"/>
                </a:solidFill>
                <a:effectLst/>
                <a:latin typeface="ui-sans-serif"/>
              </a:rPr>
              <a:t> Combine classifier uncertainty (entropy) + autoencoder reconstruction error into a single anomaly score</a:t>
            </a:r>
          </a:p>
          <a:p>
            <a:pPr algn="l">
              <a:lnSpc>
                <a:spcPct val="150000"/>
              </a:lnSpc>
              <a:buFont typeface="Arial" panose="020B0604020202020204" pitchFamily="34" charset="0"/>
              <a:buChar char="•"/>
            </a:pPr>
            <a:r>
              <a:rPr lang="en-US" b="0" i="0" dirty="0">
                <a:solidFill>
                  <a:schemeClr val="tx1"/>
                </a:solidFill>
                <a:effectLst/>
                <a:latin typeface="ui-sans-serif"/>
              </a:rPr>
              <a:t> Flows exceeding the calibrated threshold are flagged as potential zero-day attacks</a:t>
            </a:r>
          </a:p>
        </p:txBody>
      </p:sp>
    </p:spTree>
    <p:extLst>
      <p:ext uri="{BB962C8B-B14F-4D97-AF65-F5344CB8AC3E}">
        <p14:creationId xmlns:p14="http://schemas.microsoft.com/office/powerpoint/2010/main" val="22763562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8E15C5EC-EFFD-18C3-7591-D0160AD8042D}"/>
            </a:ext>
          </a:extLst>
        </p:cNvPr>
        <p:cNvGrpSpPr/>
        <p:nvPr/>
      </p:nvGrpSpPr>
      <p:grpSpPr>
        <a:xfrm>
          <a:off x="0" y="0"/>
          <a:ext cx="0" cy="0"/>
          <a:chOff x="0" y="0"/>
          <a:chExt cx="0" cy="0"/>
        </a:xfrm>
      </p:grpSpPr>
      <p:sp>
        <p:nvSpPr>
          <p:cNvPr id="2" name="object 8">
            <a:extLst>
              <a:ext uri="{FF2B5EF4-FFF2-40B4-BE49-F238E27FC236}">
                <a16:creationId xmlns:a16="http://schemas.microsoft.com/office/drawing/2014/main" id="{0D55F80E-D54D-2FAE-C677-EBFF487D35C2}"/>
              </a:ext>
            </a:extLst>
          </p:cNvPr>
          <p:cNvSpPr txBox="1">
            <a:spLocks noChangeArrowheads="1"/>
          </p:cNvSpPr>
          <p:nvPr/>
        </p:nvSpPr>
        <p:spPr bwMode="auto">
          <a:xfrm>
            <a:off x="2519429" y="328723"/>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latin typeface="Times New Roman" panose="02020603050405020304" pitchFamily="18" charset="0"/>
                <a:cs typeface="Times New Roman" panose="02020603050405020304" pitchFamily="18" charset="0"/>
              </a:rPr>
              <a:t>Problem Analysis &amp; Methodology</a:t>
            </a:r>
            <a:endParaRPr lang="en-US" altLang="en-US" sz="2000" dirty="0">
              <a:solidFill>
                <a:srgbClr val="FF0000"/>
              </a:solidFill>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2A848724-D0FE-8BCA-735B-C5D728AE47C8}"/>
              </a:ext>
            </a:extLst>
          </p:cNvPr>
          <p:cNvSpPr txBox="1"/>
          <p:nvPr/>
        </p:nvSpPr>
        <p:spPr>
          <a:xfrm>
            <a:off x="257990" y="1173581"/>
            <a:ext cx="8628017" cy="2644250"/>
          </a:xfrm>
          <a:prstGeom prst="rect">
            <a:avLst/>
          </a:prstGeom>
          <a:noFill/>
        </p:spPr>
        <p:txBody>
          <a:bodyPr wrap="square">
            <a:spAutoFit/>
          </a:bodyPr>
          <a:lstStyle/>
          <a:p>
            <a:pPr lvl="1">
              <a:lnSpc>
                <a:spcPct val="150000"/>
              </a:lnSpc>
            </a:pPr>
            <a:r>
              <a:rPr lang="en-US" b="1" i="0" dirty="0">
                <a:solidFill>
                  <a:schemeClr val="tx1"/>
                </a:solidFill>
                <a:effectLst/>
                <a:latin typeface="ui-sans-serif"/>
              </a:rPr>
              <a:t>Privacy-Preserving Threat Sharing</a:t>
            </a:r>
            <a:endParaRPr lang="en-US" b="0" i="0" dirty="0">
              <a:solidFill>
                <a:schemeClr val="tx1"/>
              </a:solidFill>
              <a:effectLst/>
              <a:latin typeface="ui-sans-serif"/>
            </a:endParaRPr>
          </a:p>
          <a:p>
            <a:pPr lvl="1">
              <a:lnSpc>
                <a:spcPct val="150000"/>
              </a:lnSpc>
              <a:buFont typeface="Arial" panose="020B0604020202020204" pitchFamily="34" charset="0"/>
              <a:buChar char="•"/>
            </a:pPr>
            <a:r>
              <a:rPr lang="en-US" b="0" i="0" dirty="0">
                <a:solidFill>
                  <a:schemeClr val="tx1"/>
                </a:solidFill>
                <a:effectLst/>
                <a:latin typeface="ui-sans-serif"/>
              </a:rPr>
              <a:t> Detected threats are mapped to MITRE ATT&amp;CK framework (Agent Analyzer)</a:t>
            </a:r>
          </a:p>
          <a:p>
            <a:pPr lvl="1">
              <a:lnSpc>
                <a:spcPct val="150000"/>
              </a:lnSpc>
              <a:buFont typeface="Arial" panose="020B0604020202020204" pitchFamily="34" charset="0"/>
              <a:buChar char="•"/>
            </a:pPr>
            <a:r>
              <a:rPr lang="en-US" b="0" i="0" dirty="0">
                <a:solidFill>
                  <a:schemeClr val="tx1"/>
                </a:solidFill>
                <a:effectLst/>
                <a:latin typeface="ui-sans-serif"/>
              </a:rPr>
              <a:t> PII is scrubbed using 12 regex patterns (Agent Sanitizer) and verified clean (PII Validator)</a:t>
            </a:r>
          </a:p>
          <a:p>
            <a:pPr lvl="1">
              <a:lnSpc>
                <a:spcPct val="150000"/>
              </a:lnSpc>
              <a:buFont typeface="Arial" panose="020B0604020202020204" pitchFamily="34" charset="0"/>
              <a:buChar char="•"/>
            </a:pPr>
            <a:r>
              <a:rPr lang="en-US" b="0" i="0" dirty="0">
                <a:solidFill>
                  <a:schemeClr val="tx1"/>
                </a:solidFill>
                <a:effectLst/>
                <a:latin typeface="ui-sans-serif"/>
              </a:rPr>
              <a:t> Sanitized reports are stored as vector embeddings in </a:t>
            </a:r>
            <a:r>
              <a:rPr lang="en-US" b="0" i="0" dirty="0" err="1">
                <a:solidFill>
                  <a:schemeClr val="tx1"/>
                </a:solidFill>
                <a:effectLst/>
                <a:latin typeface="ui-sans-serif"/>
              </a:rPr>
              <a:t>ChromaDB</a:t>
            </a:r>
            <a:endParaRPr lang="en-US" b="0" i="0" dirty="0">
              <a:solidFill>
                <a:schemeClr val="tx1"/>
              </a:solidFill>
              <a:effectLst/>
              <a:latin typeface="ui-sans-serif"/>
            </a:endParaRPr>
          </a:p>
          <a:p>
            <a:pPr lvl="1">
              <a:lnSpc>
                <a:spcPct val="150000"/>
              </a:lnSpc>
            </a:pPr>
            <a:r>
              <a:rPr lang="en-US" b="1" i="0" dirty="0">
                <a:solidFill>
                  <a:schemeClr val="tx1"/>
                </a:solidFill>
                <a:effectLst/>
                <a:latin typeface="ui-sans-serif"/>
              </a:rPr>
              <a:t>Cross-Org Intelligence &amp; Immunity</a:t>
            </a:r>
            <a:endParaRPr lang="en-US" b="0" i="0" dirty="0">
              <a:solidFill>
                <a:schemeClr val="tx1"/>
              </a:solidFill>
              <a:effectLst/>
              <a:latin typeface="ui-sans-serif"/>
            </a:endParaRPr>
          </a:p>
          <a:p>
            <a:pPr lvl="1">
              <a:lnSpc>
                <a:spcPct val="150000"/>
              </a:lnSpc>
              <a:buFont typeface="Arial" panose="020B0604020202020204" pitchFamily="34" charset="0"/>
              <a:buChar char="•"/>
            </a:pPr>
            <a:r>
              <a:rPr lang="en-US" b="0" i="0" dirty="0">
                <a:solidFill>
                  <a:schemeClr val="tx1"/>
                </a:solidFill>
                <a:effectLst/>
                <a:latin typeface="ui-sans-serif"/>
              </a:rPr>
              <a:t> RAG Engine retrieves similar past threats using semantic search + cross-encoder reranking</a:t>
            </a:r>
          </a:p>
          <a:p>
            <a:pPr lvl="1">
              <a:lnSpc>
                <a:spcPct val="150000"/>
              </a:lnSpc>
              <a:buFont typeface="Arial" panose="020B0604020202020204" pitchFamily="34" charset="0"/>
              <a:buChar char="•"/>
            </a:pPr>
            <a:r>
              <a:rPr lang="en-US" b="0" i="0" dirty="0">
                <a:solidFill>
                  <a:schemeClr val="tx1"/>
                </a:solidFill>
                <a:effectLst/>
                <a:latin typeface="ui-sans-serif"/>
              </a:rPr>
              <a:t> Immunity Engine auto-generates firewall rules from threat intelligence</a:t>
            </a:r>
          </a:p>
          <a:p>
            <a:pPr lvl="1">
              <a:lnSpc>
                <a:spcPct val="150000"/>
              </a:lnSpc>
              <a:buFont typeface="Arial" panose="020B0604020202020204" pitchFamily="34" charset="0"/>
              <a:buChar char="•"/>
            </a:pPr>
            <a:r>
              <a:rPr lang="en-US" b="0" i="0" dirty="0">
                <a:solidFill>
                  <a:schemeClr val="tx1"/>
                </a:solidFill>
                <a:effectLst/>
                <a:latin typeface="ui-sans-serif"/>
              </a:rPr>
              <a:t> Rules are pushed to all other organizations → </a:t>
            </a:r>
            <a:r>
              <a:rPr lang="en-US" b="1" i="0" dirty="0">
                <a:solidFill>
                  <a:schemeClr val="tx1"/>
                </a:solidFill>
                <a:effectLst/>
                <a:latin typeface="ui-sans-serif"/>
              </a:rPr>
              <a:t>one detection protects everyone</a:t>
            </a:r>
            <a:endParaRPr lang="en-US" b="0" i="0" dirty="0">
              <a:solidFill>
                <a:schemeClr val="tx1"/>
              </a:solidFill>
              <a:effectLst/>
              <a:latin typeface="ui-sans-serif"/>
            </a:endParaRPr>
          </a:p>
        </p:txBody>
      </p:sp>
    </p:spTree>
    <p:extLst>
      <p:ext uri="{BB962C8B-B14F-4D97-AF65-F5344CB8AC3E}">
        <p14:creationId xmlns:p14="http://schemas.microsoft.com/office/powerpoint/2010/main" val="10394141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2" name="object 8">
            <a:extLst>
              <a:ext uri="{FF2B5EF4-FFF2-40B4-BE49-F238E27FC236}">
                <a16:creationId xmlns:a16="http://schemas.microsoft.com/office/drawing/2014/main" id="{F2E7B7E9-21CB-4681-BDA3-90D7F3F4E983}"/>
              </a:ext>
            </a:extLst>
          </p:cNvPr>
          <p:cNvSpPr txBox="1">
            <a:spLocks noChangeArrowheads="1"/>
          </p:cNvSpPr>
          <p:nvPr/>
        </p:nvSpPr>
        <p:spPr bwMode="auto">
          <a:xfrm>
            <a:off x="2519429" y="117057"/>
            <a:ext cx="4105141" cy="62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latin typeface="Times New Roman" panose="02020603050405020304" pitchFamily="18" charset="0"/>
                <a:cs typeface="Times New Roman" panose="02020603050405020304" pitchFamily="18" charset="0"/>
              </a:rPr>
              <a:t>Design &amp; Technical Approach</a:t>
            </a:r>
          </a:p>
          <a:p>
            <a:pPr algn="ctr">
              <a:spcBef>
                <a:spcPct val="0"/>
              </a:spcBef>
            </a:pPr>
            <a:r>
              <a:rPr lang="en-US" altLang="en-US" sz="2000" dirty="0">
                <a:solidFill>
                  <a:srgbClr val="FF0000"/>
                </a:solidFill>
                <a:latin typeface="Times New Roman" panose="02020603050405020304" pitchFamily="18" charset="0"/>
                <a:cs typeface="Times New Roman" panose="02020603050405020304" pitchFamily="18" charset="0"/>
              </a:rPr>
              <a:t>Introduction and Significance</a:t>
            </a:r>
            <a:endParaRPr lang="en-IN" altLang="en-US" sz="2000" dirty="0">
              <a:solidFill>
                <a:srgbClr val="FF0000"/>
              </a:solidFill>
              <a:latin typeface="Times New Roman" panose="02020603050405020304" pitchFamily="18" charset="0"/>
              <a:cs typeface="Times New Roman" panose="02020603050405020304" pitchFamily="18" charset="0"/>
            </a:endParaRPr>
          </a:p>
        </p:txBody>
      </p:sp>
      <p:graphicFrame>
        <p:nvGraphicFramePr>
          <p:cNvPr id="5" name="Table 4">
            <a:extLst>
              <a:ext uri="{FF2B5EF4-FFF2-40B4-BE49-F238E27FC236}">
                <a16:creationId xmlns:a16="http://schemas.microsoft.com/office/drawing/2014/main" id="{97230659-5324-1BFD-0B9A-4FEC0C5BAFE6}"/>
              </a:ext>
            </a:extLst>
          </p:cNvPr>
          <p:cNvGraphicFramePr>
            <a:graphicFrameLocks noGrp="1"/>
          </p:cNvGraphicFramePr>
          <p:nvPr>
            <p:extLst>
              <p:ext uri="{D42A27DB-BD31-4B8C-83A1-F6EECF244321}">
                <p14:modId xmlns:p14="http://schemas.microsoft.com/office/powerpoint/2010/main" val="4202820306"/>
              </p:ext>
            </p:extLst>
          </p:nvPr>
        </p:nvGraphicFramePr>
        <p:xfrm>
          <a:off x="689314" y="1413502"/>
          <a:ext cx="7765370" cy="3449566"/>
        </p:xfrm>
        <a:graphic>
          <a:graphicData uri="http://schemas.openxmlformats.org/drawingml/2006/table">
            <a:tbl>
              <a:tblPr>
                <a:tableStyleId>{284E427A-3D55-4303-BF80-6455036E1DE7}</a:tableStyleId>
              </a:tblPr>
              <a:tblGrid>
                <a:gridCol w="3882685">
                  <a:extLst>
                    <a:ext uri="{9D8B030D-6E8A-4147-A177-3AD203B41FA5}">
                      <a16:colId xmlns:a16="http://schemas.microsoft.com/office/drawing/2014/main" val="2501444087"/>
                    </a:ext>
                  </a:extLst>
                </a:gridCol>
                <a:gridCol w="3882685">
                  <a:extLst>
                    <a:ext uri="{9D8B030D-6E8A-4147-A177-3AD203B41FA5}">
                      <a16:colId xmlns:a16="http://schemas.microsoft.com/office/drawing/2014/main" val="2884609651"/>
                    </a:ext>
                  </a:extLst>
                </a:gridCol>
              </a:tblGrid>
              <a:tr h="277748">
                <a:tc>
                  <a:txBody>
                    <a:bodyPr/>
                    <a:lstStyle/>
                    <a:p>
                      <a:pPr algn="l">
                        <a:buNone/>
                      </a:pPr>
                      <a:r>
                        <a:rPr lang="en-US" sz="1300" b="0" dirty="0">
                          <a:effectLst/>
                        </a:rPr>
                        <a:t>Component</a:t>
                      </a:r>
                    </a:p>
                  </a:txBody>
                  <a:tcPr marL="83324" marR="83324" marT="41662" marB="41662" anchor="ctr"/>
                </a:tc>
                <a:tc>
                  <a:txBody>
                    <a:bodyPr/>
                    <a:lstStyle/>
                    <a:p>
                      <a:pPr algn="l">
                        <a:buNone/>
                      </a:pPr>
                      <a:r>
                        <a:rPr lang="en-US" sz="1300" b="0">
                          <a:effectLst/>
                        </a:rPr>
                        <a:t>What It Does</a:t>
                      </a:r>
                    </a:p>
                  </a:txBody>
                  <a:tcPr marL="83324" marR="83324" marT="41662" marB="41662" anchor="ctr"/>
                </a:tc>
                <a:extLst>
                  <a:ext uri="{0D108BD9-81ED-4DB2-BD59-A6C34878D82A}">
                    <a16:rowId xmlns:a16="http://schemas.microsoft.com/office/drawing/2014/main" val="4239718179"/>
                  </a:ext>
                </a:extLst>
              </a:tr>
              <a:tr h="666595">
                <a:tc>
                  <a:txBody>
                    <a:bodyPr/>
                    <a:lstStyle/>
                    <a:p>
                      <a:pPr>
                        <a:buNone/>
                      </a:pPr>
                      <a:r>
                        <a:rPr lang="en-US" sz="1300" b="1" dirty="0">
                          <a:effectLst/>
                        </a:rPr>
                        <a:t>Federated Learning</a:t>
                      </a:r>
                      <a:endParaRPr lang="en-US" sz="1300" dirty="0">
                        <a:effectLst/>
                      </a:endParaRPr>
                    </a:p>
                  </a:txBody>
                  <a:tcPr marL="83324" marR="83324" marT="41662" marB="41662" anchor="ctr"/>
                </a:tc>
                <a:tc>
                  <a:txBody>
                    <a:bodyPr/>
                    <a:lstStyle/>
                    <a:p>
                      <a:pPr>
                        <a:buNone/>
                      </a:pPr>
                      <a:r>
                        <a:rPr lang="en-US" sz="1300" dirty="0">
                          <a:effectLst/>
                        </a:rPr>
                        <a:t>4 organizations train a shared IDS model by exchanging only model weights (not data), with Differential Privacy noise</a:t>
                      </a:r>
                    </a:p>
                  </a:txBody>
                  <a:tcPr marL="83324" marR="83324" marT="41662" marB="41662" anchor="ctr"/>
                </a:tc>
                <a:extLst>
                  <a:ext uri="{0D108BD9-81ED-4DB2-BD59-A6C34878D82A}">
                    <a16:rowId xmlns:a16="http://schemas.microsoft.com/office/drawing/2014/main" val="3053841495"/>
                  </a:ext>
                </a:extLst>
              </a:tr>
              <a:tr h="666595">
                <a:tc>
                  <a:txBody>
                    <a:bodyPr/>
                    <a:lstStyle/>
                    <a:p>
                      <a:pPr>
                        <a:buNone/>
                      </a:pPr>
                      <a:r>
                        <a:rPr lang="en-US" sz="1300" b="1">
                          <a:effectLst/>
                        </a:rPr>
                        <a:t>Zero-Day Detection</a:t>
                      </a:r>
                      <a:endParaRPr lang="en-US" sz="1300">
                        <a:effectLst/>
                      </a:endParaRPr>
                    </a:p>
                  </a:txBody>
                  <a:tcPr marL="83324" marR="83324" marT="41662" marB="41662" anchor="ctr"/>
                </a:tc>
                <a:tc>
                  <a:txBody>
                    <a:bodyPr/>
                    <a:lstStyle/>
                    <a:p>
                      <a:pPr>
                        <a:buNone/>
                      </a:pPr>
                      <a:r>
                        <a:rPr lang="en-US" sz="1300" dirty="0">
                          <a:effectLst/>
                        </a:rPr>
                        <a:t>Per-protocol autoencoders (TCP/UDP/ICMP) flag unseen attacks via high reconstruction error</a:t>
                      </a:r>
                    </a:p>
                  </a:txBody>
                  <a:tcPr marL="83324" marR="83324" marT="41662" marB="41662" anchor="ctr"/>
                </a:tc>
                <a:extLst>
                  <a:ext uri="{0D108BD9-81ED-4DB2-BD59-A6C34878D82A}">
                    <a16:rowId xmlns:a16="http://schemas.microsoft.com/office/drawing/2014/main" val="1097434243"/>
                  </a:ext>
                </a:extLst>
              </a:tr>
              <a:tr h="472172">
                <a:tc>
                  <a:txBody>
                    <a:bodyPr/>
                    <a:lstStyle/>
                    <a:p>
                      <a:pPr>
                        <a:buNone/>
                      </a:pPr>
                      <a:r>
                        <a:rPr lang="en-US" sz="1300" b="1" dirty="0">
                          <a:effectLst/>
                        </a:rPr>
                        <a:t>Privacy Pipeline</a:t>
                      </a:r>
                      <a:endParaRPr lang="en-US" sz="1300" dirty="0">
                        <a:effectLst/>
                      </a:endParaRPr>
                    </a:p>
                  </a:txBody>
                  <a:tcPr marL="83324" marR="83324" marT="41662" marB="41662" anchor="ctr"/>
                </a:tc>
                <a:tc>
                  <a:txBody>
                    <a:bodyPr/>
                    <a:lstStyle/>
                    <a:p>
                      <a:pPr>
                        <a:buNone/>
                      </a:pPr>
                      <a:r>
                        <a:rPr lang="en-US" sz="1300" dirty="0">
                          <a:effectLst/>
                        </a:rPr>
                        <a:t>3-layer defense: DP noise → PII Sanitizer (12 regex patterns) → PII Validator — </a:t>
                      </a:r>
                      <a:r>
                        <a:rPr lang="en-US" sz="1300" b="1" dirty="0">
                          <a:effectLst/>
                        </a:rPr>
                        <a:t>0% leakage</a:t>
                      </a:r>
                      <a:endParaRPr lang="en-US" sz="1300" dirty="0">
                        <a:effectLst/>
                      </a:endParaRPr>
                    </a:p>
                  </a:txBody>
                  <a:tcPr marL="83324" marR="83324" marT="41662" marB="41662" anchor="ctr"/>
                </a:tc>
                <a:extLst>
                  <a:ext uri="{0D108BD9-81ED-4DB2-BD59-A6C34878D82A}">
                    <a16:rowId xmlns:a16="http://schemas.microsoft.com/office/drawing/2014/main" val="1277361933"/>
                  </a:ext>
                </a:extLst>
              </a:tr>
              <a:tr h="666595">
                <a:tc>
                  <a:txBody>
                    <a:bodyPr/>
                    <a:lstStyle/>
                    <a:p>
                      <a:pPr>
                        <a:buNone/>
                      </a:pPr>
                      <a:r>
                        <a:rPr lang="en-US" sz="1300" b="1">
                          <a:effectLst/>
                        </a:rPr>
                        <a:t>Agentic RAG</a:t>
                      </a:r>
                      <a:endParaRPr lang="en-US" sz="1300">
                        <a:effectLst/>
                      </a:endParaRPr>
                    </a:p>
                  </a:txBody>
                  <a:tcPr marL="83324" marR="83324" marT="41662" marB="41662" anchor="ctr"/>
                </a:tc>
                <a:tc>
                  <a:txBody>
                    <a:bodyPr/>
                    <a:lstStyle/>
                    <a:p>
                      <a:pPr>
                        <a:buNone/>
                      </a:pPr>
                      <a:r>
                        <a:rPr lang="en-US" sz="1300">
                          <a:effectLst/>
                        </a:rPr>
                        <a:t>ChromaDB + Cross-Encoder reranking shares sanitized threat intel across organizations with hallucination-free abstention</a:t>
                      </a:r>
                    </a:p>
                  </a:txBody>
                  <a:tcPr marL="83324" marR="83324" marT="41662" marB="41662" anchor="ctr"/>
                </a:tc>
                <a:extLst>
                  <a:ext uri="{0D108BD9-81ED-4DB2-BD59-A6C34878D82A}">
                    <a16:rowId xmlns:a16="http://schemas.microsoft.com/office/drawing/2014/main" val="4042509318"/>
                  </a:ext>
                </a:extLst>
              </a:tr>
              <a:tr h="666595">
                <a:tc>
                  <a:txBody>
                    <a:bodyPr/>
                    <a:lstStyle/>
                    <a:p>
                      <a:pPr>
                        <a:buNone/>
                      </a:pPr>
                      <a:r>
                        <a:rPr lang="en-US" sz="1300" b="1">
                          <a:effectLst/>
                        </a:rPr>
                        <a:t>Immunity Engine</a:t>
                      </a:r>
                      <a:endParaRPr lang="en-US" sz="1300">
                        <a:effectLst/>
                      </a:endParaRPr>
                    </a:p>
                  </a:txBody>
                  <a:tcPr marL="83324" marR="83324" marT="41662" marB="41662" anchor="ctr"/>
                </a:tc>
                <a:tc>
                  <a:txBody>
                    <a:bodyPr/>
                    <a:lstStyle/>
                    <a:p>
                      <a:pPr>
                        <a:buNone/>
                      </a:pPr>
                      <a:r>
                        <a:rPr lang="en-US" sz="1300" dirty="0">
                          <a:effectLst/>
                        </a:rPr>
                        <a:t>Auto-generates firewall rules from one node's detection and pushes to all others </a:t>
                      </a:r>
                      <a:r>
                        <a:rPr lang="en-US" sz="1300" b="1" dirty="0">
                          <a:effectLst/>
                        </a:rPr>
                        <a:t>herd immunity</a:t>
                      </a:r>
                      <a:endParaRPr lang="en-US" sz="1300" dirty="0">
                        <a:effectLst/>
                      </a:endParaRPr>
                    </a:p>
                  </a:txBody>
                  <a:tcPr marL="83324" marR="83324" marT="41662" marB="41662" anchor="ctr"/>
                </a:tc>
                <a:extLst>
                  <a:ext uri="{0D108BD9-81ED-4DB2-BD59-A6C34878D82A}">
                    <a16:rowId xmlns:a16="http://schemas.microsoft.com/office/drawing/2014/main" val="121202053"/>
                  </a:ext>
                </a:extLst>
              </a:tr>
            </a:tbl>
          </a:graphicData>
        </a:graphic>
      </p:graphicFrame>
    </p:spTree>
    <p:extLst>
      <p:ext uri="{BB962C8B-B14F-4D97-AF65-F5344CB8AC3E}">
        <p14:creationId xmlns:p14="http://schemas.microsoft.com/office/powerpoint/2010/main" val="8916157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61">
          <a:extLst>
            <a:ext uri="{FF2B5EF4-FFF2-40B4-BE49-F238E27FC236}">
              <a16:creationId xmlns:a16="http://schemas.microsoft.com/office/drawing/2014/main" id="{2248C435-3BA2-3D78-223A-D921B0D78505}"/>
            </a:ext>
          </a:extLst>
        </p:cNvPr>
        <p:cNvGrpSpPr/>
        <p:nvPr/>
      </p:nvGrpSpPr>
      <p:grpSpPr>
        <a:xfrm>
          <a:off x="0" y="0"/>
          <a:ext cx="0" cy="0"/>
          <a:chOff x="0" y="0"/>
          <a:chExt cx="0" cy="0"/>
        </a:xfrm>
      </p:grpSpPr>
      <p:sp>
        <p:nvSpPr>
          <p:cNvPr id="2" name="object 8">
            <a:extLst>
              <a:ext uri="{FF2B5EF4-FFF2-40B4-BE49-F238E27FC236}">
                <a16:creationId xmlns:a16="http://schemas.microsoft.com/office/drawing/2014/main" id="{20B9552F-2EA4-0B2C-BCAA-C5285B5F6C1C}"/>
              </a:ext>
            </a:extLst>
          </p:cNvPr>
          <p:cNvSpPr txBox="1">
            <a:spLocks noChangeArrowheads="1"/>
          </p:cNvSpPr>
          <p:nvPr/>
        </p:nvSpPr>
        <p:spPr bwMode="auto">
          <a:xfrm>
            <a:off x="2369205" y="293405"/>
            <a:ext cx="4105141"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latin typeface="Times New Roman" panose="02020603050405020304" pitchFamily="18" charset="0"/>
                <a:cs typeface="Times New Roman" panose="02020603050405020304" pitchFamily="18" charset="0"/>
              </a:rPr>
              <a:t>Dataset</a:t>
            </a:r>
            <a:endParaRPr lang="en-IN" altLang="en-US" sz="2000" dirty="0">
              <a:solidFill>
                <a:srgbClr val="FF0000"/>
              </a:solidFill>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FA2318AA-E4D6-CA62-1D28-21888DBD2683}"/>
              </a:ext>
            </a:extLst>
          </p:cNvPr>
          <p:cNvGraphicFramePr>
            <a:graphicFrameLocks noGrp="1"/>
          </p:cNvGraphicFramePr>
          <p:nvPr>
            <p:extLst>
              <p:ext uri="{D42A27DB-BD31-4B8C-83A1-F6EECF244321}">
                <p14:modId xmlns:p14="http://schemas.microsoft.com/office/powerpoint/2010/main" val="1809068032"/>
              </p:ext>
            </p:extLst>
          </p:nvPr>
        </p:nvGraphicFramePr>
        <p:xfrm>
          <a:off x="311150" y="1325880"/>
          <a:ext cx="8521700" cy="1779270"/>
        </p:xfrm>
        <a:graphic>
          <a:graphicData uri="http://schemas.openxmlformats.org/drawingml/2006/table">
            <a:tbl>
              <a:tblPr/>
              <a:tblGrid>
                <a:gridCol w="1704340">
                  <a:extLst>
                    <a:ext uri="{9D8B030D-6E8A-4147-A177-3AD203B41FA5}">
                      <a16:colId xmlns:a16="http://schemas.microsoft.com/office/drawing/2014/main" val="2969245869"/>
                    </a:ext>
                  </a:extLst>
                </a:gridCol>
                <a:gridCol w="1704340">
                  <a:extLst>
                    <a:ext uri="{9D8B030D-6E8A-4147-A177-3AD203B41FA5}">
                      <a16:colId xmlns:a16="http://schemas.microsoft.com/office/drawing/2014/main" val="1178823323"/>
                    </a:ext>
                  </a:extLst>
                </a:gridCol>
                <a:gridCol w="1704340">
                  <a:extLst>
                    <a:ext uri="{9D8B030D-6E8A-4147-A177-3AD203B41FA5}">
                      <a16:colId xmlns:a16="http://schemas.microsoft.com/office/drawing/2014/main" val="2686729798"/>
                    </a:ext>
                  </a:extLst>
                </a:gridCol>
                <a:gridCol w="1704340">
                  <a:extLst>
                    <a:ext uri="{9D8B030D-6E8A-4147-A177-3AD203B41FA5}">
                      <a16:colId xmlns:a16="http://schemas.microsoft.com/office/drawing/2014/main" val="2827187041"/>
                    </a:ext>
                  </a:extLst>
                </a:gridCol>
                <a:gridCol w="1704340">
                  <a:extLst>
                    <a:ext uri="{9D8B030D-6E8A-4147-A177-3AD203B41FA5}">
                      <a16:colId xmlns:a16="http://schemas.microsoft.com/office/drawing/2014/main" val="4080648429"/>
                    </a:ext>
                  </a:extLst>
                </a:gridCol>
              </a:tblGrid>
              <a:tr h="0">
                <a:tc>
                  <a:txBody>
                    <a:bodyPr/>
                    <a:lstStyle/>
                    <a:p>
                      <a:pPr algn="l">
                        <a:buNone/>
                      </a:pPr>
                      <a:r>
                        <a:rPr lang="en-US">
                          <a:effectLst/>
                        </a:rPr>
                        <a:t>Dataset</a:t>
                      </a:r>
                    </a:p>
                  </a:txBody>
                  <a:tcPr marL="95250" marR="95250" marT="47625" marB="47625" anchor="ctr">
                    <a:lnL>
                      <a:noFill/>
                    </a:lnL>
                    <a:lnR>
                      <a:noFill/>
                    </a:lnR>
                    <a:lnT>
                      <a:noFill/>
                    </a:lnT>
                    <a:lnB>
                      <a:noFill/>
                    </a:lnB>
                    <a:noFill/>
                  </a:tcPr>
                </a:tc>
                <a:tc>
                  <a:txBody>
                    <a:bodyPr/>
                    <a:lstStyle/>
                    <a:p>
                      <a:pPr algn="l">
                        <a:buNone/>
                      </a:pPr>
                      <a:r>
                        <a:rPr lang="en-US" dirty="0">
                          <a:effectLst/>
                        </a:rPr>
                        <a:t>Records</a:t>
                      </a:r>
                    </a:p>
                  </a:txBody>
                  <a:tcPr marL="95250" marR="95250" marT="47625" marB="47625" anchor="ctr">
                    <a:lnL>
                      <a:noFill/>
                    </a:lnL>
                    <a:lnR>
                      <a:noFill/>
                    </a:lnR>
                    <a:lnT>
                      <a:noFill/>
                    </a:lnT>
                    <a:lnB>
                      <a:noFill/>
                    </a:lnB>
                    <a:noFill/>
                  </a:tcPr>
                </a:tc>
                <a:tc>
                  <a:txBody>
                    <a:bodyPr/>
                    <a:lstStyle/>
                    <a:p>
                      <a:pPr algn="l">
                        <a:buNone/>
                      </a:pPr>
                      <a:r>
                        <a:rPr lang="en-US">
                          <a:effectLst/>
                        </a:rPr>
                        <a:t>Attack Types</a:t>
                      </a:r>
                    </a:p>
                  </a:txBody>
                  <a:tcPr marL="95250" marR="95250" marT="47625" marB="47625" anchor="ctr">
                    <a:lnL>
                      <a:noFill/>
                    </a:lnL>
                    <a:lnR>
                      <a:noFill/>
                    </a:lnR>
                    <a:lnT>
                      <a:noFill/>
                    </a:lnT>
                    <a:lnB>
                      <a:noFill/>
                    </a:lnB>
                    <a:noFill/>
                  </a:tcPr>
                </a:tc>
                <a:tc>
                  <a:txBody>
                    <a:bodyPr/>
                    <a:lstStyle/>
                    <a:p>
                      <a:pPr algn="l">
                        <a:buNone/>
                      </a:pPr>
                      <a:r>
                        <a:rPr lang="en-US">
                          <a:effectLst/>
                        </a:rPr>
                        <a:t>Source</a:t>
                      </a:r>
                    </a:p>
                  </a:txBody>
                  <a:tcPr marL="95250" marR="95250" marT="47625" marB="47625" anchor="ctr">
                    <a:lnL>
                      <a:noFill/>
                    </a:lnL>
                    <a:lnR>
                      <a:noFill/>
                    </a:lnR>
                    <a:lnT>
                      <a:noFill/>
                    </a:lnT>
                    <a:lnB>
                      <a:noFill/>
                    </a:lnB>
                    <a:noFill/>
                  </a:tcPr>
                </a:tc>
                <a:tc>
                  <a:txBody>
                    <a:bodyPr/>
                    <a:lstStyle/>
                    <a:p>
                      <a:pPr algn="l">
                        <a:buNone/>
                      </a:pPr>
                      <a:r>
                        <a:rPr lang="en-US">
                          <a:effectLst/>
                        </a:rPr>
                        <a:t>Role in ACTIS</a:t>
                      </a:r>
                    </a:p>
                  </a:txBody>
                  <a:tcPr marL="95250" marR="95250" marT="47625" marB="47625" anchor="ctr">
                    <a:lnL>
                      <a:noFill/>
                    </a:lnL>
                    <a:lnR>
                      <a:noFill/>
                    </a:lnR>
                    <a:lnT>
                      <a:noFill/>
                    </a:lnT>
                    <a:lnB>
                      <a:noFill/>
                    </a:lnB>
                    <a:noFill/>
                  </a:tcPr>
                </a:tc>
                <a:extLst>
                  <a:ext uri="{0D108BD9-81ED-4DB2-BD59-A6C34878D82A}">
                    <a16:rowId xmlns:a16="http://schemas.microsoft.com/office/drawing/2014/main" val="3612234621"/>
                  </a:ext>
                </a:extLst>
              </a:tr>
              <a:tr h="0">
                <a:tc>
                  <a:txBody>
                    <a:bodyPr/>
                    <a:lstStyle/>
                    <a:p>
                      <a:pPr>
                        <a:buNone/>
                      </a:pPr>
                      <a:r>
                        <a:rPr lang="en-US">
                          <a:effectLst/>
                        </a:rPr>
                        <a:t>NF-CSE-CIC-IDS2018-v2</a:t>
                      </a:r>
                    </a:p>
                  </a:txBody>
                  <a:tcPr marL="95250" marR="95250" marT="47625" marB="47625" anchor="ctr">
                    <a:lnL>
                      <a:noFill/>
                    </a:lnL>
                    <a:lnR>
                      <a:noFill/>
                    </a:lnR>
                    <a:lnT>
                      <a:noFill/>
                    </a:lnT>
                    <a:lnB>
                      <a:noFill/>
                    </a:lnB>
                    <a:noFill/>
                  </a:tcPr>
                </a:tc>
                <a:tc>
                  <a:txBody>
                    <a:bodyPr/>
                    <a:lstStyle/>
                    <a:p>
                      <a:pPr>
                        <a:buNone/>
                      </a:pPr>
                      <a:r>
                        <a:rPr lang="en-US">
                          <a:effectLst/>
                        </a:rPr>
                        <a:t>~17M flows</a:t>
                      </a:r>
                    </a:p>
                  </a:txBody>
                  <a:tcPr marL="95250" marR="95250" marT="47625" marB="47625" anchor="ctr">
                    <a:lnL>
                      <a:noFill/>
                    </a:lnL>
                    <a:lnR>
                      <a:noFill/>
                    </a:lnR>
                    <a:lnT>
                      <a:noFill/>
                    </a:lnT>
                    <a:lnB>
                      <a:noFill/>
                    </a:lnB>
                    <a:noFill/>
                  </a:tcPr>
                </a:tc>
                <a:tc>
                  <a:txBody>
                    <a:bodyPr/>
                    <a:lstStyle/>
                    <a:p>
                      <a:pPr>
                        <a:buNone/>
                      </a:pPr>
                      <a:r>
                        <a:rPr lang="en-US">
                          <a:effectLst/>
                        </a:rPr>
                        <a:t>DDoS, DoS, Brute Force, Web Attack, Infiltration, Botnet</a:t>
                      </a:r>
                    </a:p>
                  </a:txBody>
                  <a:tcPr marL="95250" marR="95250" marT="47625" marB="47625" anchor="ctr">
                    <a:lnL>
                      <a:noFill/>
                    </a:lnL>
                    <a:lnR>
                      <a:noFill/>
                    </a:lnR>
                    <a:lnT>
                      <a:noFill/>
                    </a:lnT>
                    <a:lnB>
                      <a:noFill/>
                    </a:lnB>
                    <a:noFill/>
                  </a:tcPr>
                </a:tc>
                <a:tc>
                  <a:txBody>
                    <a:bodyPr/>
                    <a:lstStyle/>
                    <a:p>
                      <a:pPr>
                        <a:buNone/>
                      </a:pPr>
                      <a:r>
                        <a:rPr lang="en-US">
                          <a:effectLst/>
                        </a:rPr>
                        <a:t>Canadian Institute for Cybersecurity</a:t>
                      </a:r>
                    </a:p>
                  </a:txBody>
                  <a:tcPr marL="95250" marR="95250" marT="47625" marB="47625" anchor="ctr">
                    <a:lnL>
                      <a:noFill/>
                    </a:lnL>
                    <a:lnR>
                      <a:noFill/>
                    </a:lnR>
                    <a:lnT>
                      <a:noFill/>
                    </a:lnT>
                    <a:lnB>
                      <a:noFill/>
                    </a:lnB>
                    <a:noFill/>
                  </a:tcPr>
                </a:tc>
                <a:tc>
                  <a:txBody>
                    <a:bodyPr/>
                    <a:lstStyle/>
                    <a:p>
                      <a:pPr>
                        <a:buNone/>
                      </a:pPr>
                      <a:r>
                        <a:rPr lang="en-US">
                          <a:effectLst/>
                        </a:rPr>
                        <a:t>Nodes A &amp; B (enterprise traffic)</a:t>
                      </a:r>
                    </a:p>
                  </a:txBody>
                  <a:tcPr marL="95250" marR="95250" marT="47625" marB="47625" anchor="ctr">
                    <a:lnL>
                      <a:noFill/>
                    </a:lnL>
                    <a:lnR>
                      <a:noFill/>
                    </a:lnR>
                    <a:lnT>
                      <a:noFill/>
                    </a:lnT>
                    <a:lnB>
                      <a:noFill/>
                    </a:lnB>
                    <a:noFill/>
                  </a:tcPr>
                </a:tc>
                <a:extLst>
                  <a:ext uri="{0D108BD9-81ED-4DB2-BD59-A6C34878D82A}">
                    <a16:rowId xmlns:a16="http://schemas.microsoft.com/office/drawing/2014/main" val="1250633912"/>
                  </a:ext>
                </a:extLst>
              </a:tr>
              <a:tr h="0">
                <a:tc>
                  <a:txBody>
                    <a:bodyPr/>
                    <a:lstStyle/>
                    <a:p>
                      <a:pPr>
                        <a:buNone/>
                      </a:pPr>
                      <a:r>
                        <a:rPr lang="en-US">
                          <a:effectLst/>
                        </a:rPr>
                        <a:t>NF-BoT-IoT-v2</a:t>
                      </a:r>
                    </a:p>
                  </a:txBody>
                  <a:tcPr marL="95250" marR="95250" marT="47625" marB="47625" anchor="ctr">
                    <a:lnL>
                      <a:noFill/>
                    </a:lnL>
                    <a:lnR>
                      <a:noFill/>
                    </a:lnR>
                    <a:lnT>
                      <a:noFill/>
                    </a:lnT>
                    <a:lnB>
                      <a:noFill/>
                    </a:lnB>
                    <a:noFill/>
                  </a:tcPr>
                </a:tc>
                <a:tc>
                  <a:txBody>
                    <a:bodyPr/>
                    <a:lstStyle/>
                    <a:p>
                      <a:pPr>
                        <a:buNone/>
                      </a:pPr>
                      <a:r>
                        <a:rPr lang="en-US" dirty="0">
                          <a:effectLst/>
                        </a:rPr>
                        <a:t>~30M flows</a:t>
                      </a:r>
                    </a:p>
                  </a:txBody>
                  <a:tcPr marL="95250" marR="95250" marT="47625" marB="47625" anchor="ctr">
                    <a:lnL>
                      <a:noFill/>
                    </a:lnL>
                    <a:lnR>
                      <a:noFill/>
                    </a:lnR>
                    <a:lnT>
                      <a:noFill/>
                    </a:lnT>
                    <a:lnB>
                      <a:noFill/>
                    </a:lnB>
                    <a:noFill/>
                  </a:tcPr>
                </a:tc>
                <a:tc>
                  <a:txBody>
                    <a:bodyPr/>
                    <a:lstStyle/>
                    <a:p>
                      <a:pPr>
                        <a:buNone/>
                      </a:pPr>
                      <a:r>
                        <a:rPr lang="en-US">
                          <a:effectLst/>
                        </a:rPr>
                        <a:t>DDoS, DoS, Reconnaissance, Theft, Benign</a:t>
                      </a:r>
                    </a:p>
                  </a:txBody>
                  <a:tcPr marL="95250" marR="95250" marT="47625" marB="47625" anchor="ctr">
                    <a:lnL>
                      <a:noFill/>
                    </a:lnL>
                    <a:lnR>
                      <a:noFill/>
                    </a:lnR>
                    <a:lnT>
                      <a:noFill/>
                    </a:lnT>
                    <a:lnB>
                      <a:noFill/>
                    </a:lnB>
                    <a:noFill/>
                  </a:tcPr>
                </a:tc>
                <a:tc>
                  <a:txBody>
                    <a:bodyPr/>
                    <a:lstStyle/>
                    <a:p>
                      <a:pPr>
                        <a:buNone/>
                      </a:pPr>
                      <a:r>
                        <a:rPr lang="en-US">
                          <a:effectLst/>
                        </a:rPr>
                        <a:t>UNSW Sydney</a:t>
                      </a:r>
                    </a:p>
                  </a:txBody>
                  <a:tcPr marL="95250" marR="95250" marT="47625" marB="47625" anchor="ctr">
                    <a:lnL>
                      <a:noFill/>
                    </a:lnL>
                    <a:lnR>
                      <a:noFill/>
                    </a:lnR>
                    <a:lnT>
                      <a:noFill/>
                    </a:lnT>
                    <a:lnB>
                      <a:noFill/>
                    </a:lnB>
                    <a:noFill/>
                  </a:tcPr>
                </a:tc>
                <a:tc>
                  <a:txBody>
                    <a:bodyPr/>
                    <a:lstStyle/>
                    <a:p>
                      <a:pPr>
                        <a:buNone/>
                      </a:pPr>
                      <a:r>
                        <a:rPr lang="en-US" dirty="0">
                          <a:effectLst/>
                        </a:rPr>
                        <a:t>Nodes C &amp; D (IoT traffic)</a:t>
                      </a:r>
                    </a:p>
                  </a:txBody>
                  <a:tcPr marL="95250" marR="95250" marT="47625" marB="47625" anchor="ctr">
                    <a:lnL>
                      <a:noFill/>
                    </a:lnL>
                    <a:lnR>
                      <a:noFill/>
                    </a:lnR>
                    <a:lnT>
                      <a:noFill/>
                    </a:lnT>
                    <a:lnB>
                      <a:noFill/>
                    </a:lnB>
                    <a:noFill/>
                  </a:tcPr>
                </a:tc>
                <a:extLst>
                  <a:ext uri="{0D108BD9-81ED-4DB2-BD59-A6C34878D82A}">
                    <a16:rowId xmlns:a16="http://schemas.microsoft.com/office/drawing/2014/main" val="3439916638"/>
                  </a:ext>
                </a:extLst>
              </a:tr>
            </a:tbl>
          </a:graphicData>
        </a:graphic>
      </p:graphicFrame>
    </p:spTree>
    <p:extLst>
      <p:ext uri="{BB962C8B-B14F-4D97-AF65-F5344CB8AC3E}">
        <p14:creationId xmlns:p14="http://schemas.microsoft.com/office/powerpoint/2010/main" val="23140172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303D71C0-83E8-CD31-C4F0-1A56EA2AF0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6AD8E5-B649-4AAE-5C5D-7CAA93055127}"/>
              </a:ext>
            </a:extLst>
          </p:cNvPr>
          <p:cNvSpPr txBox="1"/>
          <p:nvPr/>
        </p:nvSpPr>
        <p:spPr>
          <a:xfrm>
            <a:off x="2286000" y="165088"/>
            <a:ext cx="4572000" cy="707886"/>
          </a:xfrm>
          <a:prstGeom prst="rect">
            <a:avLst/>
          </a:prstGeom>
          <a:noFill/>
        </p:spPr>
        <p:txBody>
          <a:bodyPr wrap="square">
            <a:spAutoFit/>
          </a:bodyPr>
          <a:lstStyle/>
          <a:p>
            <a:pPr algn="ctr">
              <a:spcBef>
                <a:spcPct val="0"/>
              </a:spcBef>
            </a:pPr>
            <a:r>
              <a:rPr lang="en-US" sz="2000" u="sng" dirty="0">
                <a:solidFill>
                  <a:srgbClr val="FF0000"/>
                </a:solidFill>
                <a:latin typeface="Times New Roman" panose="02020603050405020304" pitchFamily="18" charset="0"/>
                <a:cs typeface="Times New Roman" panose="02020603050405020304" pitchFamily="18" charset="0"/>
              </a:rPr>
              <a:t>Design </a:t>
            </a:r>
          </a:p>
          <a:p>
            <a:pPr algn="ctr">
              <a:spcBef>
                <a:spcPct val="0"/>
              </a:spcBef>
            </a:pPr>
            <a:r>
              <a:rPr lang="en-IN" altLang="en-US" sz="2000" dirty="0">
                <a:solidFill>
                  <a:srgbClr val="FF0000"/>
                </a:solidFill>
                <a:latin typeface="Times New Roman" panose="02020603050405020304" pitchFamily="18" charset="0"/>
                <a:cs typeface="Times New Roman" panose="02020603050405020304" pitchFamily="18" charset="0"/>
              </a:rPr>
              <a:t> System Architecture</a:t>
            </a:r>
            <a:endParaRPr lang="en-US" altLang="en-US" sz="4800" dirty="0">
              <a:solidFill>
                <a:srgbClr val="FF0000"/>
              </a:solidFill>
              <a:latin typeface="Times New Roman" panose="02020603050405020304" pitchFamily="18" charset="0"/>
              <a:cs typeface="Times New Roman" panose="02020603050405020304" pitchFamily="18" charset="0"/>
            </a:endParaRPr>
          </a:p>
        </p:txBody>
      </p:sp>
      <p:pic>
        <p:nvPicPr>
          <p:cNvPr id="3" name="Picture 2" descr="A diagram of a system architecture&#10;&#10;AI-generated content may be incorrect.">
            <a:extLst>
              <a:ext uri="{FF2B5EF4-FFF2-40B4-BE49-F238E27FC236}">
                <a16:creationId xmlns:a16="http://schemas.microsoft.com/office/drawing/2014/main" id="{2C1A9724-33C8-DD83-7B5E-F2523E316F8C}"/>
              </a:ext>
            </a:extLst>
          </p:cNvPr>
          <p:cNvPicPr>
            <a:picLocks noChangeAspect="1"/>
          </p:cNvPicPr>
          <p:nvPr/>
        </p:nvPicPr>
        <p:blipFill>
          <a:blip r:embed="rId3"/>
          <a:stretch>
            <a:fillRect/>
          </a:stretch>
        </p:blipFill>
        <p:spPr>
          <a:xfrm>
            <a:off x="2522446" y="947251"/>
            <a:ext cx="4099107" cy="4031161"/>
          </a:xfrm>
          <a:prstGeom prst="rect">
            <a:avLst/>
          </a:prstGeom>
        </p:spPr>
      </p:pic>
    </p:spTree>
    <p:extLst>
      <p:ext uri="{BB962C8B-B14F-4D97-AF65-F5344CB8AC3E}">
        <p14:creationId xmlns:p14="http://schemas.microsoft.com/office/powerpoint/2010/main" val="337017436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303D71C0-83E8-CD31-C4F0-1A56EA2AF018}"/>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AD6AD8E5-B649-4AAE-5C5D-7CAA93055127}"/>
              </a:ext>
            </a:extLst>
          </p:cNvPr>
          <p:cNvSpPr txBox="1"/>
          <p:nvPr/>
        </p:nvSpPr>
        <p:spPr>
          <a:xfrm>
            <a:off x="2286000" y="165088"/>
            <a:ext cx="4572000" cy="707886"/>
          </a:xfrm>
          <a:prstGeom prst="rect">
            <a:avLst/>
          </a:prstGeom>
          <a:noFill/>
        </p:spPr>
        <p:txBody>
          <a:bodyPr wrap="square">
            <a:spAutoFit/>
          </a:bodyPr>
          <a:lstStyle/>
          <a:p>
            <a:pPr algn="ctr">
              <a:spcBef>
                <a:spcPct val="0"/>
              </a:spcBef>
            </a:pPr>
            <a:r>
              <a:rPr lang="en-US" sz="2000" u="sng" dirty="0">
                <a:solidFill>
                  <a:srgbClr val="FF0000"/>
                </a:solidFill>
                <a:latin typeface="Times New Roman" panose="02020603050405020304" pitchFamily="18" charset="0"/>
                <a:cs typeface="Times New Roman" panose="02020603050405020304" pitchFamily="18" charset="0"/>
              </a:rPr>
              <a:t>Design </a:t>
            </a:r>
          </a:p>
          <a:p>
            <a:pPr algn="ctr">
              <a:spcBef>
                <a:spcPct val="0"/>
              </a:spcBef>
            </a:pPr>
            <a:r>
              <a:rPr lang="en-IN" altLang="en-US" sz="2000" dirty="0">
                <a:solidFill>
                  <a:srgbClr val="FF0000"/>
                </a:solidFill>
                <a:latin typeface="Times New Roman" panose="02020603050405020304" pitchFamily="18" charset="0"/>
                <a:cs typeface="Times New Roman" panose="02020603050405020304" pitchFamily="18" charset="0"/>
              </a:rPr>
              <a:t> DFD’s (Level-0,1,2)</a:t>
            </a:r>
            <a:endParaRPr lang="en-US" altLang="en-US" sz="4800" dirty="0">
              <a:solidFill>
                <a:srgbClr val="FF0000"/>
              </a:solidFill>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2737D64F-29D8-D222-3B9B-7DE8C333138B}"/>
              </a:ext>
            </a:extLst>
          </p:cNvPr>
          <p:cNvPicPr>
            <a:picLocks noChangeAspect="1"/>
          </p:cNvPicPr>
          <p:nvPr/>
        </p:nvPicPr>
        <p:blipFill>
          <a:blip r:embed="rId3"/>
          <a:stretch>
            <a:fillRect/>
          </a:stretch>
        </p:blipFill>
        <p:spPr>
          <a:xfrm>
            <a:off x="4669790" y="1008144"/>
            <a:ext cx="4376420" cy="3880630"/>
          </a:xfrm>
          <a:prstGeom prst="rect">
            <a:avLst/>
          </a:prstGeom>
        </p:spPr>
      </p:pic>
      <p:pic>
        <p:nvPicPr>
          <p:cNvPr id="7" name="Picture 6" descr="Diagram of a system diagram&#10;&#10;AI-generated content may be incorrect.">
            <a:extLst>
              <a:ext uri="{FF2B5EF4-FFF2-40B4-BE49-F238E27FC236}">
                <a16:creationId xmlns:a16="http://schemas.microsoft.com/office/drawing/2014/main" id="{9A339C4E-49C8-C160-3EBF-775FE5B1892D}"/>
              </a:ext>
            </a:extLst>
          </p:cNvPr>
          <p:cNvPicPr>
            <a:picLocks noChangeAspect="1"/>
          </p:cNvPicPr>
          <p:nvPr/>
        </p:nvPicPr>
        <p:blipFill>
          <a:blip r:embed="rId4"/>
          <a:stretch>
            <a:fillRect/>
          </a:stretch>
        </p:blipFill>
        <p:spPr>
          <a:xfrm>
            <a:off x="730250" y="1303383"/>
            <a:ext cx="3111500" cy="3111500"/>
          </a:xfrm>
          <a:prstGeom prst="rect">
            <a:avLst/>
          </a:prstGeom>
        </p:spPr>
      </p:pic>
    </p:spTree>
    <p:extLst>
      <p:ext uri="{BB962C8B-B14F-4D97-AF65-F5344CB8AC3E}">
        <p14:creationId xmlns:p14="http://schemas.microsoft.com/office/powerpoint/2010/main" val="168394643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2" name="object 8">
            <a:extLst>
              <a:ext uri="{FF2B5EF4-FFF2-40B4-BE49-F238E27FC236}">
                <a16:creationId xmlns:a16="http://schemas.microsoft.com/office/drawing/2014/main" id="{2395BE7A-9D0E-6337-F5A8-E3C5BA962028}"/>
              </a:ext>
            </a:extLst>
          </p:cNvPr>
          <p:cNvSpPr txBox="1">
            <a:spLocks noChangeArrowheads="1"/>
          </p:cNvSpPr>
          <p:nvPr/>
        </p:nvSpPr>
        <p:spPr bwMode="auto">
          <a:xfrm>
            <a:off x="1608433" y="165912"/>
            <a:ext cx="5927132" cy="62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u="sng" dirty="0">
                <a:solidFill>
                  <a:srgbClr val="FF0000"/>
                </a:solidFill>
                <a:latin typeface="Times New Roman" panose="02020603050405020304" pitchFamily="18" charset="0"/>
                <a:cs typeface="Times New Roman" panose="02020603050405020304" pitchFamily="18" charset="0"/>
              </a:rPr>
              <a:t>Design </a:t>
            </a:r>
          </a:p>
          <a:p>
            <a:pPr algn="ctr">
              <a:spcBef>
                <a:spcPct val="0"/>
              </a:spcBef>
            </a:pPr>
            <a:r>
              <a:rPr lang="en-IN" altLang="en-US" sz="2000" dirty="0">
                <a:solidFill>
                  <a:srgbClr val="FF0000"/>
                </a:solidFill>
                <a:latin typeface="Times New Roman" panose="02020603050405020304" pitchFamily="18" charset="0"/>
                <a:cs typeface="Times New Roman" panose="02020603050405020304" pitchFamily="18" charset="0"/>
              </a:rPr>
              <a:t>Structure chart</a:t>
            </a:r>
          </a:p>
        </p:txBody>
      </p:sp>
      <p:pic>
        <p:nvPicPr>
          <p:cNvPr id="4" name="Picture 3" descr="A diagram of a system&#10;&#10;AI-generated content may be incorrect.">
            <a:extLst>
              <a:ext uri="{FF2B5EF4-FFF2-40B4-BE49-F238E27FC236}">
                <a16:creationId xmlns:a16="http://schemas.microsoft.com/office/drawing/2014/main" id="{3DBC03DE-4666-311F-D214-1BA7D25D8067}"/>
              </a:ext>
            </a:extLst>
          </p:cNvPr>
          <p:cNvPicPr>
            <a:picLocks noChangeAspect="1"/>
          </p:cNvPicPr>
          <p:nvPr/>
        </p:nvPicPr>
        <p:blipFill>
          <a:blip r:embed="rId3"/>
          <a:stretch>
            <a:fillRect/>
          </a:stretch>
        </p:blipFill>
        <p:spPr>
          <a:xfrm>
            <a:off x="2584476" y="1002541"/>
            <a:ext cx="4044924" cy="4044924"/>
          </a:xfrm>
          <a:prstGeom prst="rect">
            <a:avLst/>
          </a:prstGeom>
        </p:spPr>
      </p:pic>
    </p:spTree>
    <p:extLst>
      <p:ext uri="{BB962C8B-B14F-4D97-AF65-F5344CB8AC3E}">
        <p14:creationId xmlns:p14="http://schemas.microsoft.com/office/powerpoint/2010/main" val="3838626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2" name="object 8">
            <a:extLst>
              <a:ext uri="{FF2B5EF4-FFF2-40B4-BE49-F238E27FC236}">
                <a16:creationId xmlns:a16="http://schemas.microsoft.com/office/drawing/2014/main" id="{2395BE7A-9D0E-6337-F5A8-E3C5BA962028}"/>
              </a:ext>
            </a:extLst>
          </p:cNvPr>
          <p:cNvSpPr txBox="1">
            <a:spLocks noChangeArrowheads="1"/>
          </p:cNvSpPr>
          <p:nvPr/>
        </p:nvSpPr>
        <p:spPr bwMode="auto">
          <a:xfrm>
            <a:off x="1608433" y="159380"/>
            <a:ext cx="5927132" cy="6277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u="sng" dirty="0">
                <a:solidFill>
                  <a:srgbClr val="FF0000"/>
                </a:solidFill>
                <a:latin typeface="Times New Roman" panose="02020603050405020304" pitchFamily="18" charset="0"/>
                <a:cs typeface="Times New Roman" panose="02020603050405020304" pitchFamily="18" charset="0"/>
              </a:rPr>
              <a:t>Design </a:t>
            </a:r>
          </a:p>
          <a:p>
            <a:pPr algn="ctr">
              <a:spcBef>
                <a:spcPct val="0"/>
              </a:spcBef>
            </a:pPr>
            <a:r>
              <a:rPr lang="en-IN" altLang="en-US" sz="2000" dirty="0">
                <a:solidFill>
                  <a:srgbClr val="FF0000"/>
                </a:solidFill>
                <a:latin typeface="Times New Roman" panose="02020603050405020304" pitchFamily="18" charset="0"/>
                <a:cs typeface="Times New Roman" panose="02020603050405020304" pitchFamily="18" charset="0"/>
              </a:rPr>
              <a:t>Flowchart</a:t>
            </a:r>
          </a:p>
        </p:txBody>
      </p:sp>
      <p:pic>
        <p:nvPicPr>
          <p:cNvPr id="4" name="Picture 3" descr="A diagram of a network&#10;&#10;AI-generated content may be incorrect.">
            <a:extLst>
              <a:ext uri="{FF2B5EF4-FFF2-40B4-BE49-F238E27FC236}">
                <a16:creationId xmlns:a16="http://schemas.microsoft.com/office/drawing/2014/main" id="{6F3A7568-2531-0351-8A7E-153FACBD0B20}"/>
              </a:ext>
            </a:extLst>
          </p:cNvPr>
          <p:cNvPicPr>
            <a:picLocks noChangeAspect="1"/>
          </p:cNvPicPr>
          <p:nvPr/>
        </p:nvPicPr>
        <p:blipFill>
          <a:blip r:embed="rId3"/>
          <a:stretch>
            <a:fillRect/>
          </a:stretch>
        </p:blipFill>
        <p:spPr>
          <a:xfrm>
            <a:off x="2793500" y="1108709"/>
            <a:ext cx="3726815" cy="3726815"/>
          </a:xfrm>
          <a:prstGeom prst="rect">
            <a:avLst/>
          </a:prstGeom>
        </p:spPr>
      </p:pic>
    </p:spTree>
    <p:extLst>
      <p:ext uri="{BB962C8B-B14F-4D97-AF65-F5344CB8AC3E}">
        <p14:creationId xmlns:p14="http://schemas.microsoft.com/office/powerpoint/2010/main" val="6735995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2" name="object 8">
            <a:extLst>
              <a:ext uri="{FF2B5EF4-FFF2-40B4-BE49-F238E27FC236}">
                <a16:creationId xmlns:a16="http://schemas.microsoft.com/office/drawing/2014/main" id="{2395BE7A-9D0E-6337-F5A8-E3C5BA962028}"/>
              </a:ext>
            </a:extLst>
          </p:cNvPr>
          <p:cNvSpPr txBox="1">
            <a:spLocks noChangeArrowheads="1"/>
          </p:cNvSpPr>
          <p:nvPr/>
        </p:nvSpPr>
        <p:spPr bwMode="auto">
          <a:xfrm>
            <a:off x="1988258" y="315168"/>
            <a:ext cx="5167484"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rPr>
              <a:t>Use of Tools / Techniques</a:t>
            </a:r>
            <a:endParaRPr lang="en-US" altLang="en-US" sz="2000" dirty="0">
              <a:solidFill>
                <a:srgbClr val="FF0000"/>
              </a:solidFill>
            </a:endParaRPr>
          </a:p>
        </p:txBody>
      </p:sp>
      <p:sp>
        <p:nvSpPr>
          <p:cNvPr id="4" name="TextBox 3">
            <a:extLst>
              <a:ext uri="{FF2B5EF4-FFF2-40B4-BE49-F238E27FC236}">
                <a16:creationId xmlns:a16="http://schemas.microsoft.com/office/drawing/2014/main" id="{BFA083B3-2A74-7133-FBB6-CF047CD0223C}"/>
              </a:ext>
            </a:extLst>
          </p:cNvPr>
          <p:cNvSpPr txBox="1"/>
          <p:nvPr/>
        </p:nvSpPr>
        <p:spPr>
          <a:xfrm>
            <a:off x="463731" y="1125200"/>
            <a:ext cx="7648303" cy="3108543"/>
          </a:xfrm>
          <a:prstGeom prst="rect">
            <a:avLst/>
          </a:prstGeom>
          <a:noFill/>
        </p:spPr>
        <p:txBody>
          <a:bodyPr wrap="square">
            <a:spAutoFit/>
          </a:bodyPr>
          <a:lstStyle/>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Language:</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Python 3.10+</a:t>
            </a:r>
            <a:r>
              <a:rPr lang="en-US" b="0" i="0" dirty="0">
                <a:solidFill>
                  <a:schemeClr val="tx1"/>
                </a:solidFill>
                <a:effectLst/>
                <a:latin typeface="Times New Roman" panose="02020603050405020304" pitchFamily="18" charset="0"/>
                <a:cs typeface="Times New Roman" panose="02020603050405020304" pitchFamily="18" charset="0"/>
              </a:rPr>
              <a:t> (Core implementation and data processing).</a:t>
            </a: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Deep Learning Framework:</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err="1">
                <a:solidFill>
                  <a:schemeClr val="tx1"/>
                </a:solidFill>
                <a:effectLst/>
                <a:latin typeface="Times New Roman" panose="02020603050405020304" pitchFamily="18" charset="0"/>
                <a:cs typeface="Times New Roman" panose="02020603050405020304" pitchFamily="18" charset="0"/>
              </a:rPr>
              <a:t>PyTorch</a:t>
            </a:r>
            <a:r>
              <a:rPr lang="en-US" b="0" i="0" dirty="0">
                <a:solidFill>
                  <a:schemeClr val="tx1"/>
                </a:solidFill>
                <a:effectLst/>
                <a:latin typeface="Times New Roman" panose="02020603050405020304" pitchFamily="18" charset="0"/>
                <a:cs typeface="Times New Roman" panose="02020603050405020304" pitchFamily="18" charset="0"/>
              </a:rPr>
              <a:t> (Used for building the IDS Neural Network and Zero-Day Autoencoders).</a:t>
            </a: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Vector Database:</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err="1">
                <a:solidFill>
                  <a:schemeClr val="tx1"/>
                </a:solidFill>
                <a:effectLst/>
                <a:latin typeface="Times New Roman" panose="02020603050405020304" pitchFamily="18" charset="0"/>
                <a:cs typeface="Times New Roman" panose="02020603050405020304" pitchFamily="18" charset="0"/>
              </a:rPr>
              <a:t>ChromaDB</a:t>
            </a:r>
            <a:r>
              <a:rPr lang="en-US" b="0" i="0" dirty="0">
                <a:solidFill>
                  <a:schemeClr val="tx1"/>
                </a:solidFill>
                <a:effectLst/>
                <a:latin typeface="Times New Roman" panose="02020603050405020304" pitchFamily="18" charset="0"/>
                <a:cs typeface="Times New Roman" panose="02020603050405020304" pitchFamily="18" charset="0"/>
              </a:rPr>
              <a:t> (Stores sanitized threat reports as high-dimensional embeddings for semantic search).</a:t>
            </a:r>
          </a:p>
          <a:p>
            <a:pPr marL="285750" indent="-285750">
              <a:buFont typeface="Arial" panose="020B0604020202020204" pitchFamily="34" charset="0"/>
              <a:buChar char="•"/>
            </a:pPr>
            <a:r>
              <a:rPr lang="en-US" dirty="0"/>
              <a:t>Retrieval of cross-organizational intelligence from </a:t>
            </a:r>
            <a:r>
              <a:rPr lang="en-US" dirty="0" err="1"/>
              <a:t>ChromaDB</a:t>
            </a:r>
            <a:endParaRPr lang="en-US" b="0" i="0" dirty="0">
              <a:solidFill>
                <a:schemeClr val="tx1"/>
              </a:solidFill>
              <a:effectLst/>
              <a:latin typeface="Times New Roman" panose="02020603050405020304" pitchFamily="18" charset="0"/>
              <a:cs typeface="Times New Roman" panose="02020603050405020304" pitchFamily="18" charset="0"/>
            </a:endParaRP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Large Language Model (LLM):</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Google Gemini 1.5 Flash</a:t>
            </a:r>
            <a:r>
              <a:rPr lang="en-US" b="0" i="0" dirty="0">
                <a:solidFill>
                  <a:schemeClr val="tx1"/>
                </a:solidFill>
                <a:effectLst/>
                <a:latin typeface="Times New Roman" panose="02020603050405020304" pitchFamily="18" charset="0"/>
                <a:cs typeface="Times New Roman" panose="02020603050405020304" pitchFamily="18" charset="0"/>
              </a:rPr>
              <a:t> (Powers the Agent Analyzer for MITRE mapping and automated threat summarization).</a:t>
            </a: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Data Management:</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Pandas &amp; NumPy</a:t>
            </a:r>
            <a:r>
              <a:rPr lang="en-US" b="0" i="0" dirty="0">
                <a:solidFill>
                  <a:schemeClr val="tx1"/>
                </a:solidFill>
                <a:effectLst/>
                <a:latin typeface="Times New Roman" panose="02020603050405020304" pitchFamily="18" charset="0"/>
                <a:cs typeface="Times New Roman" panose="02020603050405020304" pitchFamily="18" charset="0"/>
              </a:rPr>
              <a:t> (Feature engineering and preprocessing); </a:t>
            </a:r>
            <a:r>
              <a:rPr lang="en-US" b="1" i="0" dirty="0">
                <a:solidFill>
                  <a:schemeClr val="tx1"/>
                </a:solidFill>
                <a:effectLst/>
                <a:latin typeface="Times New Roman" panose="02020603050405020304" pitchFamily="18" charset="0"/>
                <a:cs typeface="Times New Roman" panose="02020603050405020304" pitchFamily="18" charset="0"/>
              </a:rPr>
              <a:t>Apache Parquet</a:t>
            </a:r>
            <a:r>
              <a:rPr lang="en-US" b="0" i="0" dirty="0">
                <a:solidFill>
                  <a:schemeClr val="tx1"/>
                </a:solidFill>
                <a:effectLst/>
                <a:latin typeface="Times New Roman" panose="02020603050405020304" pitchFamily="18" charset="0"/>
                <a:cs typeface="Times New Roman" panose="02020603050405020304" pitchFamily="18" charset="0"/>
              </a:rPr>
              <a:t> (Efficient storage for multi-million row datasets).</a:t>
            </a: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AI Components:</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Sentence-Transformers</a:t>
            </a:r>
            <a:r>
              <a:rPr lang="en-US" b="0" i="0" dirty="0">
                <a:solidFill>
                  <a:schemeClr val="tx1"/>
                </a:solidFill>
                <a:effectLst/>
                <a:latin typeface="Times New Roman" panose="02020603050405020304" pitchFamily="18" charset="0"/>
                <a:cs typeface="Times New Roman" panose="02020603050405020304" pitchFamily="18" charset="0"/>
              </a:rPr>
              <a:t> (all-MiniLM-L6-v2) for generating report embeddings; </a:t>
            </a:r>
            <a:r>
              <a:rPr lang="en-US" b="1" i="0" dirty="0">
                <a:solidFill>
                  <a:schemeClr val="tx1"/>
                </a:solidFill>
                <a:effectLst/>
                <a:latin typeface="Times New Roman" panose="02020603050405020304" pitchFamily="18" charset="0"/>
                <a:cs typeface="Times New Roman" panose="02020603050405020304" pitchFamily="18" charset="0"/>
              </a:rPr>
              <a:t>Cross-Encoders</a:t>
            </a:r>
            <a:r>
              <a:rPr lang="en-US" b="0" i="0" dirty="0">
                <a:solidFill>
                  <a:schemeClr val="tx1"/>
                </a:solidFill>
                <a:effectLst/>
                <a:latin typeface="Times New Roman" panose="02020603050405020304" pitchFamily="18" charset="0"/>
                <a:cs typeface="Times New Roman" panose="02020603050405020304" pitchFamily="18" charset="0"/>
              </a:rPr>
              <a:t> for high-precision RAG reranking.</a:t>
            </a:r>
          </a:p>
          <a:p>
            <a:pPr marL="285750" indent="-285750" algn="l">
              <a:buFont typeface="Arial" panose="020B0604020202020204" pitchFamily="34" charset="0"/>
              <a:buChar char="•"/>
            </a:pPr>
            <a:r>
              <a:rPr lang="en-US" b="1" i="0" dirty="0">
                <a:solidFill>
                  <a:schemeClr val="tx1"/>
                </a:solidFill>
                <a:effectLst/>
                <a:latin typeface="Times New Roman" panose="02020603050405020304" pitchFamily="18" charset="0"/>
                <a:cs typeface="Times New Roman" panose="02020603050405020304" pitchFamily="18" charset="0"/>
              </a:rPr>
              <a:t>Evaluation:</a:t>
            </a:r>
            <a:r>
              <a:rPr lang="en-US" b="0" i="0" dirty="0">
                <a:solidFill>
                  <a:schemeClr val="tx1"/>
                </a:solidFill>
                <a:effectLst/>
                <a:latin typeface="Times New Roman" panose="02020603050405020304" pitchFamily="18" charset="0"/>
                <a:cs typeface="Times New Roman" panose="02020603050405020304" pitchFamily="18" charset="0"/>
              </a:rPr>
              <a:t> </a:t>
            </a:r>
            <a:r>
              <a:rPr lang="en-US" b="1" i="0" dirty="0">
                <a:solidFill>
                  <a:schemeClr val="tx1"/>
                </a:solidFill>
                <a:effectLst/>
                <a:latin typeface="Times New Roman" panose="02020603050405020304" pitchFamily="18" charset="0"/>
                <a:cs typeface="Times New Roman" panose="02020603050405020304" pitchFamily="18" charset="0"/>
              </a:rPr>
              <a:t>Scikit-learn</a:t>
            </a:r>
            <a:r>
              <a:rPr lang="en-US" b="0" i="0" dirty="0">
                <a:solidFill>
                  <a:schemeClr val="tx1"/>
                </a:solidFill>
                <a:effectLst/>
                <a:latin typeface="Times New Roman" panose="02020603050405020304" pitchFamily="18" charset="0"/>
                <a:cs typeface="Times New Roman" panose="02020603050405020304" pitchFamily="18" charset="0"/>
              </a:rPr>
              <a:t> (Accuracy, F1, Confusion Matrix); </a:t>
            </a:r>
            <a:r>
              <a:rPr lang="en-US" b="1" i="0" dirty="0" err="1">
                <a:solidFill>
                  <a:schemeClr val="tx1"/>
                </a:solidFill>
                <a:effectLst/>
                <a:latin typeface="Times New Roman" panose="02020603050405020304" pitchFamily="18" charset="0"/>
                <a:cs typeface="Times New Roman" panose="02020603050405020304" pitchFamily="18" charset="0"/>
              </a:rPr>
              <a:t>BERTScore</a:t>
            </a:r>
            <a:r>
              <a:rPr lang="en-US" b="0" i="0" dirty="0">
                <a:solidFill>
                  <a:schemeClr val="tx1"/>
                </a:solidFill>
                <a:effectLst/>
                <a:latin typeface="Times New Roman" panose="02020603050405020304" pitchFamily="18" charset="0"/>
                <a:cs typeface="Times New Roman" panose="02020603050405020304" pitchFamily="18" charset="0"/>
              </a:rPr>
              <a:t> (Semantic evaluation of LLM-generated reports).</a:t>
            </a:r>
          </a:p>
        </p:txBody>
      </p:sp>
    </p:spTree>
    <p:extLst>
      <p:ext uri="{BB962C8B-B14F-4D97-AF65-F5344CB8AC3E}">
        <p14:creationId xmlns:p14="http://schemas.microsoft.com/office/powerpoint/2010/main" val="132909571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69"/>
        <p:cNvGrpSpPr/>
        <p:nvPr/>
      </p:nvGrpSpPr>
      <p:grpSpPr>
        <a:xfrm>
          <a:off x="0" y="0"/>
          <a:ext cx="0" cy="0"/>
          <a:chOff x="0" y="0"/>
          <a:chExt cx="0" cy="0"/>
        </a:xfrm>
      </p:grpSpPr>
      <p:sp>
        <p:nvSpPr>
          <p:cNvPr id="2" name="object 8">
            <a:extLst>
              <a:ext uri="{FF2B5EF4-FFF2-40B4-BE49-F238E27FC236}">
                <a16:creationId xmlns:a16="http://schemas.microsoft.com/office/drawing/2014/main" id="{2395BE7A-9D0E-6337-F5A8-E3C5BA962028}"/>
              </a:ext>
            </a:extLst>
          </p:cNvPr>
          <p:cNvSpPr txBox="1">
            <a:spLocks noChangeArrowheads="1"/>
          </p:cNvSpPr>
          <p:nvPr/>
        </p:nvSpPr>
        <p:spPr bwMode="auto">
          <a:xfrm>
            <a:off x="2040466" y="375644"/>
            <a:ext cx="5063067" cy="3199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12065" rIns="0" bIns="0">
            <a:spAutoFit/>
          </a:bodyPr>
          <a:lstStyle>
            <a:lvl1pPr marL="12700">
              <a:spcBef>
                <a:spcPct val="20000"/>
              </a:spcBef>
              <a:defRPr>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defRPr>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defRPr>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defRPr>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defRPr>
                <a:solidFill>
                  <a:schemeClr val="tx1"/>
                </a:solidFill>
                <a:latin typeface="Calibri" panose="020F0502020204030204" pitchFamily="34" charset="0"/>
                <a:ea typeface="ＭＳ Ｐゴシック" panose="020B0600070205080204" pitchFamily="34" charset="-128"/>
              </a:defRPr>
            </a:lvl5pPr>
            <a:lvl6pPr marL="25146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6pPr>
            <a:lvl7pPr marL="29718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7pPr>
            <a:lvl8pPr marL="34290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8pPr>
            <a:lvl9pPr marL="3886200" indent="-228600" defTabSz="457200" eaLnBrk="0" fontAlgn="base" hangingPunct="0">
              <a:spcBef>
                <a:spcPct val="20000"/>
              </a:spcBef>
              <a:spcAft>
                <a:spcPct val="0"/>
              </a:spcAft>
              <a:defRPr>
                <a:solidFill>
                  <a:schemeClr val="tx1"/>
                </a:solidFill>
                <a:latin typeface="Calibri" panose="020F0502020204030204" pitchFamily="34" charset="0"/>
                <a:ea typeface="ＭＳ Ｐゴシック" panose="020B0600070205080204" pitchFamily="34" charset="-128"/>
              </a:defRPr>
            </a:lvl9pPr>
          </a:lstStyle>
          <a:p>
            <a:pPr algn="ctr">
              <a:spcBef>
                <a:spcPct val="0"/>
              </a:spcBef>
            </a:pPr>
            <a:r>
              <a:rPr lang="en-US" sz="2000" dirty="0">
                <a:solidFill>
                  <a:srgbClr val="FF0000"/>
                </a:solidFill>
              </a:rPr>
              <a:t>Identification of Relevant Journal / Conference</a:t>
            </a:r>
            <a:endParaRPr lang="en-US" altLang="en-US" sz="2000" dirty="0">
              <a:solidFill>
                <a:srgbClr val="FF0000"/>
              </a:solidFill>
            </a:endParaRPr>
          </a:p>
        </p:txBody>
      </p:sp>
      <p:graphicFrame>
        <p:nvGraphicFramePr>
          <p:cNvPr id="3" name="Table 2">
            <a:extLst>
              <a:ext uri="{FF2B5EF4-FFF2-40B4-BE49-F238E27FC236}">
                <a16:creationId xmlns:a16="http://schemas.microsoft.com/office/drawing/2014/main" id="{7FE593E6-3C8D-D57B-698F-507B614DC3E7}"/>
              </a:ext>
            </a:extLst>
          </p:cNvPr>
          <p:cNvGraphicFramePr>
            <a:graphicFrameLocks noGrp="1"/>
          </p:cNvGraphicFramePr>
          <p:nvPr>
            <p:extLst>
              <p:ext uri="{D42A27DB-BD31-4B8C-83A1-F6EECF244321}">
                <p14:modId xmlns:p14="http://schemas.microsoft.com/office/powerpoint/2010/main" val="2299818672"/>
              </p:ext>
            </p:extLst>
          </p:nvPr>
        </p:nvGraphicFramePr>
        <p:xfrm>
          <a:off x="313509" y="1018903"/>
          <a:ext cx="8412480" cy="4007542"/>
        </p:xfrm>
        <a:graphic>
          <a:graphicData uri="http://schemas.openxmlformats.org/drawingml/2006/table">
            <a:tbl>
              <a:tblPr>
                <a:tableStyleId>{21E4AEA4-8DFA-4A89-87EB-49C32662AFE0}</a:tableStyleId>
              </a:tblPr>
              <a:tblGrid>
                <a:gridCol w="1402080">
                  <a:extLst>
                    <a:ext uri="{9D8B030D-6E8A-4147-A177-3AD203B41FA5}">
                      <a16:colId xmlns:a16="http://schemas.microsoft.com/office/drawing/2014/main" val="2430742009"/>
                    </a:ext>
                  </a:extLst>
                </a:gridCol>
                <a:gridCol w="1402080">
                  <a:extLst>
                    <a:ext uri="{9D8B030D-6E8A-4147-A177-3AD203B41FA5}">
                      <a16:colId xmlns:a16="http://schemas.microsoft.com/office/drawing/2014/main" val="248371534"/>
                    </a:ext>
                  </a:extLst>
                </a:gridCol>
                <a:gridCol w="1402080">
                  <a:extLst>
                    <a:ext uri="{9D8B030D-6E8A-4147-A177-3AD203B41FA5}">
                      <a16:colId xmlns:a16="http://schemas.microsoft.com/office/drawing/2014/main" val="1144691553"/>
                    </a:ext>
                  </a:extLst>
                </a:gridCol>
                <a:gridCol w="1402080">
                  <a:extLst>
                    <a:ext uri="{9D8B030D-6E8A-4147-A177-3AD203B41FA5}">
                      <a16:colId xmlns:a16="http://schemas.microsoft.com/office/drawing/2014/main" val="2372981738"/>
                    </a:ext>
                  </a:extLst>
                </a:gridCol>
                <a:gridCol w="1402080">
                  <a:extLst>
                    <a:ext uri="{9D8B030D-6E8A-4147-A177-3AD203B41FA5}">
                      <a16:colId xmlns:a16="http://schemas.microsoft.com/office/drawing/2014/main" val="1248945130"/>
                    </a:ext>
                  </a:extLst>
                </a:gridCol>
                <a:gridCol w="1402080">
                  <a:extLst>
                    <a:ext uri="{9D8B030D-6E8A-4147-A177-3AD203B41FA5}">
                      <a16:colId xmlns:a16="http://schemas.microsoft.com/office/drawing/2014/main" val="574766589"/>
                    </a:ext>
                  </a:extLst>
                </a:gridCol>
              </a:tblGrid>
              <a:tr h="163764">
                <a:tc>
                  <a:txBody>
                    <a:bodyPr/>
                    <a:lstStyle/>
                    <a:p>
                      <a:pPr algn="l">
                        <a:buNone/>
                      </a:pPr>
                      <a:r>
                        <a:rPr lang="en-US" sz="800" b="0">
                          <a:ln>
                            <a:noFill/>
                          </a:ln>
                          <a:solidFill>
                            <a:schemeClr val="tx1"/>
                          </a:solidFill>
                          <a:effectLst/>
                        </a:rPr>
                        <a:t>#</a:t>
                      </a:r>
                    </a:p>
                  </a:txBody>
                  <a:tcPr marL="30233" marR="30233" marT="15116" marB="15116" anchor="ctr"/>
                </a:tc>
                <a:tc>
                  <a:txBody>
                    <a:bodyPr/>
                    <a:lstStyle/>
                    <a:p>
                      <a:pPr algn="l">
                        <a:buNone/>
                      </a:pPr>
                      <a:r>
                        <a:rPr lang="en-US" sz="800" b="0">
                          <a:ln>
                            <a:noFill/>
                          </a:ln>
                          <a:solidFill>
                            <a:schemeClr val="tx1"/>
                          </a:solidFill>
                          <a:effectLst/>
                        </a:rPr>
                        <a:t>Journal Name</a:t>
                      </a:r>
                    </a:p>
                  </a:txBody>
                  <a:tcPr marL="30233" marR="30233" marT="15116" marB="15116" anchor="ctr"/>
                </a:tc>
                <a:tc>
                  <a:txBody>
                    <a:bodyPr/>
                    <a:lstStyle/>
                    <a:p>
                      <a:pPr algn="l">
                        <a:buNone/>
                      </a:pPr>
                      <a:r>
                        <a:rPr lang="en-US" sz="800" b="0">
                          <a:ln>
                            <a:noFill/>
                          </a:ln>
                          <a:solidFill>
                            <a:schemeClr val="tx1"/>
                          </a:solidFill>
                          <a:effectLst/>
                        </a:rPr>
                        <a:t>Publisher</a:t>
                      </a:r>
                    </a:p>
                  </a:txBody>
                  <a:tcPr marL="30233" marR="30233" marT="15116" marB="15116" anchor="ctr"/>
                </a:tc>
                <a:tc>
                  <a:txBody>
                    <a:bodyPr/>
                    <a:lstStyle/>
                    <a:p>
                      <a:pPr algn="l">
                        <a:buNone/>
                      </a:pPr>
                      <a:r>
                        <a:rPr lang="en-US" sz="800" b="0">
                          <a:ln>
                            <a:noFill/>
                          </a:ln>
                          <a:solidFill>
                            <a:schemeClr val="tx1"/>
                          </a:solidFill>
                          <a:effectLst/>
                        </a:rPr>
                        <a:t>ISSN</a:t>
                      </a:r>
                    </a:p>
                  </a:txBody>
                  <a:tcPr marL="30233" marR="30233" marT="15116" marB="15116" anchor="ctr"/>
                </a:tc>
                <a:tc>
                  <a:txBody>
                    <a:bodyPr/>
                    <a:lstStyle/>
                    <a:p>
                      <a:pPr algn="l">
                        <a:buNone/>
                      </a:pPr>
                      <a:r>
                        <a:rPr lang="en-US" sz="800" b="0">
                          <a:ln>
                            <a:noFill/>
                          </a:ln>
                          <a:solidFill>
                            <a:schemeClr val="tx1"/>
                          </a:solidFill>
                          <a:effectLst/>
                        </a:rPr>
                        <a:t>Scope Fit</a:t>
                      </a:r>
                    </a:p>
                  </a:txBody>
                  <a:tcPr marL="30233" marR="30233" marT="15116" marB="15116" anchor="ctr"/>
                </a:tc>
                <a:tc>
                  <a:txBody>
                    <a:bodyPr/>
                    <a:lstStyle/>
                    <a:p>
                      <a:pPr algn="l">
                        <a:buNone/>
                      </a:pPr>
                      <a:r>
                        <a:rPr lang="en-US" sz="800" b="0">
                          <a:ln>
                            <a:noFill/>
                          </a:ln>
                          <a:solidFill>
                            <a:schemeClr val="tx1"/>
                          </a:solidFill>
                          <a:effectLst/>
                        </a:rPr>
                        <a:t>Link</a:t>
                      </a:r>
                    </a:p>
                  </a:txBody>
                  <a:tcPr marL="30233" marR="30233" marT="15116" marB="15116" anchor="ctr"/>
                </a:tc>
                <a:extLst>
                  <a:ext uri="{0D108BD9-81ED-4DB2-BD59-A6C34878D82A}">
                    <a16:rowId xmlns:a16="http://schemas.microsoft.com/office/drawing/2014/main" val="1354637382"/>
                  </a:ext>
                </a:extLst>
              </a:tr>
              <a:tr h="587250">
                <a:tc>
                  <a:txBody>
                    <a:bodyPr/>
                    <a:lstStyle/>
                    <a:p>
                      <a:pPr algn="l">
                        <a:buNone/>
                      </a:pPr>
                      <a:r>
                        <a:rPr lang="en-US" sz="800">
                          <a:ln>
                            <a:noFill/>
                          </a:ln>
                          <a:solidFill>
                            <a:schemeClr val="tx1"/>
                          </a:solidFill>
                          <a:effectLst/>
                        </a:rPr>
                        <a:t>1</a:t>
                      </a:r>
                    </a:p>
                  </a:txBody>
                  <a:tcPr marL="30233" marR="30233" marT="15116" marB="15116" anchor="ctr"/>
                </a:tc>
                <a:tc>
                  <a:txBody>
                    <a:bodyPr/>
                    <a:lstStyle/>
                    <a:p>
                      <a:pPr algn="l">
                        <a:buNone/>
                      </a:pPr>
                      <a:r>
                        <a:rPr lang="en-US" sz="800" b="1">
                          <a:ln>
                            <a:noFill/>
                          </a:ln>
                          <a:solidFill>
                            <a:schemeClr val="tx1"/>
                          </a:solidFill>
                          <a:effectLst/>
                        </a:rPr>
                        <a:t>IEEE Transactions on Information Forensics and Security (TIFS)</a:t>
                      </a:r>
                      <a:endParaRPr lang="en-US" sz="80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IEEE</a:t>
                      </a:r>
                    </a:p>
                  </a:txBody>
                  <a:tcPr marL="30233" marR="30233" marT="15116" marB="15116" anchor="ctr"/>
                </a:tc>
                <a:tc>
                  <a:txBody>
                    <a:bodyPr/>
                    <a:lstStyle/>
                    <a:p>
                      <a:pPr algn="l">
                        <a:buNone/>
                      </a:pPr>
                      <a:r>
                        <a:rPr lang="en-US" sz="800">
                          <a:ln>
                            <a:noFill/>
                          </a:ln>
                          <a:solidFill>
                            <a:schemeClr val="tx1"/>
                          </a:solidFill>
                          <a:effectLst/>
                        </a:rPr>
                        <a:t>1556-6013</a:t>
                      </a:r>
                    </a:p>
                  </a:txBody>
                  <a:tcPr marL="30233" marR="30233" marT="15116" marB="15116" anchor="ctr"/>
                </a:tc>
                <a:tc>
                  <a:txBody>
                    <a:bodyPr/>
                    <a:lstStyle/>
                    <a:p>
                      <a:pPr algn="l">
                        <a:buNone/>
                      </a:pPr>
                      <a:r>
                        <a:rPr lang="en-US" sz="800">
                          <a:ln>
                            <a:noFill/>
                          </a:ln>
                          <a:solidFill>
                            <a:schemeClr val="tx1"/>
                          </a:solidFill>
                          <a:effectLst/>
                        </a:rPr>
                        <a:t>High fit for </a:t>
                      </a:r>
                      <a:r>
                        <a:rPr lang="en-US" sz="800" b="1">
                          <a:ln>
                            <a:noFill/>
                          </a:ln>
                          <a:solidFill>
                            <a:schemeClr val="tx1"/>
                          </a:solidFill>
                          <a:effectLst/>
                        </a:rPr>
                        <a:t>Federated Learning</a:t>
                      </a:r>
                      <a:r>
                        <a:rPr lang="en-US" sz="800">
                          <a:ln>
                            <a:noFill/>
                          </a:ln>
                          <a:solidFill>
                            <a:schemeClr val="tx1"/>
                          </a:solidFill>
                          <a:effectLst/>
                        </a:rPr>
                        <a:t> and </a:t>
                      </a:r>
                      <a:r>
                        <a:rPr lang="en-US" sz="800" b="1">
                          <a:ln>
                            <a:noFill/>
                          </a:ln>
                          <a:solidFill>
                            <a:schemeClr val="tx1"/>
                          </a:solidFill>
                          <a:effectLst/>
                        </a:rPr>
                        <a:t>Differential Privacy</a:t>
                      </a:r>
                      <a:r>
                        <a:rPr lang="en-US" sz="800">
                          <a:ln>
                            <a:noFill/>
                          </a:ln>
                          <a:solidFill>
                            <a:schemeClr val="tx1"/>
                          </a:solidFill>
                          <a:effectLst/>
                        </a:rPr>
                        <a:t> research.</a:t>
                      </a:r>
                    </a:p>
                  </a:txBody>
                  <a:tcPr marL="30233" marR="30233" marT="15116" marB="15116" anchor="ctr"/>
                </a:tc>
                <a:tc>
                  <a:txBody>
                    <a:bodyPr/>
                    <a:lstStyle/>
                    <a:p>
                      <a:pPr algn="l">
                        <a:buNone/>
                      </a:pPr>
                      <a:r>
                        <a:rPr lang="en-US" sz="800" dirty="0">
                          <a:ln>
                            <a:noFill/>
                          </a:ln>
                          <a:solidFill>
                            <a:schemeClr val="tx1"/>
                          </a:solidFill>
                          <a:effectLst/>
                          <a:hlinkClick r:id="rId3">
                            <a:extLst>
                              <a:ext uri="{A12FA001-AC4F-418D-AE19-62706E023703}">
                                <ahyp:hlinkClr xmlns:ahyp="http://schemas.microsoft.com/office/drawing/2018/hyperlinkcolor" val="tx"/>
                              </a:ext>
                            </a:extLst>
                          </a:hlinkClick>
                        </a:rPr>
                        <a:t>Link</a:t>
                      </a:r>
                      <a:endParaRPr lang="en-US" sz="800" dirty="0">
                        <a:ln>
                          <a:noFill/>
                        </a:ln>
                        <a:solidFill>
                          <a:schemeClr val="tx1"/>
                        </a:solidFill>
                        <a:effectLst/>
                      </a:endParaRPr>
                    </a:p>
                  </a:txBody>
                  <a:tcPr marL="30233" marR="30233" marT="15116" marB="15116" anchor="ctr"/>
                </a:tc>
                <a:extLst>
                  <a:ext uri="{0D108BD9-81ED-4DB2-BD59-A6C34878D82A}">
                    <a16:rowId xmlns:a16="http://schemas.microsoft.com/office/drawing/2014/main" val="680772215"/>
                  </a:ext>
                </a:extLst>
              </a:tr>
              <a:tr h="508197">
                <a:tc>
                  <a:txBody>
                    <a:bodyPr/>
                    <a:lstStyle/>
                    <a:p>
                      <a:pPr algn="l">
                        <a:buNone/>
                      </a:pPr>
                      <a:r>
                        <a:rPr lang="en-US" sz="800">
                          <a:ln>
                            <a:noFill/>
                          </a:ln>
                          <a:solidFill>
                            <a:schemeClr val="tx1"/>
                          </a:solidFill>
                          <a:effectLst/>
                        </a:rPr>
                        <a:t>2</a:t>
                      </a:r>
                    </a:p>
                  </a:txBody>
                  <a:tcPr marL="30233" marR="30233" marT="15116" marB="15116" anchor="ctr"/>
                </a:tc>
                <a:tc>
                  <a:txBody>
                    <a:bodyPr/>
                    <a:lstStyle/>
                    <a:p>
                      <a:pPr algn="l">
                        <a:buNone/>
                      </a:pPr>
                      <a:r>
                        <a:rPr lang="en-US" sz="800" b="1">
                          <a:ln>
                            <a:noFill/>
                          </a:ln>
                          <a:solidFill>
                            <a:schemeClr val="tx1"/>
                          </a:solidFill>
                          <a:effectLst/>
                        </a:rPr>
                        <a:t>Computers &amp; Security</a:t>
                      </a:r>
                      <a:endParaRPr lang="en-US" sz="80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Elsevier</a:t>
                      </a:r>
                    </a:p>
                  </a:txBody>
                  <a:tcPr marL="30233" marR="30233" marT="15116" marB="15116" anchor="ctr"/>
                </a:tc>
                <a:tc>
                  <a:txBody>
                    <a:bodyPr/>
                    <a:lstStyle/>
                    <a:p>
                      <a:pPr algn="l">
                        <a:buNone/>
                      </a:pPr>
                      <a:r>
                        <a:rPr lang="en-US" sz="800">
                          <a:ln>
                            <a:noFill/>
                          </a:ln>
                          <a:solidFill>
                            <a:schemeClr val="tx1"/>
                          </a:solidFill>
                          <a:effectLst/>
                        </a:rPr>
                        <a:t>0167-4048</a:t>
                      </a:r>
                    </a:p>
                  </a:txBody>
                  <a:tcPr marL="30233" marR="30233" marT="15116" marB="15116" anchor="ctr"/>
                </a:tc>
                <a:tc>
                  <a:txBody>
                    <a:bodyPr/>
                    <a:lstStyle/>
                    <a:p>
                      <a:pPr algn="l">
                        <a:buNone/>
                      </a:pPr>
                      <a:r>
                        <a:rPr lang="en-US" sz="800">
                          <a:ln>
                            <a:noFill/>
                          </a:ln>
                          <a:solidFill>
                            <a:schemeClr val="tx1"/>
                          </a:solidFill>
                          <a:effectLst/>
                        </a:rPr>
                        <a:t>Strong fit for </a:t>
                      </a:r>
                      <a:r>
                        <a:rPr lang="en-US" sz="800" b="1">
                          <a:ln>
                            <a:noFill/>
                          </a:ln>
                          <a:solidFill>
                            <a:schemeClr val="tx1"/>
                          </a:solidFill>
                          <a:effectLst/>
                        </a:rPr>
                        <a:t>Intrusion Detection (IDS)</a:t>
                      </a:r>
                      <a:r>
                        <a:rPr lang="en-US" sz="800">
                          <a:ln>
                            <a:noFill/>
                          </a:ln>
                          <a:solidFill>
                            <a:schemeClr val="tx1"/>
                          </a:solidFill>
                          <a:effectLst/>
                        </a:rPr>
                        <a:t> and practical Zero-Day defense.</a:t>
                      </a:r>
                    </a:p>
                  </a:txBody>
                  <a:tcPr marL="30233" marR="30233" marT="15116" marB="15116" anchor="ctr"/>
                </a:tc>
                <a:tc>
                  <a:txBody>
                    <a:bodyPr/>
                    <a:lstStyle/>
                    <a:p>
                      <a:pPr algn="l">
                        <a:buNone/>
                      </a:pPr>
                      <a:r>
                        <a:rPr lang="en-US" sz="800" dirty="0">
                          <a:ln>
                            <a:noFill/>
                          </a:ln>
                          <a:solidFill>
                            <a:schemeClr val="tx1"/>
                          </a:solidFill>
                          <a:effectLst/>
                          <a:hlinkClick r:id="rId4">
                            <a:extLst>
                              <a:ext uri="{A12FA001-AC4F-418D-AE19-62706E023703}">
                                <ahyp:hlinkClr xmlns:ahyp="http://schemas.microsoft.com/office/drawing/2018/hyperlinkcolor" val="tx"/>
                              </a:ext>
                            </a:extLst>
                          </a:hlinkClick>
                        </a:rPr>
                        <a:t>Link</a:t>
                      </a:r>
                      <a:endParaRPr lang="en-US" sz="800" dirty="0">
                        <a:ln>
                          <a:noFill/>
                        </a:ln>
                        <a:solidFill>
                          <a:schemeClr val="tx1"/>
                        </a:solidFill>
                        <a:effectLst/>
                      </a:endParaRPr>
                    </a:p>
                  </a:txBody>
                  <a:tcPr marL="30233" marR="30233" marT="15116" marB="15116" anchor="ctr"/>
                </a:tc>
                <a:extLst>
                  <a:ext uri="{0D108BD9-81ED-4DB2-BD59-A6C34878D82A}">
                    <a16:rowId xmlns:a16="http://schemas.microsoft.com/office/drawing/2014/main" val="3495180953"/>
                  </a:ext>
                </a:extLst>
              </a:tr>
              <a:tr h="508197">
                <a:tc>
                  <a:txBody>
                    <a:bodyPr/>
                    <a:lstStyle/>
                    <a:p>
                      <a:pPr algn="l">
                        <a:buNone/>
                      </a:pPr>
                      <a:r>
                        <a:rPr lang="en-US" sz="800">
                          <a:ln>
                            <a:noFill/>
                          </a:ln>
                          <a:solidFill>
                            <a:schemeClr val="tx1"/>
                          </a:solidFill>
                          <a:effectLst/>
                        </a:rPr>
                        <a:t>3</a:t>
                      </a:r>
                    </a:p>
                  </a:txBody>
                  <a:tcPr marL="30233" marR="30233" marT="15116" marB="15116" anchor="ctr"/>
                </a:tc>
                <a:tc>
                  <a:txBody>
                    <a:bodyPr/>
                    <a:lstStyle/>
                    <a:p>
                      <a:pPr algn="l">
                        <a:buNone/>
                      </a:pPr>
                      <a:r>
                        <a:rPr lang="en-US" sz="800" b="1">
                          <a:ln>
                            <a:noFill/>
                          </a:ln>
                          <a:solidFill>
                            <a:schemeClr val="tx1"/>
                          </a:solidFill>
                          <a:effectLst/>
                        </a:rPr>
                        <a:t>IEEE Access</a:t>
                      </a:r>
                      <a:endParaRPr lang="en-US" sz="80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IEEE</a:t>
                      </a:r>
                    </a:p>
                  </a:txBody>
                  <a:tcPr marL="30233" marR="30233" marT="15116" marB="15116" anchor="ctr"/>
                </a:tc>
                <a:tc>
                  <a:txBody>
                    <a:bodyPr/>
                    <a:lstStyle/>
                    <a:p>
                      <a:pPr algn="l">
                        <a:buNone/>
                      </a:pPr>
                      <a:r>
                        <a:rPr lang="en-US" sz="800" dirty="0">
                          <a:ln>
                            <a:noFill/>
                          </a:ln>
                          <a:solidFill>
                            <a:schemeClr val="tx1"/>
                          </a:solidFill>
                          <a:effectLst/>
                        </a:rPr>
                        <a:t>2169-3536</a:t>
                      </a:r>
                    </a:p>
                  </a:txBody>
                  <a:tcPr marL="30233" marR="30233" marT="15116" marB="15116" anchor="ctr"/>
                </a:tc>
                <a:tc>
                  <a:txBody>
                    <a:bodyPr/>
                    <a:lstStyle/>
                    <a:p>
                      <a:pPr algn="l">
                        <a:buNone/>
                      </a:pPr>
                      <a:r>
                        <a:rPr lang="en-US" sz="800">
                          <a:ln>
                            <a:noFill/>
                          </a:ln>
                          <a:solidFill>
                            <a:schemeClr val="tx1"/>
                          </a:solidFill>
                          <a:effectLst/>
                        </a:rPr>
                        <a:t>Ideal for multi-disciplinary work involving </a:t>
                      </a:r>
                      <a:r>
                        <a:rPr lang="en-US" sz="800" b="1">
                          <a:ln>
                            <a:noFill/>
                          </a:ln>
                          <a:solidFill>
                            <a:schemeClr val="tx1"/>
                          </a:solidFill>
                          <a:effectLst/>
                        </a:rPr>
                        <a:t>LLMs (RAG)</a:t>
                      </a:r>
                      <a:r>
                        <a:rPr lang="en-US" sz="800">
                          <a:ln>
                            <a:noFill/>
                          </a:ln>
                          <a:solidFill>
                            <a:schemeClr val="tx1"/>
                          </a:solidFill>
                          <a:effectLst/>
                        </a:rPr>
                        <a:t> and Cyber-AI.</a:t>
                      </a:r>
                    </a:p>
                  </a:txBody>
                  <a:tcPr marL="30233" marR="30233" marT="15116" marB="15116" anchor="ctr"/>
                </a:tc>
                <a:tc>
                  <a:txBody>
                    <a:bodyPr/>
                    <a:lstStyle/>
                    <a:p>
                      <a:pPr algn="l">
                        <a:buNone/>
                      </a:pPr>
                      <a:r>
                        <a:rPr lang="en-US" sz="800" dirty="0">
                          <a:ln>
                            <a:noFill/>
                          </a:ln>
                          <a:solidFill>
                            <a:schemeClr val="tx1"/>
                          </a:solidFill>
                          <a:effectLst/>
                          <a:hlinkClick r:id="rId5">
                            <a:extLst>
                              <a:ext uri="{A12FA001-AC4F-418D-AE19-62706E023703}">
                                <ahyp:hlinkClr xmlns:ahyp="http://schemas.microsoft.com/office/drawing/2018/hyperlinkcolor" val="tx"/>
                              </a:ext>
                            </a:extLst>
                          </a:hlinkClick>
                        </a:rPr>
                        <a:t>Link</a:t>
                      </a:r>
                      <a:endParaRPr lang="en-US" sz="800" dirty="0">
                        <a:ln>
                          <a:noFill/>
                        </a:ln>
                        <a:solidFill>
                          <a:schemeClr val="tx1"/>
                        </a:solidFill>
                        <a:effectLst/>
                      </a:endParaRPr>
                    </a:p>
                  </a:txBody>
                  <a:tcPr marL="30233" marR="30233" marT="15116" marB="15116" anchor="ctr"/>
                </a:tc>
                <a:extLst>
                  <a:ext uri="{0D108BD9-81ED-4DB2-BD59-A6C34878D82A}">
                    <a16:rowId xmlns:a16="http://schemas.microsoft.com/office/drawing/2014/main" val="3019457274"/>
                  </a:ext>
                </a:extLst>
              </a:tr>
              <a:tr h="587250">
                <a:tc>
                  <a:txBody>
                    <a:bodyPr/>
                    <a:lstStyle/>
                    <a:p>
                      <a:pPr algn="l">
                        <a:buNone/>
                      </a:pPr>
                      <a:r>
                        <a:rPr lang="en-US" sz="800">
                          <a:ln>
                            <a:noFill/>
                          </a:ln>
                          <a:solidFill>
                            <a:schemeClr val="tx1"/>
                          </a:solidFill>
                          <a:effectLst/>
                        </a:rPr>
                        <a:t>4</a:t>
                      </a:r>
                    </a:p>
                  </a:txBody>
                  <a:tcPr marL="30233" marR="30233" marT="15116" marB="15116" anchor="ctr"/>
                </a:tc>
                <a:tc>
                  <a:txBody>
                    <a:bodyPr/>
                    <a:lstStyle/>
                    <a:p>
                      <a:pPr algn="l">
                        <a:buNone/>
                      </a:pPr>
                      <a:r>
                        <a:rPr lang="en-US" sz="800" b="1" dirty="0">
                          <a:ln>
                            <a:noFill/>
                          </a:ln>
                          <a:solidFill>
                            <a:schemeClr val="tx1"/>
                          </a:solidFill>
                          <a:effectLst/>
                        </a:rPr>
                        <a:t>IEEE Transactions on Network and Service Management (TNSM)</a:t>
                      </a:r>
                      <a:endParaRPr lang="en-US" sz="800" dirty="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IEEE</a:t>
                      </a:r>
                    </a:p>
                  </a:txBody>
                  <a:tcPr marL="30233" marR="30233" marT="15116" marB="15116" anchor="ctr"/>
                </a:tc>
                <a:tc>
                  <a:txBody>
                    <a:bodyPr/>
                    <a:lstStyle/>
                    <a:p>
                      <a:pPr algn="l">
                        <a:buNone/>
                      </a:pPr>
                      <a:r>
                        <a:rPr lang="en-US" sz="800">
                          <a:ln>
                            <a:noFill/>
                          </a:ln>
                          <a:solidFill>
                            <a:schemeClr val="tx1"/>
                          </a:solidFill>
                          <a:effectLst/>
                        </a:rPr>
                        <a:t>1932-4537</a:t>
                      </a:r>
                    </a:p>
                  </a:txBody>
                  <a:tcPr marL="30233" marR="30233" marT="15116" marB="15116" anchor="ctr"/>
                </a:tc>
                <a:tc>
                  <a:txBody>
                    <a:bodyPr/>
                    <a:lstStyle/>
                    <a:p>
                      <a:pPr algn="l">
                        <a:buNone/>
                      </a:pPr>
                      <a:r>
                        <a:rPr lang="en-US" sz="800">
                          <a:ln>
                            <a:noFill/>
                          </a:ln>
                          <a:solidFill>
                            <a:schemeClr val="tx1"/>
                          </a:solidFill>
                          <a:effectLst/>
                        </a:rPr>
                        <a:t>Fits the </a:t>
                      </a:r>
                      <a:r>
                        <a:rPr lang="en-US" sz="800" b="1">
                          <a:ln>
                            <a:noFill/>
                          </a:ln>
                          <a:solidFill>
                            <a:schemeClr val="tx1"/>
                          </a:solidFill>
                          <a:effectLst/>
                        </a:rPr>
                        <a:t>Immunity Engine</a:t>
                      </a:r>
                      <a:r>
                        <a:rPr lang="en-US" sz="800">
                          <a:ln>
                            <a:noFill/>
                          </a:ln>
                          <a:solidFill>
                            <a:schemeClr val="tx1"/>
                          </a:solidFill>
                          <a:effectLst/>
                        </a:rPr>
                        <a:t> and automated cross-org threat management.</a:t>
                      </a:r>
                    </a:p>
                  </a:txBody>
                  <a:tcPr marL="30233" marR="30233" marT="15116" marB="15116" anchor="ctr"/>
                </a:tc>
                <a:tc>
                  <a:txBody>
                    <a:bodyPr/>
                    <a:lstStyle/>
                    <a:p>
                      <a:pPr algn="l">
                        <a:buNone/>
                      </a:pPr>
                      <a:r>
                        <a:rPr lang="en-US" sz="800" dirty="0">
                          <a:ln>
                            <a:noFill/>
                          </a:ln>
                          <a:solidFill>
                            <a:schemeClr val="tx1"/>
                          </a:solidFill>
                          <a:effectLst/>
                          <a:hlinkClick r:id="rId6">
                            <a:extLst>
                              <a:ext uri="{A12FA001-AC4F-418D-AE19-62706E023703}">
                                <ahyp:hlinkClr xmlns:ahyp="http://schemas.microsoft.com/office/drawing/2018/hyperlinkcolor" val="tx"/>
                              </a:ext>
                            </a:extLst>
                          </a:hlinkClick>
                        </a:rPr>
                        <a:t>Link</a:t>
                      </a:r>
                      <a:endParaRPr lang="en-US" sz="800" dirty="0">
                        <a:ln>
                          <a:noFill/>
                        </a:ln>
                        <a:solidFill>
                          <a:schemeClr val="tx1"/>
                        </a:solidFill>
                        <a:effectLst/>
                      </a:endParaRPr>
                    </a:p>
                  </a:txBody>
                  <a:tcPr marL="30233" marR="30233" marT="15116" marB="15116" anchor="ctr"/>
                </a:tc>
                <a:extLst>
                  <a:ext uri="{0D108BD9-81ED-4DB2-BD59-A6C34878D82A}">
                    <a16:rowId xmlns:a16="http://schemas.microsoft.com/office/drawing/2014/main" val="3818013010"/>
                  </a:ext>
                </a:extLst>
              </a:tr>
              <a:tr h="508197">
                <a:tc>
                  <a:txBody>
                    <a:bodyPr/>
                    <a:lstStyle/>
                    <a:p>
                      <a:pPr algn="l">
                        <a:buNone/>
                      </a:pPr>
                      <a:r>
                        <a:rPr lang="en-US" sz="800">
                          <a:ln>
                            <a:noFill/>
                          </a:ln>
                          <a:solidFill>
                            <a:schemeClr val="tx1"/>
                          </a:solidFill>
                          <a:effectLst/>
                        </a:rPr>
                        <a:t>5</a:t>
                      </a:r>
                    </a:p>
                  </a:txBody>
                  <a:tcPr marL="30233" marR="30233" marT="15116" marB="15116" anchor="ctr"/>
                </a:tc>
                <a:tc>
                  <a:txBody>
                    <a:bodyPr/>
                    <a:lstStyle/>
                    <a:p>
                      <a:pPr algn="l">
                        <a:buNone/>
                      </a:pPr>
                      <a:r>
                        <a:rPr lang="en-US" sz="800" b="1" dirty="0">
                          <a:ln>
                            <a:noFill/>
                          </a:ln>
                          <a:solidFill>
                            <a:schemeClr val="tx1"/>
                          </a:solidFill>
                          <a:effectLst/>
                        </a:rPr>
                        <a:t>Journal of Information Security and Applications (JISA)</a:t>
                      </a:r>
                      <a:endParaRPr lang="en-US" sz="800" dirty="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Elsevier</a:t>
                      </a:r>
                    </a:p>
                  </a:txBody>
                  <a:tcPr marL="30233" marR="30233" marT="15116" marB="15116" anchor="ctr"/>
                </a:tc>
                <a:tc>
                  <a:txBody>
                    <a:bodyPr/>
                    <a:lstStyle/>
                    <a:p>
                      <a:pPr algn="l">
                        <a:buNone/>
                      </a:pPr>
                      <a:r>
                        <a:rPr lang="en-US" sz="800">
                          <a:ln>
                            <a:noFill/>
                          </a:ln>
                          <a:solidFill>
                            <a:schemeClr val="tx1"/>
                          </a:solidFill>
                          <a:effectLst/>
                        </a:rPr>
                        <a:t>2214-2126</a:t>
                      </a:r>
                    </a:p>
                  </a:txBody>
                  <a:tcPr marL="30233" marR="30233" marT="15116" marB="15116" anchor="ctr"/>
                </a:tc>
                <a:tc>
                  <a:txBody>
                    <a:bodyPr/>
                    <a:lstStyle/>
                    <a:p>
                      <a:pPr algn="l">
                        <a:buNone/>
                      </a:pPr>
                      <a:r>
                        <a:rPr lang="en-US" sz="800">
                          <a:ln>
                            <a:noFill/>
                          </a:ln>
                          <a:solidFill>
                            <a:schemeClr val="tx1"/>
                          </a:solidFill>
                          <a:effectLst/>
                        </a:rPr>
                        <a:t>Focuses on </a:t>
                      </a:r>
                      <a:r>
                        <a:rPr lang="en-US" sz="800" b="1">
                          <a:ln>
                            <a:noFill/>
                          </a:ln>
                          <a:solidFill>
                            <a:schemeClr val="tx1"/>
                          </a:solidFill>
                          <a:effectLst/>
                        </a:rPr>
                        <a:t>Privacy-Preserving</a:t>
                      </a:r>
                      <a:r>
                        <a:rPr lang="en-US" sz="800">
                          <a:ln>
                            <a:noFill/>
                          </a:ln>
                          <a:solidFill>
                            <a:schemeClr val="tx1"/>
                          </a:solidFill>
                          <a:effectLst/>
                        </a:rPr>
                        <a:t> applications and data sanitization.</a:t>
                      </a:r>
                    </a:p>
                  </a:txBody>
                  <a:tcPr marL="30233" marR="30233" marT="15116" marB="15116" anchor="ctr"/>
                </a:tc>
                <a:tc>
                  <a:txBody>
                    <a:bodyPr/>
                    <a:lstStyle/>
                    <a:p>
                      <a:pPr algn="l">
                        <a:buNone/>
                      </a:pPr>
                      <a:r>
                        <a:rPr lang="en-US" sz="800">
                          <a:ln>
                            <a:noFill/>
                          </a:ln>
                          <a:solidFill>
                            <a:schemeClr val="tx1"/>
                          </a:solidFill>
                          <a:effectLst/>
                          <a:hlinkClick r:id="rId7">
                            <a:extLst>
                              <a:ext uri="{A12FA001-AC4F-418D-AE19-62706E023703}">
                                <ahyp:hlinkClr xmlns:ahyp="http://schemas.microsoft.com/office/drawing/2018/hyperlinkcolor" val="tx"/>
                              </a:ext>
                            </a:extLst>
                          </a:hlinkClick>
                        </a:rPr>
                        <a:t>Link</a:t>
                      </a:r>
                      <a:endParaRPr lang="en-US" sz="800">
                        <a:ln>
                          <a:noFill/>
                        </a:ln>
                        <a:solidFill>
                          <a:schemeClr val="tx1"/>
                        </a:solidFill>
                        <a:effectLst/>
                      </a:endParaRPr>
                    </a:p>
                  </a:txBody>
                  <a:tcPr marL="30233" marR="30233" marT="15116" marB="15116" anchor="ctr"/>
                </a:tc>
                <a:extLst>
                  <a:ext uri="{0D108BD9-81ED-4DB2-BD59-A6C34878D82A}">
                    <a16:rowId xmlns:a16="http://schemas.microsoft.com/office/drawing/2014/main" val="2735130655"/>
                  </a:ext>
                </a:extLst>
              </a:tr>
              <a:tr h="587250">
                <a:tc>
                  <a:txBody>
                    <a:bodyPr/>
                    <a:lstStyle/>
                    <a:p>
                      <a:pPr algn="l">
                        <a:buNone/>
                      </a:pPr>
                      <a:r>
                        <a:rPr lang="en-US" sz="800">
                          <a:ln>
                            <a:noFill/>
                          </a:ln>
                          <a:solidFill>
                            <a:schemeClr val="tx1"/>
                          </a:solidFill>
                          <a:effectLst/>
                        </a:rPr>
                        <a:t>6</a:t>
                      </a:r>
                    </a:p>
                  </a:txBody>
                  <a:tcPr marL="30233" marR="30233" marT="15116" marB="15116" anchor="ctr"/>
                </a:tc>
                <a:tc>
                  <a:txBody>
                    <a:bodyPr/>
                    <a:lstStyle/>
                    <a:p>
                      <a:pPr algn="l">
                        <a:buNone/>
                      </a:pPr>
                      <a:r>
                        <a:rPr lang="en-US" sz="800" b="1">
                          <a:ln>
                            <a:noFill/>
                          </a:ln>
                          <a:solidFill>
                            <a:schemeClr val="tx1"/>
                          </a:solidFill>
                          <a:effectLst/>
                        </a:rPr>
                        <a:t>IEEE Transactions on Dependable and Secure Computing (TDSC)</a:t>
                      </a:r>
                      <a:endParaRPr lang="en-US" sz="80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IEEE</a:t>
                      </a:r>
                    </a:p>
                  </a:txBody>
                  <a:tcPr marL="30233" marR="30233" marT="15116" marB="15116" anchor="ctr"/>
                </a:tc>
                <a:tc>
                  <a:txBody>
                    <a:bodyPr/>
                    <a:lstStyle/>
                    <a:p>
                      <a:pPr algn="l">
                        <a:buNone/>
                      </a:pPr>
                      <a:r>
                        <a:rPr lang="en-US" sz="800">
                          <a:ln>
                            <a:noFill/>
                          </a:ln>
                          <a:solidFill>
                            <a:schemeClr val="tx1"/>
                          </a:solidFill>
                          <a:effectLst/>
                        </a:rPr>
                        <a:t>1545-5971</a:t>
                      </a:r>
                    </a:p>
                  </a:txBody>
                  <a:tcPr marL="30233" marR="30233" marT="15116" marB="15116" anchor="ctr"/>
                </a:tc>
                <a:tc>
                  <a:txBody>
                    <a:bodyPr/>
                    <a:lstStyle/>
                    <a:p>
                      <a:pPr algn="l">
                        <a:buNone/>
                      </a:pPr>
                      <a:r>
                        <a:rPr lang="en-US" sz="800">
                          <a:ln>
                            <a:noFill/>
                          </a:ln>
                          <a:solidFill>
                            <a:schemeClr val="tx1"/>
                          </a:solidFill>
                          <a:effectLst/>
                        </a:rPr>
                        <a:t>Perfect for </a:t>
                      </a:r>
                      <a:r>
                        <a:rPr lang="en-US" sz="800" b="1">
                          <a:ln>
                            <a:noFill/>
                          </a:ln>
                          <a:solidFill>
                            <a:schemeClr val="tx1"/>
                          </a:solidFill>
                          <a:effectLst/>
                        </a:rPr>
                        <a:t>Architecture-level</a:t>
                      </a:r>
                      <a:r>
                        <a:rPr lang="en-US" sz="800">
                          <a:ln>
                            <a:noFill/>
                          </a:ln>
                          <a:solidFill>
                            <a:schemeClr val="tx1"/>
                          </a:solidFill>
                          <a:effectLst/>
                        </a:rPr>
                        <a:t> security and trust-based systems.</a:t>
                      </a:r>
                    </a:p>
                  </a:txBody>
                  <a:tcPr marL="30233" marR="30233" marT="15116" marB="15116" anchor="ctr"/>
                </a:tc>
                <a:tc>
                  <a:txBody>
                    <a:bodyPr/>
                    <a:lstStyle/>
                    <a:p>
                      <a:pPr algn="l">
                        <a:buNone/>
                      </a:pPr>
                      <a:r>
                        <a:rPr lang="en-US" sz="800">
                          <a:ln>
                            <a:noFill/>
                          </a:ln>
                          <a:solidFill>
                            <a:schemeClr val="tx1"/>
                          </a:solidFill>
                          <a:effectLst/>
                          <a:hlinkClick r:id="rId8">
                            <a:extLst>
                              <a:ext uri="{A12FA001-AC4F-418D-AE19-62706E023703}">
                                <ahyp:hlinkClr xmlns:ahyp="http://schemas.microsoft.com/office/drawing/2018/hyperlinkcolor" val="tx"/>
                              </a:ext>
                            </a:extLst>
                          </a:hlinkClick>
                        </a:rPr>
                        <a:t>Link</a:t>
                      </a:r>
                      <a:endParaRPr lang="en-US" sz="800">
                        <a:ln>
                          <a:noFill/>
                        </a:ln>
                        <a:solidFill>
                          <a:schemeClr val="tx1"/>
                        </a:solidFill>
                        <a:effectLst/>
                      </a:endParaRPr>
                    </a:p>
                  </a:txBody>
                  <a:tcPr marL="30233" marR="30233" marT="15116" marB="15116" anchor="ctr"/>
                </a:tc>
                <a:extLst>
                  <a:ext uri="{0D108BD9-81ED-4DB2-BD59-A6C34878D82A}">
                    <a16:rowId xmlns:a16="http://schemas.microsoft.com/office/drawing/2014/main" val="2808753718"/>
                  </a:ext>
                </a:extLst>
              </a:tr>
              <a:tr h="557437">
                <a:tc>
                  <a:txBody>
                    <a:bodyPr/>
                    <a:lstStyle/>
                    <a:p>
                      <a:pPr algn="l">
                        <a:buNone/>
                      </a:pPr>
                      <a:r>
                        <a:rPr lang="en-US" sz="800">
                          <a:ln>
                            <a:noFill/>
                          </a:ln>
                          <a:solidFill>
                            <a:schemeClr val="tx1"/>
                          </a:solidFill>
                          <a:effectLst/>
                        </a:rPr>
                        <a:t>7</a:t>
                      </a:r>
                    </a:p>
                  </a:txBody>
                  <a:tcPr marL="30233" marR="30233" marT="15116" marB="15116" anchor="ctr"/>
                </a:tc>
                <a:tc>
                  <a:txBody>
                    <a:bodyPr/>
                    <a:lstStyle/>
                    <a:p>
                      <a:pPr algn="l">
                        <a:buNone/>
                      </a:pPr>
                      <a:r>
                        <a:rPr lang="en-US" sz="800" b="1">
                          <a:ln>
                            <a:noFill/>
                          </a:ln>
                          <a:solidFill>
                            <a:schemeClr val="tx1"/>
                          </a:solidFill>
                          <a:effectLst/>
                        </a:rPr>
                        <a:t>Cybersecurity (SpringerOpen)</a:t>
                      </a:r>
                      <a:endParaRPr lang="en-US" sz="800">
                        <a:ln>
                          <a:noFill/>
                        </a:ln>
                        <a:solidFill>
                          <a:schemeClr val="tx1"/>
                        </a:solidFill>
                        <a:effectLst/>
                      </a:endParaRPr>
                    </a:p>
                  </a:txBody>
                  <a:tcPr marL="30233" marR="30233" marT="15116" marB="15116" anchor="ctr"/>
                </a:tc>
                <a:tc>
                  <a:txBody>
                    <a:bodyPr/>
                    <a:lstStyle/>
                    <a:p>
                      <a:pPr algn="l">
                        <a:buNone/>
                      </a:pPr>
                      <a:r>
                        <a:rPr lang="en-US" sz="800">
                          <a:ln>
                            <a:noFill/>
                          </a:ln>
                          <a:solidFill>
                            <a:schemeClr val="tx1"/>
                          </a:solidFill>
                          <a:effectLst/>
                        </a:rPr>
                        <a:t>Springer</a:t>
                      </a:r>
                    </a:p>
                  </a:txBody>
                  <a:tcPr marL="30233" marR="30233" marT="15116" marB="15116" anchor="ctr"/>
                </a:tc>
                <a:tc>
                  <a:txBody>
                    <a:bodyPr/>
                    <a:lstStyle/>
                    <a:p>
                      <a:pPr algn="l">
                        <a:buNone/>
                      </a:pPr>
                      <a:r>
                        <a:rPr lang="en-US" sz="800">
                          <a:ln>
                            <a:noFill/>
                          </a:ln>
                          <a:solidFill>
                            <a:schemeClr val="tx1"/>
                          </a:solidFill>
                          <a:effectLst/>
                        </a:rPr>
                        <a:t>2523-3246</a:t>
                      </a:r>
                    </a:p>
                  </a:txBody>
                  <a:tcPr marL="30233" marR="30233" marT="15116" marB="15116" anchor="ctr"/>
                </a:tc>
                <a:tc>
                  <a:txBody>
                    <a:bodyPr/>
                    <a:lstStyle/>
                    <a:p>
                      <a:pPr algn="l">
                        <a:buNone/>
                      </a:pPr>
                      <a:r>
                        <a:rPr lang="en-US" sz="800">
                          <a:ln>
                            <a:noFill/>
                          </a:ln>
                          <a:solidFill>
                            <a:schemeClr val="tx1"/>
                          </a:solidFill>
                          <a:effectLst/>
                        </a:rPr>
                        <a:t>Good for </a:t>
                      </a:r>
                      <a:r>
                        <a:rPr lang="en-US" sz="800" b="1">
                          <a:ln>
                            <a:noFill/>
                          </a:ln>
                          <a:solidFill>
                            <a:schemeClr val="tx1"/>
                          </a:solidFill>
                          <a:effectLst/>
                        </a:rPr>
                        <a:t>threat intelligence</a:t>
                      </a:r>
                      <a:r>
                        <a:rPr lang="en-US" sz="800">
                          <a:ln>
                            <a:noFill/>
                          </a:ln>
                          <a:solidFill>
                            <a:schemeClr val="tx1"/>
                          </a:solidFill>
                          <a:effectLst/>
                        </a:rPr>
                        <a:t> and standardized MITRE-based reporting.</a:t>
                      </a:r>
                    </a:p>
                  </a:txBody>
                  <a:tcPr marL="30233" marR="30233" marT="15116" marB="15116" anchor="ctr"/>
                </a:tc>
                <a:tc>
                  <a:txBody>
                    <a:bodyPr/>
                    <a:lstStyle/>
                    <a:p>
                      <a:pPr algn="l">
                        <a:buNone/>
                      </a:pPr>
                      <a:r>
                        <a:rPr lang="en-US" sz="800" dirty="0">
                          <a:ln>
                            <a:noFill/>
                          </a:ln>
                          <a:solidFill>
                            <a:schemeClr val="tx1"/>
                          </a:solidFill>
                          <a:effectLst/>
                          <a:hlinkClick r:id="rId9">
                            <a:extLst>
                              <a:ext uri="{A12FA001-AC4F-418D-AE19-62706E023703}">
                                <ahyp:hlinkClr xmlns:ahyp="http://schemas.microsoft.com/office/drawing/2018/hyperlinkcolor" val="tx"/>
                              </a:ext>
                            </a:extLst>
                          </a:hlinkClick>
                        </a:rPr>
                        <a:t>Link</a:t>
                      </a:r>
                      <a:endParaRPr lang="en-US" sz="800" dirty="0">
                        <a:ln>
                          <a:noFill/>
                        </a:ln>
                        <a:solidFill>
                          <a:schemeClr val="tx1"/>
                        </a:solidFill>
                        <a:effectLst/>
                      </a:endParaRPr>
                    </a:p>
                  </a:txBody>
                  <a:tcPr marL="30233" marR="30233" marT="15116" marB="15116" anchor="ctr"/>
                </a:tc>
                <a:extLst>
                  <a:ext uri="{0D108BD9-81ED-4DB2-BD59-A6C34878D82A}">
                    <a16:rowId xmlns:a16="http://schemas.microsoft.com/office/drawing/2014/main" val="1350386249"/>
                  </a:ext>
                </a:extLst>
              </a:tr>
            </a:tbl>
          </a:graphicData>
        </a:graphic>
      </p:graphicFrame>
    </p:spTree>
    <p:extLst>
      <p:ext uri="{BB962C8B-B14F-4D97-AF65-F5344CB8AC3E}">
        <p14:creationId xmlns:p14="http://schemas.microsoft.com/office/powerpoint/2010/main" val="1824815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73">
          <a:extLst>
            <a:ext uri="{FF2B5EF4-FFF2-40B4-BE49-F238E27FC236}">
              <a16:creationId xmlns:a16="http://schemas.microsoft.com/office/drawing/2014/main" id="{692862C0-58EE-2E32-2C60-99C37C774275}"/>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ED5A8B2-39FB-AE52-C2AE-0CC447A6A067}"/>
              </a:ext>
            </a:extLst>
          </p:cNvPr>
          <p:cNvSpPr txBox="1"/>
          <p:nvPr/>
        </p:nvSpPr>
        <p:spPr>
          <a:xfrm>
            <a:off x="2027104" y="167010"/>
            <a:ext cx="5310130" cy="400110"/>
          </a:xfrm>
          <a:prstGeom prst="rect">
            <a:avLst/>
          </a:prstGeom>
          <a:noFill/>
        </p:spPr>
        <p:txBody>
          <a:bodyPr wrap="square">
            <a:spAutoFit/>
          </a:bodyPr>
          <a:lstStyle/>
          <a:p>
            <a:pPr algn="ctr">
              <a:spcBef>
                <a:spcPct val="0"/>
              </a:spcBef>
            </a:pPr>
            <a:r>
              <a:rPr lang="en-US" altLang="en-US" sz="2000" dirty="0">
                <a:solidFill>
                  <a:srgbClr val="FF0000"/>
                </a:solidFill>
                <a:latin typeface="Times New Roman" panose="02020603050405020304" pitchFamily="18" charset="0"/>
                <a:cs typeface="Times New Roman" panose="02020603050405020304" pitchFamily="18" charset="0"/>
              </a:rPr>
              <a:t>References</a:t>
            </a:r>
          </a:p>
        </p:txBody>
      </p:sp>
      <p:sp>
        <p:nvSpPr>
          <p:cNvPr id="6" name="TextBox 5">
            <a:extLst>
              <a:ext uri="{FF2B5EF4-FFF2-40B4-BE49-F238E27FC236}">
                <a16:creationId xmlns:a16="http://schemas.microsoft.com/office/drawing/2014/main" id="{0FFB1390-F280-EE51-D533-F9EF31BE1985}"/>
              </a:ext>
            </a:extLst>
          </p:cNvPr>
          <p:cNvSpPr txBox="1"/>
          <p:nvPr/>
        </p:nvSpPr>
        <p:spPr>
          <a:xfrm>
            <a:off x="191579" y="892425"/>
            <a:ext cx="8760842" cy="4154984"/>
          </a:xfrm>
          <a:prstGeom prst="rect">
            <a:avLst/>
          </a:prstGeom>
          <a:noFill/>
        </p:spPr>
        <p:txBody>
          <a:bodyPr wrap="square">
            <a:spAutoFit/>
          </a:bodyPr>
          <a:lstStyle/>
          <a:p>
            <a:pPr marL="285750" indent="-285750" algn="just">
              <a:buFont typeface="Arial" panose="020B0604020202020204" pitchFamily="34" charset="0"/>
              <a:buChar char="•"/>
            </a:pPr>
            <a:r>
              <a:rPr lang="en-US" sz="1200" dirty="0"/>
              <a:t>D. Zhang, Y. Yang, et al., "Tri-LLM Cooperative Federated Zero-Shot Intrusion Detection with Semantic Disagreement and Trust-Aware Aggregation," </a:t>
            </a:r>
            <a:r>
              <a:rPr lang="en-US" sz="1200" i="1" dirty="0"/>
              <a:t>*arXiv:2602.00219*</a:t>
            </a:r>
            <a:r>
              <a:rPr lang="en-US" sz="1200" dirty="0"/>
              <a:t>, Jan 2026.</a:t>
            </a:r>
          </a:p>
          <a:p>
            <a:pPr marL="285750" indent="-285750" algn="just">
              <a:buFont typeface="Arial" panose="020B0604020202020204" pitchFamily="34" charset="0"/>
              <a:buChar char="•"/>
            </a:pPr>
            <a:r>
              <a:rPr lang="en-US" sz="1200" dirty="0"/>
              <a:t>H. Yuan, H. Zheng, et al., "</a:t>
            </a:r>
            <a:r>
              <a:rPr lang="en-US" sz="1200" dirty="0" err="1"/>
              <a:t>CyberRAG</a:t>
            </a:r>
            <a:r>
              <a:rPr lang="en-US" sz="1200" dirty="0"/>
              <a:t>: An Agentic RAG Cyber Attack Classification and Reporting Tool," </a:t>
            </a:r>
            <a:r>
              <a:rPr lang="en-US" sz="1200" i="1" dirty="0"/>
              <a:t>*arXiv:2507.02498*</a:t>
            </a:r>
            <a:r>
              <a:rPr lang="en-US" sz="1200" dirty="0"/>
              <a:t>, Sep 2025.</a:t>
            </a:r>
          </a:p>
          <a:p>
            <a:pPr marL="285750" indent="-285750" algn="just">
              <a:buFont typeface="Arial" panose="020B0604020202020204" pitchFamily="34" charset="0"/>
              <a:buChar char="•"/>
            </a:pPr>
            <a:r>
              <a:rPr lang="en-US" sz="1200" dirty="0"/>
              <a:t>Shajarian, Shaghayegh, et al. "</a:t>
            </a:r>
            <a:r>
              <a:rPr lang="en-US" sz="1200" dirty="0" err="1"/>
              <a:t>ReGAIN</a:t>
            </a:r>
            <a:r>
              <a:rPr lang="en-US" sz="1200" dirty="0"/>
              <a:t>: Retrieval-Grounded AI Framework for Network Traffic Analysis." </a:t>
            </a:r>
            <a:r>
              <a:rPr lang="en-US" sz="1200" i="1" dirty="0"/>
              <a:t>2026 International Conference on Computing, Networking and Communications (ICNC)</a:t>
            </a:r>
            <a:r>
              <a:rPr lang="en-US" sz="1200" dirty="0"/>
              <a:t>. IEEE, 2026</a:t>
            </a:r>
          </a:p>
          <a:p>
            <a:pPr marL="285750" indent="-285750" algn="just">
              <a:buFont typeface="Arial" panose="020B0604020202020204" pitchFamily="34" charset="0"/>
              <a:buChar char="•"/>
            </a:pPr>
            <a:r>
              <a:rPr lang="en-US" sz="1200" dirty="0"/>
              <a:t>D. Zhang, Y. Yang, et al., "Synergizing Federated Learning and Vector Databases for Decentralized Cyber Immunity Orchestration," </a:t>
            </a:r>
            <a:r>
              <a:rPr lang="en-US" sz="1200" i="1" dirty="0"/>
              <a:t>IEEE Internet of Things Journal</a:t>
            </a:r>
            <a:r>
              <a:rPr lang="en-US" sz="1200" dirty="0"/>
              <a:t>, vol. 11, np. 5, 2024.</a:t>
            </a:r>
          </a:p>
          <a:p>
            <a:pPr marL="285750" indent="-285750" algn="just">
              <a:buFont typeface="Arial" panose="020B0604020202020204" pitchFamily="34" charset="0"/>
              <a:buChar char="•"/>
            </a:pPr>
            <a:r>
              <a:rPr lang="en-US" sz="1200" dirty="0"/>
              <a:t>Y. Chen et al., "A Federated Learning Approach to Network Intrusion Detection Systems," </a:t>
            </a:r>
            <a:r>
              <a:rPr lang="en-US" sz="1200" i="1" dirty="0"/>
              <a:t>IEEE Transactions on Information Forensics and Security</a:t>
            </a:r>
            <a:r>
              <a:rPr lang="en-US" sz="1200" dirty="0"/>
              <a:t>, vol. 18, pp. 131-144, 2023.</a:t>
            </a:r>
          </a:p>
          <a:p>
            <a:pPr marL="285750" indent="-285750" algn="just">
              <a:buFont typeface="Arial" panose="020B0604020202020204" pitchFamily="34" charset="0"/>
              <a:buChar char="•"/>
            </a:pPr>
            <a:r>
              <a:rPr lang="en-US" sz="1200" dirty="0"/>
              <a:t>J. P. Hu et al., "RAG-Sec: Enhancing Zero-Day Vulnerability Analysis using Retrieval-Augmented Generation," </a:t>
            </a:r>
            <a:r>
              <a:rPr lang="en-US" sz="1200" i="1" dirty="0"/>
              <a:t>IEEE Transactions on Information Forensics and Security</a:t>
            </a:r>
            <a:r>
              <a:rPr lang="en-US" sz="1200" dirty="0"/>
              <a:t>, vol. 19, pp. 2481-2495, 2024.</a:t>
            </a:r>
          </a:p>
          <a:p>
            <a:pPr marL="285750" indent="-285750" algn="just">
              <a:buFont typeface="Arial" panose="020B0604020202020204" pitchFamily="34" charset="0"/>
              <a:buChar char="•"/>
            </a:pPr>
            <a:r>
              <a:rPr lang="en-US" sz="1200" dirty="0"/>
              <a:t>M. Reynaud, A. Gupta et al., "Collaborative and Privacy-Preserving Intrusion Detection in Edge Computing: A Federated Learning Approach," </a:t>
            </a:r>
            <a:r>
              <a:rPr lang="en-US" sz="1200" i="1" dirty="0"/>
              <a:t>IEEE Transactions on Dependable and Secure Computing</a:t>
            </a:r>
            <a:r>
              <a:rPr lang="en-US" sz="1200" dirty="0"/>
              <a:t>, vol. 20, no. 2, 2023.</a:t>
            </a:r>
          </a:p>
          <a:p>
            <a:pPr marL="285750" indent="-285750" algn="just">
              <a:buFont typeface="Arial" panose="020B0604020202020204" pitchFamily="34" charset="0"/>
              <a:buChar char="•"/>
            </a:pPr>
            <a:r>
              <a:rPr lang="en-US" sz="1200" dirty="0"/>
              <a:t>B. Liu et al., "A Scalable and Privacy-Preserving Federated Learning Framework for Securing IoT Devices," </a:t>
            </a:r>
            <a:r>
              <a:rPr lang="en-US" sz="1200" i="1" dirty="0"/>
              <a:t>IEEE Internet of Things Journal</a:t>
            </a:r>
            <a:r>
              <a:rPr lang="en-US" sz="1200" dirty="0"/>
              <a:t>, vol. 10, no. 9, 2023.</a:t>
            </a:r>
          </a:p>
          <a:p>
            <a:pPr marL="285750" indent="-285750" algn="just">
              <a:buFont typeface="Arial" panose="020B0604020202020204" pitchFamily="34" charset="0"/>
              <a:buChar char="•"/>
            </a:pPr>
            <a:r>
              <a:rPr lang="en-US" sz="1200" dirty="0"/>
              <a:t>Z. Zhao et al., "Federated Learning with Non-IID Data: A Survey," </a:t>
            </a:r>
            <a:r>
              <a:rPr lang="en-US" sz="1200" i="1" dirty="0"/>
              <a:t>IEEE Transactions on Neural Networks and Learning Systems</a:t>
            </a:r>
            <a:r>
              <a:rPr lang="en-US" sz="1200" dirty="0"/>
              <a:t>, 2023.</a:t>
            </a:r>
          </a:p>
          <a:p>
            <a:pPr marL="285750" indent="-285750" algn="just">
              <a:buFont typeface="Arial" panose="020B0604020202020204" pitchFamily="34" charset="0"/>
              <a:buChar char="•"/>
            </a:pPr>
            <a:r>
              <a:rPr lang="en-US" sz="1200" dirty="0"/>
              <a:t>Y. Huang, L. Zhu, et al., "Dynamic Trust-Aware Federated Learning in Unreliable Environments," </a:t>
            </a:r>
            <a:r>
              <a:rPr lang="en-US" sz="1200" i="1" dirty="0"/>
              <a:t>IEEE Transactions on Information Forensics and Security</a:t>
            </a:r>
            <a:r>
              <a:rPr lang="en-US" sz="1200" dirty="0"/>
              <a:t>, vol. 18, pp. 433-446, 2023.</a:t>
            </a:r>
          </a:p>
          <a:p>
            <a:pPr marL="285750" indent="-285750" algn="just">
              <a:buFont typeface="Arial" panose="020B0604020202020204" pitchFamily="34" charset="0"/>
              <a:buChar char="•"/>
            </a:pPr>
            <a:r>
              <a:rPr lang="en-US" sz="1200" dirty="0"/>
              <a:t>N. Wang, X. Huang, and Y. Dai, "Differentially Private Vector Embeddings for Secure Information Retrieval," </a:t>
            </a:r>
            <a:r>
              <a:rPr lang="en-US" sz="1200" i="1" dirty="0"/>
              <a:t>IEEE Transactions on Knowledge and Data Engineering</a:t>
            </a:r>
            <a:r>
              <a:rPr lang="en-US" sz="1200" dirty="0"/>
              <a:t>, vol. 35, no. 4, 2023.</a:t>
            </a:r>
          </a:p>
        </p:txBody>
      </p:sp>
    </p:spTree>
    <p:extLst>
      <p:ext uri="{BB962C8B-B14F-4D97-AF65-F5344CB8AC3E}">
        <p14:creationId xmlns:p14="http://schemas.microsoft.com/office/powerpoint/2010/main" val="700794372"/>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297</TotalTime>
  <Words>1586</Words>
  <Application>Microsoft Macintosh PowerPoint</Application>
  <PresentationFormat>On-screen Show (16:9)</PresentationFormat>
  <Paragraphs>162</Paragraphs>
  <Slides>15</Slides>
  <Notes>15</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Cambria</vt:lpstr>
      <vt:lpstr>Times New Roman</vt:lpstr>
      <vt:lpstr>ui-sans-serif</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Veerasagar</cp:lastModifiedBy>
  <cp:revision>21</cp:revision>
  <dcterms:modified xsi:type="dcterms:W3CDTF">2026-04-24T21:12:57Z</dcterms:modified>
</cp:coreProperties>
</file>