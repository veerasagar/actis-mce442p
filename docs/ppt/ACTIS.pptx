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28"/>
  </p:notesMasterIdLst>
  <p:sldIdLst>
    <p:sldId id="256" r:id="rId2"/>
    <p:sldId id="257" r:id="rId3"/>
    <p:sldId id="258" r:id="rId4"/>
    <p:sldId id="268" r:id="rId5"/>
    <p:sldId id="267" r:id="rId6"/>
    <p:sldId id="269" r:id="rId7"/>
    <p:sldId id="290" r:id="rId8"/>
    <p:sldId id="270" r:id="rId9"/>
    <p:sldId id="259" r:id="rId10"/>
    <p:sldId id="275" r:id="rId11"/>
    <p:sldId id="276" r:id="rId12"/>
    <p:sldId id="277" r:id="rId13"/>
    <p:sldId id="278" r:id="rId14"/>
    <p:sldId id="281" r:id="rId15"/>
    <p:sldId id="282" r:id="rId16"/>
    <p:sldId id="283" r:id="rId17"/>
    <p:sldId id="288" r:id="rId18"/>
    <p:sldId id="280" r:id="rId19"/>
    <p:sldId id="287" r:id="rId20"/>
    <p:sldId id="285" r:id="rId21"/>
    <p:sldId id="286" r:id="rId22"/>
    <p:sldId id="289" r:id="rId23"/>
    <p:sldId id="279" r:id="rId24"/>
    <p:sldId id="271" r:id="rId25"/>
    <p:sldId id="263" r:id="rId26"/>
    <p:sldId id="274" r:id="rId2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624"/>
    <p:restoredTop sz="94819"/>
  </p:normalViewPr>
  <p:slideViewPr>
    <p:cSldViewPr snapToGrid="0">
      <p:cViewPr varScale="1">
        <p:scale>
          <a:sx n="184" d="100"/>
          <a:sy n="184" d="100"/>
        </p:scale>
        <p:origin x="1280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3d66680d4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3d66680d4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3d66680d4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3d66680d4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940007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5BB61AB7-0F58-96EF-9BCF-648C26238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3d66680d41_0_20:notes">
            <a:extLst>
              <a:ext uri="{FF2B5EF4-FFF2-40B4-BE49-F238E27FC236}">
                <a16:creationId xmlns:a16="http://schemas.microsoft.com/office/drawing/2014/main" id="{09B133AD-CF9A-AF03-1F59-5ADABC9410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3d66680d41_0_20:notes">
            <a:extLst>
              <a:ext uri="{FF2B5EF4-FFF2-40B4-BE49-F238E27FC236}">
                <a16:creationId xmlns:a16="http://schemas.microsoft.com/office/drawing/2014/main" id="{4B1EB55B-BBA9-3B69-BF3D-404849F032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89292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5BB61AB7-0F58-96EF-9BCF-648C26238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3d66680d41_0_20:notes">
            <a:extLst>
              <a:ext uri="{FF2B5EF4-FFF2-40B4-BE49-F238E27FC236}">
                <a16:creationId xmlns:a16="http://schemas.microsoft.com/office/drawing/2014/main" id="{09B133AD-CF9A-AF03-1F59-5ADABC9410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3d66680d41_0_20:notes">
            <a:extLst>
              <a:ext uri="{FF2B5EF4-FFF2-40B4-BE49-F238E27FC236}">
                <a16:creationId xmlns:a16="http://schemas.microsoft.com/office/drawing/2014/main" id="{4B1EB55B-BBA9-3B69-BF3D-404849F032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7645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73B7EA0D-1222-15FD-3DD2-08AC94D9B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3d66680d41_0_20:notes">
            <a:extLst>
              <a:ext uri="{FF2B5EF4-FFF2-40B4-BE49-F238E27FC236}">
                <a16:creationId xmlns:a16="http://schemas.microsoft.com/office/drawing/2014/main" id="{C0B90E7A-5BA3-0E91-E0A4-67F61722B3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3d66680d41_0_20:notes">
            <a:extLst>
              <a:ext uri="{FF2B5EF4-FFF2-40B4-BE49-F238E27FC236}">
                <a16:creationId xmlns:a16="http://schemas.microsoft.com/office/drawing/2014/main" id="{7406FDCB-7F1E-0B91-5B0C-26477A3511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323270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3d66680d41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23d66680d41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14243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3d66680d4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3d66680d4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6EA01C35-EF01-09F6-13AA-2A6011C4A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3d66680d41_0_10:notes">
            <a:extLst>
              <a:ext uri="{FF2B5EF4-FFF2-40B4-BE49-F238E27FC236}">
                <a16:creationId xmlns:a16="http://schemas.microsoft.com/office/drawing/2014/main" id="{9F7660D4-C614-4A53-E753-CC87CDD850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3d66680d41_0_10:notes">
            <a:extLst>
              <a:ext uri="{FF2B5EF4-FFF2-40B4-BE49-F238E27FC236}">
                <a16:creationId xmlns:a16="http://schemas.microsoft.com/office/drawing/2014/main" id="{91B74782-E5EF-C21E-8A4B-C94087813E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81755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B888C7BF-3976-CB1B-7C9A-3499EC72F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3d66680d41_0_10:notes">
            <a:extLst>
              <a:ext uri="{FF2B5EF4-FFF2-40B4-BE49-F238E27FC236}">
                <a16:creationId xmlns:a16="http://schemas.microsoft.com/office/drawing/2014/main" id="{A65FEFAE-BBB7-DD8B-8526-043810A5692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3d66680d41_0_10:notes">
            <a:extLst>
              <a:ext uri="{FF2B5EF4-FFF2-40B4-BE49-F238E27FC236}">
                <a16:creationId xmlns:a16="http://schemas.microsoft.com/office/drawing/2014/main" id="{0EB2FB17-A110-745A-1263-F99942473F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61644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DE5CA573-F114-C57C-F1E2-8982BFD10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3d66680d41_0_10:notes">
            <a:extLst>
              <a:ext uri="{FF2B5EF4-FFF2-40B4-BE49-F238E27FC236}">
                <a16:creationId xmlns:a16="http://schemas.microsoft.com/office/drawing/2014/main" id="{3B06D5D1-49FC-3F3B-CABC-BED449F87D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3d66680d41_0_10:notes">
            <a:extLst>
              <a:ext uri="{FF2B5EF4-FFF2-40B4-BE49-F238E27FC236}">
                <a16:creationId xmlns:a16="http://schemas.microsoft.com/office/drawing/2014/main" id="{BAACEEB2-CD47-E4D9-A746-BCAEFD7A09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80534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>
          <a:extLst>
            <a:ext uri="{FF2B5EF4-FFF2-40B4-BE49-F238E27FC236}">
              <a16:creationId xmlns:a16="http://schemas.microsoft.com/office/drawing/2014/main" id="{3BAB5840-096A-D02D-6AEC-4397A305F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3d66680d41_0_10:notes">
            <a:extLst>
              <a:ext uri="{FF2B5EF4-FFF2-40B4-BE49-F238E27FC236}">
                <a16:creationId xmlns:a16="http://schemas.microsoft.com/office/drawing/2014/main" id="{D89A71A8-2375-3DE0-CCFF-77938B0D6C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3d66680d41_0_10:notes">
            <a:extLst>
              <a:ext uri="{FF2B5EF4-FFF2-40B4-BE49-F238E27FC236}">
                <a16:creationId xmlns:a16="http://schemas.microsoft.com/office/drawing/2014/main" id="{54AFB4E8-1815-E8E6-75DC-A3B09D8341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594390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399CE8CC-7199-792D-A978-D67224220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3d66680d41_0_5:notes">
            <a:extLst>
              <a:ext uri="{FF2B5EF4-FFF2-40B4-BE49-F238E27FC236}">
                <a16:creationId xmlns:a16="http://schemas.microsoft.com/office/drawing/2014/main" id="{6049E357-828D-2F11-0189-6989952C9F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3d66680d41_0_5:notes">
            <a:extLst>
              <a:ext uri="{FF2B5EF4-FFF2-40B4-BE49-F238E27FC236}">
                <a16:creationId xmlns:a16="http://schemas.microsoft.com/office/drawing/2014/main" id="{69B863BF-5882-F568-AAB2-0E30C4D3EE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38947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5BB61AB7-0F58-96EF-9BCF-648C26238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3d66680d41_0_20:notes">
            <a:extLst>
              <a:ext uri="{FF2B5EF4-FFF2-40B4-BE49-F238E27FC236}">
                <a16:creationId xmlns:a16="http://schemas.microsoft.com/office/drawing/2014/main" id="{09B133AD-CF9A-AF03-1F59-5ADABC9410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3d66680d41_0_20:notes">
            <a:extLst>
              <a:ext uri="{FF2B5EF4-FFF2-40B4-BE49-F238E27FC236}">
                <a16:creationId xmlns:a16="http://schemas.microsoft.com/office/drawing/2014/main" id="{4B1EB55B-BBA9-3B69-BF3D-404849F032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892923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F998CB31-E5BD-9E3A-2A1D-17CBA51F5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3d66680d41_0_5:notes">
            <a:extLst>
              <a:ext uri="{FF2B5EF4-FFF2-40B4-BE49-F238E27FC236}">
                <a16:creationId xmlns:a16="http://schemas.microsoft.com/office/drawing/2014/main" id="{63AB7260-7B5C-2BB3-3DFD-76D9212DE8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3d66680d41_0_5:notes">
            <a:extLst>
              <a:ext uri="{FF2B5EF4-FFF2-40B4-BE49-F238E27FC236}">
                <a16:creationId xmlns:a16="http://schemas.microsoft.com/office/drawing/2014/main" id="{E2A1D9BF-4E0A-9327-ECEE-2C530C9EE9A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59324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F20665EE-0E82-D5A3-835A-390A337DA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3d66680d41_0_5:notes">
            <a:extLst>
              <a:ext uri="{FF2B5EF4-FFF2-40B4-BE49-F238E27FC236}">
                <a16:creationId xmlns:a16="http://schemas.microsoft.com/office/drawing/2014/main" id="{9120D711-850B-775A-E280-3CC805B6D6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3d66680d41_0_5:notes">
            <a:extLst>
              <a:ext uri="{FF2B5EF4-FFF2-40B4-BE49-F238E27FC236}">
                <a16:creationId xmlns:a16="http://schemas.microsoft.com/office/drawing/2014/main" id="{DB3F8FD6-0472-2134-3E3D-C162114AA7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97688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3d66680d4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3d66680d4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7E905A15-B4C0-FB68-1C1E-83DD38F1B7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3d66680d41_0_5:notes">
            <a:extLst>
              <a:ext uri="{FF2B5EF4-FFF2-40B4-BE49-F238E27FC236}">
                <a16:creationId xmlns:a16="http://schemas.microsoft.com/office/drawing/2014/main" id="{BA205517-C92D-D937-9999-A228A08040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3d66680d41_0_5:notes">
            <a:extLst>
              <a:ext uri="{FF2B5EF4-FFF2-40B4-BE49-F238E27FC236}">
                <a16:creationId xmlns:a16="http://schemas.microsoft.com/office/drawing/2014/main" id="{C53276AB-2B7F-92A4-818F-BE27B07621A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507969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FA388723-1571-8257-9F27-5B4B8FA65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3d66680d41_0_20:notes">
            <a:extLst>
              <a:ext uri="{FF2B5EF4-FFF2-40B4-BE49-F238E27FC236}">
                <a16:creationId xmlns:a16="http://schemas.microsoft.com/office/drawing/2014/main" id="{3D7DB9DC-529F-BD68-20C3-71A7DABE12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3d66680d41_0_20:notes">
            <a:extLst>
              <a:ext uri="{FF2B5EF4-FFF2-40B4-BE49-F238E27FC236}">
                <a16:creationId xmlns:a16="http://schemas.microsoft.com/office/drawing/2014/main" id="{D2BF6153-5B79-ED03-B920-F9EEC57022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97323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BBA322BD-8ED3-95C6-7118-2FD51F5BE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3d66680d41_0_20:notes">
            <a:extLst>
              <a:ext uri="{FF2B5EF4-FFF2-40B4-BE49-F238E27FC236}">
                <a16:creationId xmlns:a16="http://schemas.microsoft.com/office/drawing/2014/main" id="{CE5116D9-8257-EF18-B3D1-DE3DF5151B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3d66680d41_0_20:notes">
            <a:extLst>
              <a:ext uri="{FF2B5EF4-FFF2-40B4-BE49-F238E27FC236}">
                <a16:creationId xmlns:a16="http://schemas.microsoft.com/office/drawing/2014/main" id="{42EEB42E-0383-6CFA-78E8-8B01B62CFA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540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3d66680d41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3d66680d41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368132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AE117F2B-AAF5-4016-7906-8A35AC605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3d66680d41_0_20:notes">
            <a:extLst>
              <a:ext uri="{FF2B5EF4-FFF2-40B4-BE49-F238E27FC236}">
                <a16:creationId xmlns:a16="http://schemas.microsoft.com/office/drawing/2014/main" id="{3F9BB226-1512-842B-2CB7-09BF865A2E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3d66680d41_0_20:notes">
            <a:extLst>
              <a:ext uri="{FF2B5EF4-FFF2-40B4-BE49-F238E27FC236}">
                <a16:creationId xmlns:a16="http://schemas.microsoft.com/office/drawing/2014/main" id="{37B6C443-D52A-617E-D559-EAB6D4B37F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414802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3d66680d41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3d66680d41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9252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C5C0422C-5211-8F42-43A7-951145235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3d66680d41_0_20:notes">
            <a:extLst>
              <a:ext uri="{FF2B5EF4-FFF2-40B4-BE49-F238E27FC236}">
                <a16:creationId xmlns:a16="http://schemas.microsoft.com/office/drawing/2014/main" id="{F48ED4B4-508D-0CF5-6F2A-F8A4A96C72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3d66680d41_0_20:notes">
            <a:extLst>
              <a:ext uri="{FF2B5EF4-FFF2-40B4-BE49-F238E27FC236}">
                <a16:creationId xmlns:a16="http://schemas.microsoft.com/office/drawing/2014/main" id="{2617C3DF-EE3C-BA1F-B4D1-1B85D5D69B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551705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2AA7229A-3916-7981-E59C-3C0F34762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3d66680d41_0_20:notes">
            <a:extLst>
              <a:ext uri="{FF2B5EF4-FFF2-40B4-BE49-F238E27FC236}">
                <a16:creationId xmlns:a16="http://schemas.microsoft.com/office/drawing/2014/main" id="{B4BC32AA-AA19-CD3A-C6CF-6BDEED7C40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3d66680d41_0_20:notes">
            <a:extLst>
              <a:ext uri="{FF2B5EF4-FFF2-40B4-BE49-F238E27FC236}">
                <a16:creationId xmlns:a16="http://schemas.microsoft.com/office/drawing/2014/main" id="{519B79FB-0D47-6169-1569-28A9160458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42978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63213" y="4730051"/>
            <a:ext cx="2217574" cy="33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91725" y="934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253250" y="18575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83600" y="415175"/>
            <a:ext cx="1974051" cy="3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3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91725" y="7765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91725" y="7765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91725" y="7765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068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16000" y="216000"/>
            <a:ext cx="1507681" cy="64799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sldNum="0"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52F5642A-CBAD-6EE0-2796-D807106F4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8487" y="428742"/>
            <a:ext cx="6087022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US" altLang="en-US" sz="2000" dirty="0">
                <a:cs typeface="Times New Roman" panose="02020603050405020304" pitchFamily="18" charset="0"/>
              </a:rPr>
              <a:t>Major Project Review -I :</a:t>
            </a: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US" sz="20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MCE442P</a:t>
            </a:r>
          </a:p>
          <a:p>
            <a:pPr algn="ctr">
              <a:spcBef>
                <a:spcPct val="0"/>
              </a:spcBef>
              <a:buFontTx/>
              <a:buNone/>
              <a:defRPr/>
            </a:pPr>
            <a:endParaRPr lang="en-US" altLang="en-US" sz="2000" dirty="0">
              <a:cs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US" altLang="en-US" sz="2000" b="1" kern="0" dirty="0">
                <a:cs typeface="Times New Roman" panose="02020603050405020304" pitchFamily="18" charset="0"/>
              </a:rPr>
              <a:t>ACTIS -Agentic Collaborative Threat Intelligence System via Trust-Aware Federated Learning</a:t>
            </a:r>
            <a:endParaRPr lang="en-US" altLang="en-US" sz="2000" b="1" dirty="0">
              <a:latin typeface="Cambria" panose="02040503050406030204" pitchFamily="18" charset="0"/>
              <a:cs typeface="Arial" panose="020B0604020202020204" pitchFamily="34" charset="0"/>
            </a:endParaRP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US" altLang="en-US" sz="4000" dirty="0">
                <a:latin typeface="Cambria" panose="02040503050406030204" pitchFamily="18" charset="0"/>
                <a:cs typeface="Arial" panose="020B0604020202020204" pitchFamily="34" charset="0"/>
              </a:rPr>
              <a:t>                            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60C1A9E8-6E16-E2D0-7D46-FE5CC88DA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458" y="2493031"/>
            <a:ext cx="7759081" cy="2295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5198" rIns="0" bIns="0">
            <a:spAutoFit/>
          </a:bodyPr>
          <a:lstStyle>
            <a:lvl1pPr marL="1270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Veerasagar S S</a:t>
            </a:r>
          </a:p>
          <a:p>
            <a:pPr algn="ctr">
              <a:defRPr/>
            </a:pPr>
            <a: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1RV24SCS17</a:t>
            </a:r>
          </a:p>
          <a:p>
            <a:pPr>
              <a:defRPr/>
            </a:pP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en-US" altLang="en-US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Dr. Rajashree Shettar</a:t>
            </a:r>
          </a:p>
          <a:p>
            <a:pPr algn="ctr">
              <a:defRPr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  <a:endParaRPr lang="en-US" altLang="en-US" sz="2000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CSE, RVCE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4B67595-1B51-83EF-7FC9-8270560311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379" y="1165275"/>
            <a:ext cx="7645705" cy="32130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698500" indent="-685800">
              <a:spcBef>
                <a:spcPct val="20000"/>
              </a:spcBef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sz="1600" dirty="0"/>
              <a:t>• Introduction about the project</a:t>
            </a:r>
          </a:p>
          <a:p>
            <a:r>
              <a:rPr lang="en-US" sz="1600" dirty="0"/>
              <a:t>• Project Motivation</a:t>
            </a:r>
          </a:p>
          <a:p>
            <a:r>
              <a:rPr lang="en-US" sz="1600" dirty="0"/>
              <a:t>• Problem Identification</a:t>
            </a:r>
          </a:p>
          <a:p>
            <a:r>
              <a:rPr lang="en-US" sz="1600" dirty="0"/>
              <a:t>• Literature Survey</a:t>
            </a:r>
          </a:p>
          <a:p>
            <a:r>
              <a:rPr lang="en-US" sz="1600" dirty="0"/>
              <a:t>• Dataset</a:t>
            </a:r>
          </a:p>
          <a:p>
            <a:r>
              <a:rPr lang="en-US" sz="1600" dirty="0"/>
              <a:t>• Methodology</a:t>
            </a:r>
          </a:p>
          <a:p>
            <a:r>
              <a:rPr lang="en-US" sz="1600" dirty="0"/>
              <a:t>• Evaluation</a:t>
            </a:r>
          </a:p>
          <a:p>
            <a:r>
              <a:rPr lang="en-US" sz="1600" dirty="0"/>
              <a:t>• Results</a:t>
            </a:r>
          </a:p>
          <a:p>
            <a:r>
              <a:rPr lang="en-US" sz="1600" dirty="0"/>
              <a:t>• Future Works</a:t>
            </a:r>
          </a:p>
          <a:p>
            <a:r>
              <a:rPr lang="en-US" sz="1600" dirty="0"/>
              <a:t>• Conclusion</a:t>
            </a:r>
          </a:p>
          <a:p>
            <a:r>
              <a:rPr lang="en-US" sz="1600" dirty="0"/>
              <a:t>• References</a:t>
            </a:r>
          </a:p>
        </p:txBody>
      </p:sp>
      <p:sp>
        <p:nvSpPr>
          <p:cNvPr id="3" name="object 9">
            <a:extLst>
              <a:ext uri="{FF2B5EF4-FFF2-40B4-BE49-F238E27FC236}">
                <a16:creationId xmlns:a16="http://schemas.microsoft.com/office/drawing/2014/main" id="{1C6535F3-EE55-3BB0-8314-AEE11BB14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2874" y="210473"/>
            <a:ext cx="4610750" cy="10868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tabLst>
                <a:tab pos="64833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tabLst>
                <a:tab pos="64833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tabLst>
                <a:tab pos="64833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tabLst>
                <a:tab pos="64833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tabLst>
                <a:tab pos="64833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ts val="100"/>
              </a:spcBef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CONTENTS</a:t>
            </a:r>
          </a:p>
          <a:p>
            <a:pPr eaLnBrk="1" hangingPunct="1">
              <a:spcBef>
                <a:spcPts val="100"/>
              </a:spcBef>
            </a:pPr>
            <a:endParaRPr lang="en-US" altLang="en-US" sz="4900" dirty="0">
              <a:solidFill>
                <a:srgbClr val="005893"/>
              </a:solidFill>
              <a:latin typeface="Playfair Display" panose="000005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>
            <a:extLst>
              <a:ext uri="{FF2B5EF4-FFF2-40B4-BE49-F238E27FC236}">
                <a16:creationId xmlns:a16="http://schemas.microsoft.com/office/drawing/2014/main" id="{F2E7B7E9-21CB-4681-BDA3-90D7F3F4E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9427" y="253244"/>
            <a:ext cx="4105141" cy="319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Introduction about the project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042DDB-D2C7-C416-A797-BB2A0AA68F7D}"/>
              </a:ext>
            </a:extLst>
          </p:cNvPr>
          <p:cNvSpPr txBox="1"/>
          <p:nvPr/>
        </p:nvSpPr>
        <p:spPr>
          <a:xfrm>
            <a:off x="790303" y="1280160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AFFB70-96FD-BDB7-F909-51AE5A412E77}"/>
              </a:ext>
            </a:extLst>
          </p:cNvPr>
          <p:cNvSpPr txBox="1"/>
          <p:nvPr/>
        </p:nvSpPr>
        <p:spPr>
          <a:xfrm>
            <a:off x="414744" y="889963"/>
            <a:ext cx="8314509" cy="39315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enterprise networks are facing an unprecedented volume of sophisticated, fast-moving cyber attacks. Threat actors are increasingly utilizing automated tools and AI to generate novel "zero-day" exploits that bypass traditional, signature-based defenses.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Currently, organizations operate in silos. When a zero-day attack breaches Company A, Company B remains entirely unaware and vulnerable until security vendors manually analyze the breach and distribute a patch. This "human-in-the-loop" latency is the exact window where attacks propagate globally.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logical solution is for organizations to pool their network traffic logs to train a massive, collective AI defense system. However, strict data privacy laws (like GDPR and CCPA) and the risk of leaking internal IP addresses, user credentials, or proprietary network structures (Personally Identifiable Information - PII) make sharing raw telemetry legally and operationally impossible.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introduces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ACTIS (Agentic Collaborative Threat Intelligence System)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comprehensive AI-driven framework designed to solve the collaboration-privacy paradox.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>
            <a:extLst>
              <a:ext uri="{FF2B5EF4-FFF2-40B4-BE49-F238E27FC236}">
                <a16:creationId xmlns:a16="http://schemas.microsoft.com/office/drawing/2014/main" id="{F2E7B7E9-21CB-4681-BDA3-90D7F3F4E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9428" y="298964"/>
            <a:ext cx="4105141" cy="319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Motivation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C9D16F-4604-4E84-7958-745FC256B53F}"/>
              </a:ext>
            </a:extLst>
          </p:cNvPr>
          <p:cNvSpPr txBox="1"/>
          <p:nvPr/>
        </p:nvSpPr>
        <p:spPr>
          <a:xfrm>
            <a:off x="287382" y="1103812"/>
            <a:ext cx="8569234" cy="2637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"Data Sharing" Problem: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Hospitals and banks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share threat alerts to help each other, but privacy laws (like GDPR) legally stop them from doing it.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Power of Federated Learning: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ACTIS proves companies can build a massive, shared defense AI together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ever showing each other their private data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Beating AI at its Own Game: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Hackers use Artificial Intelligence to write new viruses constantly. Old firewalls are too slow, so we must use our own AI to fight back.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More Human Delay: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When an attack happens, humans take hours to type out a patch. ACTIS automatically writes the firewall rule and blocks the hacker in seconds.</a:t>
            </a:r>
          </a:p>
        </p:txBody>
      </p:sp>
    </p:spTree>
    <p:extLst>
      <p:ext uri="{BB962C8B-B14F-4D97-AF65-F5344CB8AC3E}">
        <p14:creationId xmlns:p14="http://schemas.microsoft.com/office/powerpoint/2010/main" val="891615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303D71C0-83E8-CD31-C4F0-1A56EA2AF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6AD8E5-B649-4AAE-5C5D-7CAA93055127}"/>
              </a:ext>
            </a:extLst>
          </p:cNvPr>
          <p:cNvSpPr txBox="1"/>
          <p:nvPr/>
        </p:nvSpPr>
        <p:spPr>
          <a:xfrm>
            <a:off x="2282734" y="236424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1EB9FC0-7104-FA9A-92AD-AF48A97BB807}"/>
              </a:ext>
            </a:extLst>
          </p:cNvPr>
          <p:cNvSpPr txBox="1"/>
          <p:nvPr/>
        </p:nvSpPr>
        <p:spPr>
          <a:xfrm>
            <a:off x="267789" y="1028394"/>
            <a:ext cx="8601891" cy="296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Privacy vs. Actionability Dilemma: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that share actionable threat logs (like SIEMs) risk leaking vast amounts of Personally Identifiable Information (PII) and internal network structures.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Fragility Against Real-World (Non-IID) Data: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Traditional federated aggregation algorithms assume all network traffic looks identical.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Vulnerability to Decentralized Model Poisoning: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single rogue node in a decentralized AI network can corrupt the shared global IDS model, making all connected organizations vulnerable.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"Human-in-the-Loop" Zero-Day Vulnerability: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manual delay of human analysts reading, synthesizing, and writing firewall rules creates the critical time window that zero-day attacks exploit for maximum damage.</a:t>
            </a:r>
          </a:p>
        </p:txBody>
      </p:sp>
    </p:spTree>
    <p:extLst>
      <p:ext uri="{BB962C8B-B14F-4D97-AF65-F5344CB8AC3E}">
        <p14:creationId xmlns:p14="http://schemas.microsoft.com/office/powerpoint/2010/main" val="337017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303D71C0-83E8-CD31-C4F0-1A56EA2AF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6AD8E5-B649-4AAE-5C5D-7CAA93055127}"/>
              </a:ext>
            </a:extLst>
          </p:cNvPr>
          <p:cNvSpPr txBox="1"/>
          <p:nvPr/>
        </p:nvSpPr>
        <p:spPr>
          <a:xfrm>
            <a:off x="2286000" y="165088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en-US" sz="2000" dirty="0">
                <a:solidFill>
                  <a:schemeClr val="tx1"/>
                </a:solidFill>
              </a:rPr>
              <a:t>Project Objectives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DE0F80-E661-7398-F4C8-7EFBEF2FA6F9}"/>
              </a:ext>
            </a:extLst>
          </p:cNvPr>
          <p:cNvSpPr txBox="1"/>
          <p:nvPr/>
        </p:nvSpPr>
        <p:spPr>
          <a:xfrm>
            <a:off x="163285" y="1038497"/>
            <a:ext cx="8851013" cy="38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Federated IDS Training: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develop a highly accurate Intrusion Detection System (IDS) that trains collaboratively across multiple organizations using the 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FedProx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Federated Learning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algorithm, strictly sharing only mathematical model weights and never centralizing raw network traffic.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Resilient Federated Aggregation: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engineer a dynamic, Trust-Aware aggregation strategy at the central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Server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Guarantee Federated Data Sanitization: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design an Agentic Privacy Engine powered by Large Language Models and Regex validation loops that autonomously strips 100% of PII from threat reports locally,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before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they are ever transmitted to the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network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Establish a Federated Proactive Defense: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To deploy a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Global Federated RAG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(Vector Database) and an Immunity Engine that autonomously retrieves cross-organizational threat patterns and instantly synthesizes deployable perimeter firewall rules to protect the entire federation against zero-day attacks.</a:t>
            </a:r>
          </a:p>
          <a:p>
            <a:pPr algn="l"/>
            <a:endParaRPr lang="en-US" b="0" i="0" dirty="0">
              <a:solidFill>
                <a:srgbClr val="CCCCCC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3946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AC8B8075-4D98-6AB2-37A9-D8CF9CD9F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AF80D92-6278-1A65-3A3B-66F4DE278868}"/>
              </a:ext>
            </a:extLst>
          </p:cNvPr>
          <p:cNvSpPr txBox="1"/>
          <p:nvPr/>
        </p:nvSpPr>
        <p:spPr>
          <a:xfrm>
            <a:off x="2286000" y="165088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en-US" sz="2000" dirty="0">
                <a:solidFill>
                  <a:schemeClr val="tx1"/>
                </a:solidFill>
              </a:rPr>
              <a:t>Federated Learning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1BD0B18-01D4-736F-39E6-5296920BA8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852833"/>
            <a:ext cx="7772400" cy="419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218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>
            <a:extLst>
              <a:ext uri="{FF2B5EF4-FFF2-40B4-BE49-F238E27FC236}">
                <a16:creationId xmlns:a16="http://schemas.microsoft.com/office/drawing/2014/main" id="{2395BE7A-9D0E-6337-F5A8-E3C5BA9620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1659" y="303929"/>
            <a:ext cx="3440679" cy="319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Scope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318995-3C5B-A775-510B-6C3CEB69ADF5}"/>
              </a:ext>
            </a:extLst>
          </p:cNvPr>
          <p:cNvSpPr txBox="1"/>
          <p:nvPr/>
        </p:nvSpPr>
        <p:spPr>
          <a:xfrm>
            <a:off x="114299" y="953984"/>
            <a:ext cx="8915400" cy="3285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Financial Institutions &amp; Banks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Competing banks can pool their cyber defenses to instantly block new financial exploits (like SWIFT network attacks) without legally violating customer privacy or exposing proprietary ledgers.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Networks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Hospitals can collaborate to stop horizontal ransomware spread without ever transmitting protected patient records (HIPAA compliance), as only mathematical noise and sanitized summaries are shared.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Infrastructure (Power Grids &amp; Water Plants)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 Regional SCADA networks can deploy ACTIS to autonomously identify and block state-sponsored malware across the national grid without needing high bandwidth continuous cloud monitoring.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Managed Security Service Providers (MSSPs): 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companies can deploy ACTIS across hundreds of distinct corporate clients, creating a unified "hive mind" defense instantly protecting Client B when Client A is attacked, without mixing their restricted data.</a:t>
            </a:r>
          </a:p>
        </p:txBody>
      </p:sp>
    </p:spTree>
    <p:extLst>
      <p:ext uri="{BB962C8B-B14F-4D97-AF65-F5344CB8AC3E}">
        <p14:creationId xmlns:p14="http://schemas.microsoft.com/office/powerpoint/2010/main" val="383862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>
            <a:extLst>
              <a:ext uri="{FF2B5EF4-FFF2-40B4-BE49-F238E27FC236}">
                <a16:creationId xmlns:a16="http://schemas.microsoft.com/office/drawing/2014/main" id="{B1C6201D-91E0-7567-93DE-89237FBBD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3903" y="110829"/>
            <a:ext cx="4526747" cy="6277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2000" dirty="0"/>
              <a:t>     Literature Survey</a:t>
            </a:r>
          </a:p>
          <a:p>
            <a:pPr>
              <a:spcBef>
                <a:spcPct val="0"/>
              </a:spcBef>
            </a:pPr>
            <a:endParaRPr lang="en-US" altLang="en-US" sz="2000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A4EE3ED-C358-D65B-5B64-E54C64A8EC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621766"/>
              </p:ext>
            </p:extLst>
          </p:nvPr>
        </p:nvGraphicFramePr>
        <p:xfrm>
          <a:off x="225642" y="947571"/>
          <a:ext cx="8709350" cy="4099542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54785">
                  <a:extLst>
                    <a:ext uri="{9D8B030D-6E8A-4147-A177-3AD203B41FA5}">
                      <a16:colId xmlns:a16="http://schemas.microsoft.com/office/drawing/2014/main" val="2279697044"/>
                    </a:ext>
                  </a:extLst>
                </a:gridCol>
                <a:gridCol w="1153765">
                  <a:extLst>
                    <a:ext uri="{9D8B030D-6E8A-4147-A177-3AD203B41FA5}">
                      <a16:colId xmlns:a16="http://schemas.microsoft.com/office/drawing/2014/main" val="803012569"/>
                    </a:ext>
                  </a:extLst>
                </a:gridCol>
                <a:gridCol w="2085800">
                  <a:extLst>
                    <a:ext uri="{9D8B030D-6E8A-4147-A177-3AD203B41FA5}">
                      <a16:colId xmlns:a16="http://schemas.microsoft.com/office/drawing/2014/main" val="1008628936"/>
                    </a:ext>
                  </a:extLst>
                </a:gridCol>
                <a:gridCol w="2552119">
                  <a:extLst>
                    <a:ext uri="{9D8B030D-6E8A-4147-A177-3AD203B41FA5}">
                      <a16:colId xmlns:a16="http://schemas.microsoft.com/office/drawing/2014/main" val="2676647448"/>
                    </a:ext>
                  </a:extLst>
                </a:gridCol>
                <a:gridCol w="2062881">
                  <a:extLst>
                    <a:ext uri="{9D8B030D-6E8A-4147-A177-3AD203B41FA5}">
                      <a16:colId xmlns:a16="http://schemas.microsoft.com/office/drawing/2014/main" val="3647373459"/>
                    </a:ext>
                  </a:extLst>
                </a:gridCol>
              </a:tblGrid>
              <a:tr h="51631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SL No</a:t>
                      </a:r>
                      <a:endParaRPr lang="en-IN" sz="14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Source</a:t>
                      </a:r>
                    </a:p>
                    <a:p>
                      <a:pPr algn="ctr"/>
                      <a:r>
                        <a:rPr lang="en-US" sz="1400" dirty="0"/>
                        <a:t>(Latest)</a:t>
                      </a:r>
                      <a:endParaRPr lang="en-IN" sz="14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Paper Details</a:t>
                      </a:r>
                      <a:endParaRPr lang="en-IN" sz="14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Key Attributes/Findings</a:t>
                      </a:r>
                      <a:endParaRPr lang="en-IN" sz="14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Challenges/</a:t>
                      </a:r>
                    </a:p>
                    <a:p>
                      <a:pPr algn="ctr"/>
                      <a:r>
                        <a:rPr lang="en-US" sz="1400" dirty="0"/>
                        <a:t>Limitations</a:t>
                      </a:r>
                      <a:endParaRPr lang="en-IN" sz="1400" dirty="0"/>
                    </a:p>
                  </a:txBody>
                  <a:tcPr marL="91456" marR="91456" marT="45711" marB="45711"/>
                </a:tc>
                <a:extLst>
                  <a:ext uri="{0D108BD9-81ED-4DB2-BD59-A6C34878D82A}">
                    <a16:rowId xmlns:a16="http://schemas.microsoft.com/office/drawing/2014/main" val="3876178566"/>
                  </a:ext>
                </a:extLst>
              </a:tr>
              <a:tr h="10060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dirty="0">
                          <a:effectLst/>
                        </a:rPr>
                        <a:t>1</a:t>
                      </a:r>
                      <a:endParaRPr lang="en-US" sz="100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i="1" dirty="0">
                          <a:effectLst/>
                        </a:rPr>
                        <a:t>Zhang, Yang, et al.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Jan 2026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effectLst/>
                        </a:rPr>
                        <a:t>Tri-LLM Cooperative Federated Zero-Shot Intrusion Detection...</a:t>
                      </a:r>
                      <a:br>
                        <a:rPr lang="en-US" sz="1000" dirty="0">
                          <a:effectLst/>
                        </a:rPr>
                      </a:br>
                      <a:endParaRPr lang="en-US" sz="100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Employs multi-LLM semantic disagreement to detect zero-day attacks without data sharing. Introduces "Trust-Aware" local client weighting.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effectLst/>
                        </a:rPr>
                        <a:t>LLMs act as static encoders, not autonomous agents. Lacks privacy-preserving measures for the semantic embeddings and offers no active RAG explainability.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834328933"/>
                  </a:ext>
                </a:extLst>
              </a:tr>
              <a:tr h="8542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>
                          <a:effectLst/>
                        </a:rPr>
                        <a:t>2</a:t>
                      </a:r>
                      <a:endParaRPr lang="en-US" sz="100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000" b="1" dirty="0">
                          <a:effectLst/>
                        </a:rPr>
                        <a:t>Shaghayegh Shajarian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Dec 2025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 err="1">
                          <a:effectLst/>
                        </a:rPr>
                        <a:t>ReGAIN</a:t>
                      </a:r>
                      <a:r>
                        <a:rPr lang="en-US" sz="1000" b="1" dirty="0">
                          <a:effectLst/>
                        </a:rPr>
                        <a:t>: Retrieval-Grounded AI Framework for Network Traffic...</a:t>
                      </a:r>
                      <a:br>
                        <a:rPr lang="en-US" sz="1000" dirty="0">
                          <a:effectLst/>
                        </a:rPr>
                      </a:br>
                      <a:endParaRPr lang="en-US" sz="100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First multi-collection vector database pipeline mapping raw NetFlow directly to actionable intelligence. LLM cites references structurally.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effectLst/>
                        </a:rPr>
                        <a:t>Entirely centralized processing. No federated resilience against data poisoning, and highly vulnerable if the core database is compromised.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919704194"/>
                  </a:ext>
                </a:extLst>
              </a:tr>
              <a:tr h="8542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>
                          <a:effectLst/>
                        </a:rPr>
                        <a:t>3</a:t>
                      </a:r>
                      <a:endParaRPr lang="en-US" sz="100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i="1" dirty="0">
                          <a:effectLst/>
                        </a:rPr>
                        <a:t>Yuan, Zheng, et al.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Sep 2025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 err="1">
                          <a:effectLst/>
                        </a:rPr>
                        <a:t>CyberRAG</a:t>
                      </a:r>
                      <a:r>
                        <a:rPr lang="en-US" sz="1000" b="1" dirty="0">
                          <a:effectLst/>
                        </a:rPr>
                        <a:t>: An Agentic RAG Cyber Attack Classification...</a:t>
                      </a:r>
                      <a:br>
                        <a:rPr lang="en-US" sz="1000" dirty="0">
                          <a:effectLst/>
                        </a:rPr>
                      </a:br>
                      <a:endParaRPr lang="en-US" sz="100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effectLst/>
                        </a:rPr>
                        <a:t>Core LLM agent dynamically calls specialized BERT classifiers per-attack format. Uses retrieval to synthesize final analyst reports.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effectLst/>
                        </a:rPr>
                        <a:t>Limited strictly to Web payloads (SQLi, XSS, SSTI). Agent pipeline lacks any PII stripping mechanisms before querying external intelligence graphs.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212984229"/>
                  </a:ext>
                </a:extLst>
              </a:tr>
              <a:tr h="8542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4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i="1" dirty="0">
                          <a:effectLst/>
                        </a:rPr>
                        <a:t>Tariq et al.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2024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effectLst/>
                        </a:rPr>
                        <a:t>Federated Learning based NIDS using Unbalanced IoT Data</a:t>
                      </a:r>
                      <a:br>
                        <a:rPr lang="en-US" sz="1000" dirty="0">
                          <a:effectLst/>
                        </a:rPr>
                      </a:br>
                      <a:endParaRPr lang="en-US" sz="100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Proves FL successfully manages extreme class imbalances (e.g., rare BotNet traffic vs normal) by synthesizing minor classes locally.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effectLst/>
                        </a:rPr>
                        <a:t>Focuses primarily on label distribution skew rather than feature shift; vulnerable to malicious Byzantine nodes deliberately mislabeling data.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72538686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53A9D37F-06E1-389F-630D-C70ED6350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>
            <a:extLst>
              <a:ext uri="{FF2B5EF4-FFF2-40B4-BE49-F238E27FC236}">
                <a16:creationId xmlns:a16="http://schemas.microsoft.com/office/drawing/2014/main" id="{65699462-5F53-232C-7102-4B0942EE44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3903" y="110829"/>
            <a:ext cx="4526747" cy="319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2000" dirty="0"/>
              <a:t>     Literature Survey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598D2CF-8178-5137-E8DD-D86E47F2EE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1031588"/>
              </p:ext>
            </p:extLst>
          </p:nvPr>
        </p:nvGraphicFramePr>
        <p:xfrm>
          <a:off x="225642" y="947571"/>
          <a:ext cx="8709350" cy="4022845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54785">
                  <a:extLst>
                    <a:ext uri="{9D8B030D-6E8A-4147-A177-3AD203B41FA5}">
                      <a16:colId xmlns:a16="http://schemas.microsoft.com/office/drawing/2014/main" val="2279697044"/>
                    </a:ext>
                  </a:extLst>
                </a:gridCol>
                <a:gridCol w="1153765">
                  <a:extLst>
                    <a:ext uri="{9D8B030D-6E8A-4147-A177-3AD203B41FA5}">
                      <a16:colId xmlns:a16="http://schemas.microsoft.com/office/drawing/2014/main" val="803012569"/>
                    </a:ext>
                  </a:extLst>
                </a:gridCol>
                <a:gridCol w="2085800">
                  <a:extLst>
                    <a:ext uri="{9D8B030D-6E8A-4147-A177-3AD203B41FA5}">
                      <a16:colId xmlns:a16="http://schemas.microsoft.com/office/drawing/2014/main" val="1008628936"/>
                    </a:ext>
                  </a:extLst>
                </a:gridCol>
                <a:gridCol w="2552119">
                  <a:extLst>
                    <a:ext uri="{9D8B030D-6E8A-4147-A177-3AD203B41FA5}">
                      <a16:colId xmlns:a16="http://schemas.microsoft.com/office/drawing/2014/main" val="2676647448"/>
                    </a:ext>
                  </a:extLst>
                </a:gridCol>
                <a:gridCol w="2062881">
                  <a:extLst>
                    <a:ext uri="{9D8B030D-6E8A-4147-A177-3AD203B41FA5}">
                      <a16:colId xmlns:a16="http://schemas.microsoft.com/office/drawing/2014/main" val="3647373459"/>
                    </a:ext>
                  </a:extLst>
                </a:gridCol>
              </a:tblGrid>
              <a:tr h="52910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SL No</a:t>
                      </a:r>
                      <a:endParaRPr lang="en-IN" sz="14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Source</a:t>
                      </a:r>
                    </a:p>
                    <a:p>
                      <a:pPr algn="ctr"/>
                      <a:r>
                        <a:rPr lang="en-US" sz="1400" dirty="0"/>
                        <a:t>(Latest)</a:t>
                      </a:r>
                      <a:endParaRPr lang="en-IN" sz="14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Paper Details</a:t>
                      </a:r>
                      <a:endParaRPr lang="en-IN" sz="14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Key Attributes/Findings</a:t>
                      </a:r>
                      <a:endParaRPr lang="en-IN" sz="14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Challenges/</a:t>
                      </a:r>
                    </a:p>
                    <a:p>
                      <a:pPr algn="ctr"/>
                      <a:r>
                        <a:rPr lang="en-US" sz="1400" dirty="0"/>
                        <a:t>Limitations</a:t>
                      </a:r>
                      <a:endParaRPr lang="en-IN" sz="1400" dirty="0"/>
                    </a:p>
                  </a:txBody>
                  <a:tcPr marL="91456" marR="91456" marT="45711" marB="45711"/>
                </a:tc>
                <a:extLst>
                  <a:ext uri="{0D108BD9-81ED-4DB2-BD59-A6C34878D82A}">
                    <a16:rowId xmlns:a16="http://schemas.microsoft.com/office/drawing/2014/main" val="3876178566"/>
                  </a:ext>
                </a:extLst>
              </a:tr>
              <a:tr h="9142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>
                          <a:effectLst/>
                        </a:rPr>
                        <a:t>5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i="1" dirty="0">
                          <a:effectLst/>
                        </a:rPr>
                        <a:t>Wu, Lee, et al.</a:t>
                      </a:r>
                      <a:br>
                        <a:rPr lang="en-US" sz="1050" dirty="0">
                          <a:effectLst/>
                        </a:rPr>
                      </a:br>
                      <a:r>
                        <a:rPr lang="en-US" sz="1050" dirty="0">
                          <a:effectLst/>
                        </a:rPr>
                        <a:t>2024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b="1" dirty="0">
                          <a:effectLst/>
                        </a:rPr>
                        <a:t>Large Language Models in Cybersecurity: Systematic Review</a:t>
                      </a:r>
                      <a:br>
                        <a:rPr lang="en-US" sz="1050" dirty="0">
                          <a:effectLst/>
                        </a:rPr>
                      </a:br>
                      <a:endParaRPr lang="en-US" sz="105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>
                          <a:effectLst/>
                        </a:rPr>
                        <a:t>Comprehensive survey confirming LLMs excel at log summarization but require strict contextual grounding to prevent hallucinations.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>
                          <a:effectLst/>
                        </a:rPr>
                        <a:t>Foundation models struggle with strict syntactic structures (like valid perimeter defense rule syntax) without specific agentic guardrails.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834328933"/>
                  </a:ext>
                </a:extLst>
              </a:tr>
              <a:tr h="9142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>
                          <a:effectLst/>
                        </a:rPr>
                        <a:t>6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i="1" dirty="0">
                          <a:effectLst/>
                        </a:rPr>
                        <a:t>Kim &amp; Cho</a:t>
                      </a:r>
                      <a:br>
                        <a:rPr lang="en-US" sz="1050" dirty="0">
                          <a:effectLst/>
                        </a:rPr>
                      </a:br>
                      <a:r>
                        <a:rPr lang="en-US" sz="1050" dirty="0">
                          <a:effectLst/>
                        </a:rPr>
                        <a:t>2024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b="1" dirty="0">
                          <a:effectLst/>
                        </a:rPr>
                        <a:t>Agent-Based Autonomous Threat Landscape Analysis using LLMs</a:t>
                      </a:r>
                      <a:br>
                        <a:rPr lang="en-US" sz="1050" dirty="0">
                          <a:effectLst/>
                        </a:rPr>
                      </a:br>
                      <a:endParaRPr lang="en-US" sz="105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>
                          <a:effectLst/>
                        </a:rPr>
                        <a:t>Introduces an orchestrator-agent framework that actively maps ongoing attacks to MITRE ATT&amp;CK vectors autonomously.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>
                          <a:effectLst/>
                        </a:rPr>
                        <a:t>The agentic workflows face severe latency constraints, making them unsuitable for real-time packet-level, inline network blocking.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919704194"/>
                  </a:ext>
                </a:extLst>
              </a:tr>
              <a:tr h="9142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>
                          <a:effectLst/>
                        </a:rPr>
                        <a:t>7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i="1" dirty="0">
                          <a:effectLst/>
                        </a:rPr>
                        <a:t>Huang et al.</a:t>
                      </a:r>
                      <a:br>
                        <a:rPr lang="en-US" sz="1050" dirty="0">
                          <a:effectLst/>
                        </a:rPr>
                      </a:br>
                      <a:r>
                        <a:rPr lang="en-US" sz="1050" dirty="0">
                          <a:effectLst/>
                        </a:rPr>
                        <a:t>2024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b="1" dirty="0">
                          <a:effectLst/>
                        </a:rPr>
                        <a:t>Evaluating the Privacy of Large Language Model Ecosystems</a:t>
                      </a:r>
                      <a:br>
                        <a:rPr lang="en-US" sz="1050" dirty="0">
                          <a:effectLst/>
                        </a:rPr>
                      </a:br>
                      <a:endParaRPr lang="en-US" sz="105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>
                          <a:effectLst/>
                        </a:rPr>
                        <a:t>Measures the exact rates at which base LLMs accidentally regurgitate Personally Identifiable Information from training sets or context windows.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>
                          <a:effectLst/>
                        </a:rPr>
                        <a:t>Highlights that prompting "do not reveal IP" fails often; strict secondary deterministic validators (Regex loops) are mandatory.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212984229"/>
                  </a:ext>
                </a:extLst>
              </a:tr>
              <a:tr h="7508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>
                          <a:effectLst/>
                        </a:rPr>
                        <a:t>8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i="1" dirty="0">
                          <a:effectLst/>
                        </a:rPr>
                        <a:t>Wang et al.</a:t>
                      </a:r>
                      <a:br>
                        <a:rPr lang="en-US" sz="1050" dirty="0">
                          <a:effectLst/>
                        </a:rPr>
                      </a:br>
                      <a:r>
                        <a:rPr lang="en-US" sz="1050" dirty="0">
                          <a:effectLst/>
                        </a:rPr>
                        <a:t>2024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b="1" dirty="0">
                          <a:effectLst/>
                        </a:rPr>
                        <a:t>Empowering Zero-Day Attack Discovery using Context-Aware GPTs</a:t>
                      </a:r>
                      <a:br>
                        <a:rPr lang="en-US" sz="1050" dirty="0">
                          <a:effectLst/>
                        </a:rPr>
                      </a:br>
                      <a:endParaRPr lang="en-US" sz="105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>
                          <a:effectLst/>
                        </a:rPr>
                        <a:t>Shows that pre-trained attention heads can link slightly mutated network payloads to root attack families zero-shot.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dirty="0">
                          <a:effectLst/>
                        </a:rPr>
                        <a:t>Pure generative discovery lacks explainability compared to retrieving specific historical threat profiles.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7253868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2878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1F14ADCF-F3E1-F04F-A4E9-CF90F545E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>
            <a:extLst>
              <a:ext uri="{FF2B5EF4-FFF2-40B4-BE49-F238E27FC236}">
                <a16:creationId xmlns:a16="http://schemas.microsoft.com/office/drawing/2014/main" id="{E3157040-207A-6095-0BC8-2BF8D9E2BE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3903" y="110829"/>
            <a:ext cx="4526747" cy="319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2000" dirty="0"/>
              <a:t>     Literature Survey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8D9F468-A461-AB9D-DBE9-ECB187DF33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0448500"/>
              </p:ext>
            </p:extLst>
          </p:nvPr>
        </p:nvGraphicFramePr>
        <p:xfrm>
          <a:off x="225643" y="947571"/>
          <a:ext cx="8523266" cy="3939522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36522">
                  <a:extLst>
                    <a:ext uri="{9D8B030D-6E8A-4147-A177-3AD203B41FA5}">
                      <a16:colId xmlns:a16="http://schemas.microsoft.com/office/drawing/2014/main" val="2279697044"/>
                    </a:ext>
                  </a:extLst>
                </a:gridCol>
                <a:gridCol w="1129114">
                  <a:extLst>
                    <a:ext uri="{9D8B030D-6E8A-4147-A177-3AD203B41FA5}">
                      <a16:colId xmlns:a16="http://schemas.microsoft.com/office/drawing/2014/main" val="803012569"/>
                    </a:ext>
                  </a:extLst>
                </a:gridCol>
                <a:gridCol w="2041235">
                  <a:extLst>
                    <a:ext uri="{9D8B030D-6E8A-4147-A177-3AD203B41FA5}">
                      <a16:colId xmlns:a16="http://schemas.microsoft.com/office/drawing/2014/main" val="1008628936"/>
                    </a:ext>
                  </a:extLst>
                </a:gridCol>
                <a:gridCol w="2497590">
                  <a:extLst>
                    <a:ext uri="{9D8B030D-6E8A-4147-A177-3AD203B41FA5}">
                      <a16:colId xmlns:a16="http://schemas.microsoft.com/office/drawing/2014/main" val="2676647448"/>
                    </a:ext>
                  </a:extLst>
                </a:gridCol>
                <a:gridCol w="2018805">
                  <a:extLst>
                    <a:ext uri="{9D8B030D-6E8A-4147-A177-3AD203B41FA5}">
                      <a16:colId xmlns:a16="http://schemas.microsoft.com/office/drawing/2014/main" val="3647373459"/>
                    </a:ext>
                  </a:extLst>
                </a:gridCol>
              </a:tblGrid>
              <a:tr h="4964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SL No</a:t>
                      </a:r>
                      <a:endParaRPr lang="en-IN" sz="14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Source</a:t>
                      </a:r>
                    </a:p>
                    <a:p>
                      <a:pPr algn="ctr"/>
                      <a:r>
                        <a:rPr lang="en-US" sz="1400" dirty="0"/>
                        <a:t>(Latest)</a:t>
                      </a:r>
                      <a:endParaRPr lang="en-IN" sz="14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Paper Details</a:t>
                      </a:r>
                      <a:endParaRPr lang="en-IN" sz="14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Key Attributes/Findings</a:t>
                      </a:r>
                      <a:endParaRPr lang="en-IN" sz="14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Challenges/</a:t>
                      </a:r>
                    </a:p>
                    <a:p>
                      <a:pPr algn="ctr"/>
                      <a:r>
                        <a:rPr lang="en-US" sz="1400" dirty="0"/>
                        <a:t>Limitations</a:t>
                      </a:r>
                      <a:endParaRPr lang="en-IN" sz="1400" dirty="0"/>
                    </a:p>
                  </a:txBody>
                  <a:tcPr marL="91456" marR="91456" marT="45711" marB="45711"/>
                </a:tc>
                <a:extLst>
                  <a:ext uri="{0D108BD9-81ED-4DB2-BD59-A6C34878D82A}">
                    <a16:rowId xmlns:a16="http://schemas.microsoft.com/office/drawing/2014/main" val="3876178566"/>
                  </a:ext>
                </a:extLst>
              </a:tr>
              <a:tr h="2752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>
                          <a:effectLst/>
                        </a:rPr>
                        <a:t>9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i="1" dirty="0">
                          <a:effectLst/>
                        </a:rPr>
                        <a:t>Lin et al.</a:t>
                      </a:r>
                      <a:br>
                        <a:rPr lang="en-US" sz="1050" dirty="0">
                          <a:effectLst/>
                        </a:rPr>
                      </a:br>
                      <a:r>
                        <a:rPr lang="en-US" sz="1050" dirty="0">
                          <a:effectLst/>
                        </a:rPr>
                        <a:t>2024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b="1" dirty="0">
                          <a:effectLst/>
                        </a:rPr>
                        <a:t>PII Sanitization in Large Language Models: Methodologies...</a:t>
                      </a:r>
                      <a:br>
                        <a:rPr lang="en-US" sz="1050" dirty="0">
                          <a:effectLst/>
                        </a:rPr>
                      </a:br>
                      <a:endParaRPr lang="en-US" sz="105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>
                          <a:effectLst/>
                        </a:rPr>
                        <a:t>Categorizes state-of-the-art PII redaction methods, demonstrating that multi-agent "red-teaming" (one hides, one seeks) yields best redaction.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>
                          <a:effectLst/>
                        </a:rPr>
                        <a:t>High computational overhead to run contradictory loops for every single payload metric generated.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834328933"/>
                  </a:ext>
                </a:extLst>
              </a:tr>
              <a:tr h="3080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>
                          <a:effectLst/>
                        </a:rPr>
                        <a:t>10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i="1" dirty="0">
                          <a:effectLst/>
                        </a:rPr>
                        <a:t>Hu et al.</a:t>
                      </a:r>
                      <a:br>
                        <a:rPr lang="en-US" sz="1050" dirty="0">
                          <a:effectLst/>
                        </a:rPr>
                      </a:br>
                      <a:r>
                        <a:rPr lang="en-US" sz="1050" dirty="0">
                          <a:effectLst/>
                        </a:rPr>
                        <a:t>2024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b="1" dirty="0">
                          <a:effectLst/>
                        </a:rPr>
                        <a:t>RAG-Sec: Enhancing Zero-Day Vulnerability Analysis using RAG</a:t>
                      </a:r>
                      <a:br>
                        <a:rPr lang="en-US" sz="1050" dirty="0">
                          <a:effectLst/>
                        </a:rPr>
                      </a:br>
                      <a:endParaRPr lang="en-US" sz="105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>
                          <a:effectLst/>
                        </a:rPr>
                        <a:t>RAG significantly lowers false-positive rates when diagnosing novel vulnerabilities compared to raw supervised learning classification.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>
                          <a:effectLst/>
                        </a:rPr>
                        <a:t>Relies heavily on the freshness of the external database; outdated embeddings result in completely degraded generative output.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919704194"/>
                  </a:ext>
                </a:extLst>
              </a:tr>
              <a:tr h="19845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>
                          <a:effectLst/>
                        </a:rPr>
                        <a:t>11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i="1" dirty="0">
                          <a:effectLst/>
                        </a:rPr>
                        <a:t>Zhang, Yang, et al.</a:t>
                      </a:r>
                      <a:br>
                        <a:rPr lang="en-US" sz="1050" dirty="0">
                          <a:effectLst/>
                        </a:rPr>
                      </a:br>
                      <a:r>
                        <a:rPr lang="en-US" sz="1050" dirty="0">
                          <a:effectLst/>
                        </a:rPr>
                        <a:t>2024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b="1" dirty="0">
                          <a:effectLst/>
                        </a:rPr>
                        <a:t>Synergizing FL and Vector Databases for Decentralized Cyber Immunity</a:t>
                      </a:r>
                      <a:br>
                        <a:rPr lang="en-US" sz="1050" dirty="0">
                          <a:effectLst/>
                        </a:rPr>
                      </a:br>
                      <a:endParaRPr lang="en-US" sz="105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>
                          <a:effectLst/>
                        </a:rPr>
                        <a:t>Conceptually proposes linking distinct FL nodes via shared vector-semantic updates of identified threats rather than raw data.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>
                          <a:effectLst/>
                        </a:rPr>
                        <a:t>Abstract architectural mapping; does not provide formal privacy bounds on the shared vector states mathematically.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2129842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50">
                          <a:effectLst/>
                        </a:rPr>
                        <a:t>12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i="1" dirty="0">
                          <a:effectLst/>
                        </a:rPr>
                        <a:t>Chen et al.</a:t>
                      </a:r>
                      <a:br>
                        <a:rPr lang="en-US" sz="1050" dirty="0">
                          <a:effectLst/>
                        </a:rPr>
                      </a:br>
                      <a:r>
                        <a:rPr lang="en-US" sz="1050" dirty="0">
                          <a:effectLst/>
                        </a:rPr>
                        <a:t>2023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b="1" dirty="0">
                          <a:effectLst/>
                        </a:rPr>
                        <a:t>A Federated Learning Approach to Network Intrusion Detection</a:t>
                      </a:r>
                      <a:br>
                        <a:rPr lang="en-US" sz="1050" dirty="0">
                          <a:effectLst/>
                        </a:rPr>
                      </a:br>
                      <a:endParaRPr lang="en-US" sz="105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dirty="0">
                          <a:effectLst/>
                        </a:rPr>
                        <a:t>Establishes the baseline architecture for multi-node MLP intrusion detection on standardized networking datasets via </a:t>
                      </a:r>
                      <a:r>
                        <a:rPr lang="en-US" sz="1050" dirty="0" err="1">
                          <a:effectLst/>
                        </a:rPr>
                        <a:t>FedAvg</a:t>
                      </a:r>
                      <a:r>
                        <a:rPr lang="en-US" sz="1050" dirty="0">
                          <a:effectLst/>
                        </a:rPr>
                        <a:t>.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50" dirty="0">
                          <a:effectLst/>
                        </a:rPr>
                        <a:t>Local data poisoning by one node quickly propagates bias into the global model under standard averaging.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7253868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5048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6043AD4B-0C40-369E-99DE-6C6F542B9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>
            <a:extLst>
              <a:ext uri="{FF2B5EF4-FFF2-40B4-BE49-F238E27FC236}">
                <a16:creationId xmlns:a16="http://schemas.microsoft.com/office/drawing/2014/main" id="{14973578-B43F-9C6F-0A01-2DFFB02198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3903" y="110829"/>
            <a:ext cx="4526747" cy="319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2000" dirty="0"/>
              <a:t>     Literature Survey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797C401-BB47-300D-F9ED-BAEA9D7C7B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692799"/>
              </p:ext>
            </p:extLst>
          </p:nvPr>
        </p:nvGraphicFramePr>
        <p:xfrm>
          <a:off x="225642" y="947570"/>
          <a:ext cx="8755071" cy="3970596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859273">
                  <a:extLst>
                    <a:ext uri="{9D8B030D-6E8A-4147-A177-3AD203B41FA5}">
                      <a16:colId xmlns:a16="http://schemas.microsoft.com/office/drawing/2014/main" val="2279697044"/>
                    </a:ext>
                  </a:extLst>
                </a:gridCol>
                <a:gridCol w="1159822">
                  <a:extLst>
                    <a:ext uri="{9D8B030D-6E8A-4147-A177-3AD203B41FA5}">
                      <a16:colId xmlns:a16="http://schemas.microsoft.com/office/drawing/2014/main" val="803012569"/>
                    </a:ext>
                  </a:extLst>
                </a:gridCol>
                <a:gridCol w="2096750">
                  <a:extLst>
                    <a:ext uri="{9D8B030D-6E8A-4147-A177-3AD203B41FA5}">
                      <a16:colId xmlns:a16="http://schemas.microsoft.com/office/drawing/2014/main" val="1008628936"/>
                    </a:ext>
                  </a:extLst>
                </a:gridCol>
                <a:gridCol w="2565516">
                  <a:extLst>
                    <a:ext uri="{9D8B030D-6E8A-4147-A177-3AD203B41FA5}">
                      <a16:colId xmlns:a16="http://schemas.microsoft.com/office/drawing/2014/main" val="2676647448"/>
                    </a:ext>
                  </a:extLst>
                </a:gridCol>
                <a:gridCol w="2073710">
                  <a:extLst>
                    <a:ext uri="{9D8B030D-6E8A-4147-A177-3AD203B41FA5}">
                      <a16:colId xmlns:a16="http://schemas.microsoft.com/office/drawing/2014/main" val="3647373459"/>
                    </a:ext>
                  </a:extLst>
                </a:gridCol>
              </a:tblGrid>
              <a:tr h="58950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SL No</a:t>
                      </a:r>
                      <a:endParaRPr lang="en-IN" sz="14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Source</a:t>
                      </a:r>
                    </a:p>
                    <a:p>
                      <a:pPr algn="ctr"/>
                      <a:r>
                        <a:rPr lang="en-US" sz="1400" dirty="0"/>
                        <a:t>(Latest)</a:t>
                      </a:r>
                      <a:endParaRPr lang="en-IN" sz="14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Paper Details</a:t>
                      </a:r>
                      <a:endParaRPr lang="en-IN" sz="14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Key Attributes/Findings</a:t>
                      </a:r>
                      <a:endParaRPr lang="en-IN" sz="1400" dirty="0"/>
                    </a:p>
                  </a:txBody>
                  <a:tcPr marL="91456" marR="91456" marT="45711" marB="4571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Challenges/</a:t>
                      </a:r>
                    </a:p>
                    <a:p>
                      <a:pPr algn="ctr"/>
                      <a:r>
                        <a:rPr lang="en-US" sz="1400" dirty="0"/>
                        <a:t>Limitations</a:t>
                      </a:r>
                      <a:endParaRPr lang="en-IN" sz="1400" dirty="0"/>
                    </a:p>
                  </a:txBody>
                  <a:tcPr marL="91456" marR="91456" marT="45711" marB="45711"/>
                </a:tc>
                <a:extLst>
                  <a:ext uri="{0D108BD9-81ED-4DB2-BD59-A6C34878D82A}">
                    <a16:rowId xmlns:a16="http://schemas.microsoft.com/office/drawing/2014/main" val="3876178566"/>
                  </a:ext>
                </a:extLst>
              </a:tr>
              <a:tr h="8019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13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i="1" dirty="0">
                          <a:effectLst/>
                        </a:rPr>
                        <a:t>Reynaud, Gupta, et al.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2023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effectLst/>
                        </a:rPr>
                        <a:t>Collaborative &amp; Privacy-Preserving Intrusion Detection in Edge Computing</a:t>
                      </a:r>
                      <a:br>
                        <a:rPr lang="en-US" sz="1000" dirty="0">
                          <a:effectLst/>
                        </a:rPr>
                      </a:br>
                      <a:endParaRPr lang="en-US" sz="100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Adjusts FL to operate effectively on constrained Edge devices with limited RAM/GPU profiles.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Highly sensitive to straggler nodes; connection drops from IoT endpoints delay global federated aggregation rounds.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3834328933"/>
                  </a:ext>
                </a:extLst>
              </a:tr>
              <a:tr h="8019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14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i="1" dirty="0">
                          <a:effectLst/>
                        </a:rPr>
                        <a:t>Liu et al.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2023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effectLst/>
                        </a:rPr>
                        <a:t>Scalable Privacy-Preserving FL Framework for Securing IoT Devices</a:t>
                      </a:r>
                      <a:br>
                        <a:rPr lang="en-US" sz="1000" dirty="0">
                          <a:effectLst/>
                        </a:rPr>
                      </a:br>
                      <a:endParaRPr lang="en-US" sz="100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Implements distributed hash tables alongside FL to scale the number of participating endpoint agents securely.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Scaling mechanisms increase overall network overhead and bandwidth saturation during global updates.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919704194"/>
                  </a:ext>
                </a:extLst>
              </a:tr>
              <a:tr h="8019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15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i="1" dirty="0">
                          <a:effectLst/>
                        </a:rPr>
                        <a:t>Zhao et al.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2023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effectLst/>
                        </a:rPr>
                        <a:t>Federated Learning with Non-IID Data: A Survey</a:t>
                      </a:r>
                      <a:br>
                        <a:rPr lang="en-US" sz="1000" dirty="0">
                          <a:effectLst/>
                        </a:rPr>
                      </a:br>
                      <a:endParaRPr lang="en-US" sz="100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Formalizes the statistical feature drift problem where varying network traffic distributions cause global model divergence.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Foundational analysis showing exactly why pure FedAvg fails in network security contexts.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212984229"/>
                  </a:ext>
                </a:extLst>
              </a:tr>
              <a:tr h="9753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>
                          <a:effectLst/>
                        </a:rPr>
                        <a:t>16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i="1" dirty="0">
                          <a:effectLst/>
                        </a:rPr>
                        <a:t>Huang, Zhu, et al.</a:t>
                      </a:r>
                      <a:br>
                        <a:rPr lang="en-US" sz="1000" dirty="0">
                          <a:effectLst/>
                        </a:rPr>
                      </a:br>
                      <a:r>
                        <a:rPr lang="en-US" sz="1000" dirty="0">
                          <a:effectLst/>
                        </a:rPr>
                        <a:t>2023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dirty="0">
                          <a:effectLst/>
                        </a:rPr>
                        <a:t>Dynamic Trust-Aware Federated Learning in Unreliable Environments</a:t>
                      </a:r>
                      <a:br>
                        <a:rPr lang="en-US" sz="1000" dirty="0">
                          <a:effectLst/>
                        </a:rPr>
                      </a:br>
                      <a:endParaRPr lang="en-US" sz="1000" dirty="0">
                        <a:effectLst/>
                      </a:endParaRP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>
                          <a:effectLst/>
                        </a:rPr>
                        <a:t>Generates reliability "trust" scores for nodes based on their training stability, isolating erratic gradients from the average.</a:t>
                      </a:r>
                    </a:p>
                  </a:txBody>
                  <a:tcPr marL="95250" marR="95250" marT="47625" marB="47625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>
                          <a:effectLst/>
                        </a:rPr>
                        <a:t>Trust scores can be manipulated if an attacker gradually degrades their submissions rather than doing it impulsively.</a:t>
                      </a:r>
                    </a:p>
                  </a:txBody>
                  <a:tcPr marL="95250" marR="95250" marT="47625" marB="47625" anchor="ctr"/>
                </a:tc>
                <a:extLst>
                  <a:ext uri="{0D108BD9-81ED-4DB2-BD59-A6C34878D82A}">
                    <a16:rowId xmlns:a16="http://schemas.microsoft.com/office/drawing/2014/main" val="17253868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80631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>
          <a:extLst>
            <a:ext uri="{FF2B5EF4-FFF2-40B4-BE49-F238E27FC236}">
              <a16:creationId xmlns:a16="http://schemas.microsoft.com/office/drawing/2014/main" id="{EA96B53E-5FE3-2E8F-B57B-F21B69D1E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>
            <a:extLst>
              <a:ext uri="{FF2B5EF4-FFF2-40B4-BE49-F238E27FC236}">
                <a16:creationId xmlns:a16="http://schemas.microsoft.com/office/drawing/2014/main" id="{88B53E81-A11A-309C-AB72-411FA5219E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23903" y="110829"/>
            <a:ext cx="4526747" cy="319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2000" dirty="0"/>
              <a:t>     Literature Survey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8796284-D206-5370-0091-26A46AECC78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600479"/>
                  </p:ext>
                </p:extLst>
              </p:nvPr>
            </p:nvGraphicFramePr>
            <p:xfrm>
              <a:off x="225643" y="947571"/>
              <a:ext cx="8768134" cy="4029379"/>
            </p:xfrm>
            <a:graphic>
              <a:graphicData uri="http://schemas.openxmlformats.org/drawingml/2006/table">
                <a:tbl>
                  <a:tblPr firstRow="1" bandRow="1">
                    <a:tableStyleId>{5DA37D80-6434-44D0-A028-1B22A696006F}</a:tableStyleId>
                  </a:tblPr>
                  <a:tblGrid>
                    <a:gridCol w="860555">
                      <a:extLst>
                        <a:ext uri="{9D8B030D-6E8A-4147-A177-3AD203B41FA5}">
                          <a16:colId xmlns:a16="http://schemas.microsoft.com/office/drawing/2014/main" val="2279697044"/>
                        </a:ext>
                      </a:extLst>
                    </a:gridCol>
                    <a:gridCol w="1161553">
                      <a:extLst>
                        <a:ext uri="{9D8B030D-6E8A-4147-A177-3AD203B41FA5}">
                          <a16:colId xmlns:a16="http://schemas.microsoft.com/office/drawing/2014/main" val="803012569"/>
                        </a:ext>
                      </a:extLst>
                    </a:gridCol>
                    <a:gridCol w="2099878">
                      <a:extLst>
                        <a:ext uri="{9D8B030D-6E8A-4147-A177-3AD203B41FA5}">
                          <a16:colId xmlns:a16="http://schemas.microsoft.com/office/drawing/2014/main" val="1008628936"/>
                        </a:ext>
                      </a:extLst>
                    </a:gridCol>
                    <a:gridCol w="2569344">
                      <a:extLst>
                        <a:ext uri="{9D8B030D-6E8A-4147-A177-3AD203B41FA5}">
                          <a16:colId xmlns:a16="http://schemas.microsoft.com/office/drawing/2014/main" val="2676647448"/>
                        </a:ext>
                      </a:extLst>
                    </a:gridCol>
                    <a:gridCol w="2076804">
                      <a:extLst>
                        <a:ext uri="{9D8B030D-6E8A-4147-A177-3AD203B41FA5}">
                          <a16:colId xmlns:a16="http://schemas.microsoft.com/office/drawing/2014/main" val="3647373459"/>
                        </a:ext>
                      </a:extLst>
                    </a:gridCol>
                  </a:tblGrid>
                  <a:tr h="6255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SL No</a:t>
                          </a:r>
                          <a:endParaRPr lang="en-IN" sz="1400" dirty="0"/>
                        </a:p>
                      </a:txBody>
                      <a:tcPr marL="91456" marR="91456" marT="45711" marB="4571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Source</a:t>
                          </a:r>
                        </a:p>
                        <a:p>
                          <a:pPr algn="ctr"/>
                          <a:r>
                            <a:rPr lang="en-US" sz="1400" dirty="0"/>
                            <a:t>(Latest)</a:t>
                          </a:r>
                          <a:endParaRPr lang="en-IN" sz="1400" dirty="0"/>
                        </a:p>
                      </a:txBody>
                      <a:tcPr marL="91456" marR="91456" marT="45711" marB="4571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Paper Details</a:t>
                          </a:r>
                          <a:endParaRPr lang="en-IN" sz="1400" dirty="0"/>
                        </a:p>
                      </a:txBody>
                      <a:tcPr marL="91456" marR="91456" marT="45711" marB="4571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Key Attributes/Findings</a:t>
                          </a:r>
                          <a:endParaRPr lang="en-IN" sz="1400" dirty="0"/>
                        </a:p>
                      </a:txBody>
                      <a:tcPr marL="91456" marR="91456" marT="45711" marB="4571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Challenges/</a:t>
                          </a:r>
                        </a:p>
                        <a:p>
                          <a:pPr algn="ctr"/>
                          <a:r>
                            <a:rPr lang="en-US" sz="1400" dirty="0"/>
                            <a:t>Limitations</a:t>
                          </a:r>
                          <a:endParaRPr lang="en-IN" sz="1400" dirty="0"/>
                        </a:p>
                      </a:txBody>
                      <a:tcPr marL="91456" marR="91456" marT="45711" marB="45711"/>
                    </a:tc>
                    <a:extLst>
                      <a:ext uri="{0D108BD9-81ED-4DB2-BD59-A6C34878D82A}">
                        <a16:rowId xmlns:a16="http://schemas.microsoft.com/office/drawing/2014/main" val="3876178566"/>
                      </a:ext>
                    </a:extLst>
                  </a:tr>
                  <a:tr h="85095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000" dirty="0">
                              <a:effectLst/>
                            </a:rPr>
                            <a:t>17</a:t>
                          </a:r>
                        </a:p>
                      </a:txBody>
                      <a:tcPr marL="95250" marR="95250" marT="47625" marB="47625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000" i="1" dirty="0">
                              <a:effectLst/>
                            </a:rPr>
                            <a:t>Wang, Huang, Dai</a:t>
                          </a:r>
                          <a:br>
                            <a:rPr lang="en-US" sz="1000" dirty="0">
                              <a:effectLst/>
                            </a:rPr>
                          </a:br>
                          <a:r>
                            <a:rPr lang="en-US" sz="1000" dirty="0">
                              <a:effectLst/>
                            </a:rPr>
                            <a:t>2023</a:t>
                          </a:r>
                        </a:p>
                      </a:txBody>
                      <a:tcPr marL="95250" marR="95250" marT="47625" marB="47625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000" b="1" dirty="0">
                              <a:effectLst/>
                            </a:rPr>
                            <a:t>Differentially Private Vector Embeddings for Secure Retrieval</a:t>
                          </a:r>
                          <a:br>
                            <a:rPr lang="en-US" sz="1000" dirty="0">
                              <a:effectLst/>
                            </a:rPr>
                          </a:br>
                          <a:endParaRPr lang="en-US" sz="1000" dirty="0">
                            <a:effectLst/>
                          </a:endParaRPr>
                        </a:p>
                      </a:txBody>
                      <a:tcPr marL="95250" marR="95250" marT="47625" marB="47625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Proves mathematical DP limits via noise injection directly to semantic text output.</a:t>
                          </a:r>
                        </a:p>
                      </a:txBody>
                      <a:tcPr marL="95250" marR="95250" marT="47625" marB="47625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Noise injection causes a measurable drop in semantic retrieval accuracy (MMR match degradation).</a:t>
                          </a:r>
                        </a:p>
                      </a:txBody>
                      <a:tcPr marL="95250" marR="95250" marT="47625" marB="47625" anchor="ctr"/>
                    </a:tc>
                    <a:extLst>
                      <a:ext uri="{0D108BD9-81ED-4DB2-BD59-A6C34878D82A}">
                        <a16:rowId xmlns:a16="http://schemas.microsoft.com/office/drawing/2014/main" val="3834328933"/>
                      </a:ext>
                    </a:extLst>
                  </a:tr>
                  <a:tr h="85095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18</a:t>
                          </a:r>
                        </a:p>
                      </a:txBody>
                      <a:tcPr marL="95250" marR="95250" marT="47625" marB="47625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000" i="1" dirty="0">
                              <a:effectLst/>
                            </a:rPr>
                            <a:t>Badi et al.</a:t>
                          </a:r>
                          <a:br>
                            <a:rPr lang="en-US" sz="1000" dirty="0">
                              <a:effectLst/>
                            </a:rPr>
                          </a:br>
                          <a:r>
                            <a:rPr lang="en-US" sz="1000" dirty="0">
                              <a:effectLst/>
                            </a:rPr>
                            <a:t>2023</a:t>
                          </a:r>
                        </a:p>
                      </a:txBody>
                      <a:tcPr marL="95250" marR="95250" marT="47625" marB="47625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000" b="1" dirty="0">
                              <a:effectLst/>
                            </a:rPr>
                            <a:t>Quantifying &amp; Mitigating Data Leakage in Vector Embeddings via DP</a:t>
                          </a:r>
                          <a:br>
                            <a:rPr lang="en-US" sz="1000" dirty="0">
                              <a:effectLst/>
                            </a:rPr>
                          </a:br>
                          <a:endParaRPr lang="en-US" sz="1000" dirty="0">
                            <a:effectLst/>
                          </a:endParaRPr>
                        </a:p>
                      </a:txBody>
                      <a:tcPr marL="95250" marR="95250" marT="47625" marB="47625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Outlines exactly how membership inference extracts precise sentence structures from dense vectors, mapped specifically to language models.</a:t>
                          </a:r>
                        </a:p>
                      </a:txBody>
                      <a:tcPr marL="95250" marR="95250" marT="47625" marB="47625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Establishing the precise bound of </a:t>
                          </a:r>
                          <a14:m>
                            <m:oMath xmlns:m="http://schemas.openxmlformats.org/officeDocument/2006/math">
                              <m:r>
                                <a:rPr lang="en-US" sz="1000" i="1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oMath>
                          </a14:m>
                          <a:r>
                            <a:rPr lang="en-US" sz="1000">
                              <a:effectLst/>
                            </a:rPr>
                            <a:t> is difficult without rendering the vectorized threat completely unsearchable.</a:t>
                          </a:r>
                        </a:p>
                      </a:txBody>
                      <a:tcPr marL="95250" marR="95250" marT="47625" marB="47625" anchor="ctr"/>
                    </a:tc>
                    <a:extLst>
                      <a:ext uri="{0D108BD9-81ED-4DB2-BD59-A6C34878D82A}">
                        <a16:rowId xmlns:a16="http://schemas.microsoft.com/office/drawing/2014/main" val="919704194"/>
                      </a:ext>
                    </a:extLst>
                  </a:tr>
                  <a:tr h="85095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19</a:t>
                          </a:r>
                        </a:p>
                      </a:txBody>
                      <a:tcPr marL="95250" marR="95250" marT="47625" marB="47625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000" i="1" dirty="0">
                              <a:effectLst/>
                            </a:rPr>
                            <a:t>Chen et al.</a:t>
                          </a:r>
                          <a:br>
                            <a:rPr lang="en-US" sz="1000" dirty="0">
                              <a:effectLst/>
                            </a:rPr>
                          </a:br>
                          <a:r>
                            <a:rPr lang="en-US" sz="1000" dirty="0">
                              <a:effectLst/>
                            </a:rPr>
                            <a:t>2023</a:t>
                          </a:r>
                        </a:p>
                      </a:txBody>
                      <a:tcPr marL="95250" marR="95250" marT="47625" marB="47625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000" b="1" dirty="0">
                              <a:effectLst/>
                            </a:rPr>
                            <a:t>Local Differential Privacy for Deep Learning and Edge Computing</a:t>
                          </a:r>
                          <a:br>
                            <a:rPr lang="en-US" sz="1000" dirty="0">
                              <a:effectLst/>
                            </a:rPr>
                          </a:br>
                          <a:endParaRPr lang="en-US" sz="1000" dirty="0">
                            <a:effectLst/>
                          </a:endParaRPr>
                        </a:p>
                      </a:txBody>
                      <a:tcPr marL="95250" marR="95250" marT="47625" marB="47625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000" dirty="0">
                              <a:effectLst/>
                            </a:rPr>
                            <a:t>Applies LDP to neural network gradient updates explicitly during the FL optimization passes.</a:t>
                          </a:r>
                        </a:p>
                      </a:txBody>
                      <a:tcPr marL="95250" marR="95250" marT="47625" marB="47625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000" dirty="0">
                              <a:effectLst/>
                            </a:rPr>
                            <a:t>Adding noise locally at every node severely damages the final global classification accuracy on complex datasets.</a:t>
                          </a:r>
                        </a:p>
                      </a:txBody>
                      <a:tcPr marL="95250" marR="95250" marT="47625" marB="47625" anchor="ctr"/>
                    </a:tc>
                    <a:extLst>
                      <a:ext uri="{0D108BD9-81ED-4DB2-BD59-A6C34878D82A}">
                        <a16:rowId xmlns:a16="http://schemas.microsoft.com/office/drawing/2014/main" val="1212984229"/>
                      </a:ext>
                    </a:extLst>
                  </a:tr>
                  <a:tr h="85095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20</a:t>
                          </a:r>
                        </a:p>
                      </a:txBody>
                      <a:tcPr marL="95250" marR="95250" marT="47625" marB="47625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000" i="1" dirty="0">
                              <a:effectLst/>
                            </a:rPr>
                            <a:t>Qiao et al.</a:t>
                          </a:r>
                          <a:br>
                            <a:rPr lang="en-US" sz="1000" dirty="0">
                              <a:effectLst/>
                            </a:rPr>
                          </a:br>
                          <a:r>
                            <a:rPr lang="en-US" sz="1000" dirty="0">
                              <a:effectLst/>
                            </a:rPr>
                            <a:t>2023</a:t>
                          </a:r>
                        </a:p>
                      </a:txBody>
                      <a:tcPr marL="95250" marR="95250" marT="47625" marB="47625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000" b="1" dirty="0">
                              <a:effectLst/>
                            </a:rPr>
                            <a:t>Generative Red Teaming: Integrating LLMs for Automated Pen Testing</a:t>
                          </a:r>
                          <a:br>
                            <a:rPr lang="en-US" sz="1000" dirty="0">
                              <a:effectLst/>
                            </a:rPr>
                          </a:br>
                          <a:endParaRPr lang="en-US" sz="1000" dirty="0">
                            <a:effectLst/>
                          </a:endParaRPr>
                        </a:p>
                      </a:txBody>
                      <a:tcPr marL="95250" marR="95250" marT="47625" marB="47625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Generates adversarial inputs programmatically via an LLM agent attempting to bypass validation logic.</a:t>
                          </a:r>
                        </a:p>
                      </a:txBody>
                      <a:tcPr marL="95250" marR="95250" marT="47625" marB="47625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000" dirty="0">
                              <a:effectLst/>
                            </a:rPr>
                            <a:t>Essential for "testing" immunity outputs, but the Generator agent can suffer from collapse and loop repeated test vectors.</a:t>
                          </a:r>
                        </a:p>
                      </a:txBody>
                      <a:tcPr marL="95250" marR="95250" marT="47625" marB="47625" anchor="ctr"/>
                    </a:tc>
                    <a:extLst>
                      <a:ext uri="{0D108BD9-81ED-4DB2-BD59-A6C34878D82A}">
                        <a16:rowId xmlns:a16="http://schemas.microsoft.com/office/drawing/2014/main" val="172538686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8796284-D206-5370-0091-26A46AECC78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2600479"/>
                  </p:ext>
                </p:extLst>
              </p:nvPr>
            </p:nvGraphicFramePr>
            <p:xfrm>
              <a:off x="225643" y="947571"/>
              <a:ext cx="8768134" cy="4029379"/>
            </p:xfrm>
            <a:graphic>
              <a:graphicData uri="http://schemas.openxmlformats.org/drawingml/2006/table">
                <a:tbl>
                  <a:tblPr firstRow="1" bandRow="1">
                    <a:tableStyleId>{5DA37D80-6434-44D0-A028-1B22A696006F}</a:tableStyleId>
                  </a:tblPr>
                  <a:tblGrid>
                    <a:gridCol w="860555">
                      <a:extLst>
                        <a:ext uri="{9D8B030D-6E8A-4147-A177-3AD203B41FA5}">
                          <a16:colId xmlns:a16="http://schemas.microsoft.com/office/drawing/2014/main" val="2279697044"/>
                        </a:ext>
                      </a:extLst>
                    </a:gridCol>
                    <a:gridCol w="1161553">
                      <a:extLst>
                        <a:ext uri="{9D8B030D-6E8A-4147-A177-3AD203B41FA5}">
                          <a16:colId xmlns:a16="http://schemas.microsoft.com/office/drawing/2014/main" val="803012569"/>
                        </a:ext>
                      </a:extLst>
                    </a:gridCol>
                    <a:gridCol w="2099878">
                      <a:extLst>
                        <a:ext uri="{9D8B030D-6E8A-4147-A177-3AD203B41FA5}">
                          <a16:colId xmlns:a16="http://schemas.microsoft.com/office/drawing/2014/main" val="1008628936"/>
                        </a:ext>
                      </a:extLst>
                    </a:gridCol>
                    <a:gridCol w="2569344">
                      <a:extLst>
                        <a:ext uri="{9D8B030D-6E8A-4147-A177-3AD203B41FA5}">
                          <a16:colId xmlns:a16="http://schemas.microsoft.com/office/drawing/2014/main" val="2676647448"/>
                        </a:ext>
                      </a:extLst>
                    </a:gridCol>
                    <a:gridCol w="2076804">
                      <a:extLst>
                        <a:ext uri="{9D8B030D-6E8A-4147-A177-3AD203B41FA5}">
                          <a16:colId xmlns:a16="http://schemas.microsoft.com/office/drawing/2014/main" val="3647373459"/>
                        </a:ext>
                      </a:extLst>
                    </a:gridCol>
                  </a:tblGrid>
                  <a:tr h="62554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SL No</a:t>
                          </a:r>
                          <a:endParaRPr lang="en-IN" sz="1400" dirty="0"/>
                        </a:p>
                      </a:txBody>
                      <a:tcPr marL="91456" marR="91456" marT="45711" marB="4571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Source</a:t>
                          </a:r>
                        </a:p>
                        <a:p>
                          <a:pPr algn="ctr"/>
                          <a:r>
                            <a:rPr lang="en-US" sz="1400" dirty="0"/>
                            <a:t>(Latest)</a:t>
                          </a:r>
                          <a:endParaRPr lang="en-IN" sz="1400" dirty="0"/>
                        </a:p>
                      </a:txBody>
                      <a:tcPr marL="91456" marR="91456" marT="45711" marB="4571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Paper Details</a:t>
                          </a:r>
                          <a:endParaRPr lang="en-IN" sz="1400" dirty="0"/>
                        </a:p>
                      </a:txBody>
                      <a:tcPr marL="91456" marR="91456" marT="45711" marB="4571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Key Attributes/Findings</a:t>
                          </a:r>
                          <a:endParaRPr lang="en-IN" sz="1400" dirty="0"/>
                        </a:p>
                      </a:txBody>
                      <a:tcPr marL="91456" marR="91456" marT="45711" marB="45711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400" dirty="0"/>
                            <a:t>Challenges/</a:t>
                          </a:r>
                        </a:p>
                        <a:p>
                          <a:pPr algn="ctr"/>
                          <a:r>
                            <a:rPr lang="en-US" sz="1400" dirty="0"/>
                            <a:t>Limitations</a:t>
                          </a:r>
                          <a:endParaRPr lang="en-IN" sz="1400" dirty="0"/>
                        </a:p>
                      </a:txBody>
                      <a:tcPr marL="91456" marR="91456" marT="45711" marB="45711"/>
                    </a:tc>
                    <a:extLst>
                      <a:ext uri="{0D108BD9-81ED-4DB2-BD59-A6C34878D82A}">
                        <a16:rowId xmlns:a16="http://schemas.microsoft.com/office/drawing/2014/main" val="3876178566"/>
                      </a:ext>
                    </a:extLst>
                  </a:tr>
                  <a:tr h="85095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17</a:t>
                          </a:r>
                        </a:p>
                      </a:txBody>
                      <a:tcPr marL="95250" marR="95250" marT="47625" marB="47625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000" i="1" dirty="0">
                              <a:effectLst/>
                            </a:rPr>
                            <a:t>Wang, Huang, Dai</a:t>
                          </a:r>
                          <a:br>
                            <a:rPr lang="en-US" sz="1000" dirty="0">
                              <a:effectLst/>
                            </a:rPr>
                          </a:br>
                          <a:r>
                            <a:rPr lang="en-US" sz="1000" dirty="0">
                              <a:effectLst/>
                            </a:rPr>
                            <a:t>2023</a:t>
                          </a:r>
                        </a:p>
                      </a:txBody>
                      <a:tcPr marL="95250" marR="95250" marT="47625" marB="47625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000" b="1" dirty="0">
                              <a:effectLst/>
                            </a:rPr>
                            <a:t>Differentially Private Vector Embeddings for Secure Retrieval</a:t>
                          </a:r>
                          <a:br>
                            <a:rPr lang="en-US" sz="1000" dirty="0">
                              <a:effectLst/>
                            </a:rPr>
                          </a:br>
                          <a:endParaRPr lang="en-US" sz="1000" dirty="0">
                            <a:effectLst/>
                          </a:endParaRPr>
                        </a:p>
                      </a:txBody>
                      <a:tcPr marL="95250" marR="95250" marT="47625" marB="47625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Proves mathematical DP limits via noise injection directly to semantic text output.</a:t>
                          </a:r>
                        </a:p>
                      </a:txBody>
                      <a:tcPr marL="95250" marR="95250" marT="47625" marB="47625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Noise injection causes a measurable drop in semantic retrieval accuracy (MMR match degradation).</a:t>
                          </a:r>
                        </a:p>
                      </a:txBody>
                      <a:tcPr marL="95250" marR="95250" marT="47625" marB="47625" anchor="ctr"/>
                    </a:tc>
                    <a:extLst>
                      <a:ext uri="{0D108BD9-81ED-4DB2-BD59-A6C34878D82A}">
                        <a16:rowId xmlns:a16="http://schemas.microsoft.com/office/drawing/2014/main" val="3834328933"/>
                      </a:ext>
                    </a:extLst>
                  </a:tr>
                  <a:tr h="85095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18</a:t>
                          </a:r>
                        </a:p>
                      </a:txBody>
                      <a:tcPr marL="95250" marR="95250" marT="47625" marB="47625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000" i="1" dirty="0">
                              <a:effectLst/>
                            </a:rPr>
                            <a:t>Badi et al.</a:t>
                          </a:r>
                          <a:br>
                            <a:rPr lang="en-US" sz="1000" dirty="0">
                              <a:effectLst/>
                            </a:rPr>
                          </a:br>
                          <a:r>
                            <a:rPr lang="en-US" sz="1000" dirty="0">
                              <a:effectLst/>
                            </a:rPr>
                            <a:t>2023</a:t>
                          </a:r>
                        </a:p>
                      </a:txBody>
                      <a:tcPr marL="95250" marR="95250" marT="47625" marB="47625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000" b="1" dirty="0">
                              <a:effectLst/>
                            </a:rPr>
                            <a:t>Quantifying &amp; Mitigating Data Leakage in Vector Embeddings via DP</a:t>
                          </a:r>
                          <a:br>
                            <a:rPr lang="en-US" sz="1000" dirty="0">
                              <a:effectLst/>
                            </a:rPr>
                          </a:br>
                          <a:endParaRPr lang="en-US" sz="1000" dirty="0">
                            <a:effectLst/>
                          </a:endParaRPr>
                        </a:p>
                      </a:txBody>
                      <a:tcPr marL="95250" marR="95250" marT="47625" marB="47625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Outlines exactly how membership inference extracts precise sentence structures from dense vectors, mapped specifically to language models.</a:t>
                          </a:r>
                        </a:p>
                      </a:txBody>
                      <a:tcPr marL="95250" marR="95250" marT="47625" marB="47625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95250" marR="95250" marT="47625" marB="47625" anchor="ctr">
                        <a:blipFill>
                          <a:blip r:embed="rId3"/>
                          <a:stretch>
                            <a:fillRect l="-322561" t="-176119" r="-610" b="-2029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19704194"/>
                      </a:ext>
                    </a:extLst>
                  </a:tr>
                  <a:tr h="85095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19</a:t>
                          </a:r>
                        </a:p>
                      </a:txBody>
                      <a:tcPr marL="95250" marR="95250" marT="47625" marB="47625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000" i="1" dirty="0">
                              <a:effectLst/>
                            </a:rPr>
                            <a:t>Chen et al.</a:t>
                          </a:r>
                          <a:br>
                            <a:rPr lang="en-US" sz="1000" dirty="0">
                              <a:effectLst/>
                            </a:rPr>
                          </a:br>
                          <a:r>
                            <a:rPr lang="en-US" sz="1000" dirty="0">
                              <a:effectLst/>
                            </a:rPr>
                            <a:t>2023</a:t>
                          </a:r>
                        </a:p>
                      </a:txBody>
                      <a:tcPr marL="95250" marR="95250" marT="47625" marB="47625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000" b="1" dirty="0">
                              <a:effectLst/>
                            </a:rPr>
                            <a:t>Local Differential Privacy for Deep Learning and Edge Computing</a:t>
                          </a:r>
                          <a:br>
                            <a:rPr lang="en-US" sz="1000" dirty="0">
                              <a:effectLst/>
                            </a:rPr>
                          </a:br>
                          <a:endParaRPr lang="en-US" sz="1000" dirty="0">
                            <a:effectLst/>
                          </a:endParaRPr>
                        </a:p>
                      </a:txBody>
                      <a:tcPr marL="95250" marR="95250" marT="47625" marB="47625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Applies LDP to neural network gradient updates explicitly during the FL optimization passes.</a:t>
                          </a:r>
                        </a:p>
                      </a:txBody>
                      <a:tcPr marL="95250" marR="95250" marT="47625" marB="47625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000" dirty="0">
                              <a:effectLst/>
                            </a:rPr>
                            <a:t>Adding noise locally at every node severely damages the final global classification accuracy on complex datasets.</a:t>
                          </a:r>
                        </a:p>
                      </a:txBody>
                      <a:tcPr marL="95250" marR="95250" marT="47625" marB="47625" anchor="ctr"/>
                    </a:tc>
                    <a:extLst>
                      <a:ext uri="{0D108BD9-81ED-4DB2-BD59-A6C34878D82A}">
                        <a16:rowId xmlns:a16="http://schemas.microsoft.com/office/drawing/2014/main" val="1212984229"/>
                      </a:ext>
                    </a:extLst>
                  </a:tr>
                  <a:tr h="85095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20</a:t>
                          </a:r>
                        </a:p>
                      </a:txBody>
                      <a:tcPr marL="95250" marR="95250" marT="47625" marB="47625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000" i="1" dirty="0">
                              <a:effectLst/>
                            </a:rPr>
                            <a:t>Qiao et al.</a:t>
                          </a:r>
                          <a:br>
                            <a:rPr lang="en-US" sz="1000" dirty="0">
                              <a:effectLst/>
                            </a:rPr>
                          </a:br>
                          <a:r>
                            <a:rPr lang="en-US" sz="1000" dirty="0">
                              <a:effectLst/>
                            </a:rPr>
                            <a:t>2023</a:t>
                          </a:r>
                        </a:p>
                      </a:txBody>
                      <a:tcPr marL="95250" marR="95250" marT="47625" marB="47625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000" b="1" dirty="0">
                              <a:effectLst/>
                            </a:rPr>
                            <a:t>Generative Red Teaming: Integrating LLMs for Automated Pen Testing</a:t>
                          </a:r>
                          <a:br>
                            <a:rPr lang="en-US" sz="1000" dirty="0">
                              <a:effectLst/>
                            </a:rPr>
                          </a:br>
                          <a:endParaRPr lang="en-US" sz="1000" dirty="0">
                            <a:effectLst/>
                          </a:endParaRPr>
                        </a:p>
                      </a:txBody>
                      <a:tcPr marL="95250" marR="95250" marT="47625" marB="47625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000">
                              <a:effectLst/>
                            </a:rPr>
                            <a:t>Generates adversarial inputs programmatically via an LLM agent attempting to bypass validation logic.</a:t>
                          </a:r>
                        </a:p>
                      </a:txBody>
                      <a:tcPr marL="95250" marR="95250" marT="47625" marB="47625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000" dirty="0">
                              <a:effectLst/>
                            </a:rPr>
                            <a:t>Essential for "testing" immunity outputs, but the Generator agent can suffer from collapse and loop repeated test vectors.</a:t>
                          </a:r>
                        </a:p>
                      </a:txBody>
                      <a:tcPr marL="95250" marR="95250" marT="47625" marB="47625" anchor="ctr"/>
                    </a:tc>
                    <a:extLst>
                      <a:ext uri="{0D108BD9-81ED-4DB2-BD59-A6C34878D82A}">
                        <a16:rowId xmlns:a16="http://schemas.microsoft.com/office/drawing/2014/main" val="172538686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295320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2248C435-3BA2-3D78-223A-D921B0D78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>
            <a:extLst>
              <a:ext uri="{FF2B5EF4-FFF2-40B4-BE49-F238E27FC236}">
                <a16:creationId xmlns:a16="http://schemas.microsoft.com/office/drawing/2014/main" id="{20B9552F-2EA4-0B2C-BCAA-C5285B5F6C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9205" y="293405"/>
            <a:ext cx="4105141" cy="319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A2318AA-E4D6-CA62-1D28-21888DBD26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3203340"/>
              </p:ext>
            </p:extLst>
          </p:nvPr>
        </p:nvGraphicFramePr>
        <p:xfrm>
          <a:off x="311150" y="1325880"/>
          <a:ext cx="8521700" cy="1779270"/>
        </p:xfrm>
        <a:graphic>
          <a:graphicData uri="http://schemas.openxmlformats.org/drawingml/2006/table">
            <a:tbl>
              <a:tblPr/>
              <a:tblGrid>
                <a:gridCol w="1704340">
                  <a:extLst>
                    <a:ext uri="{9D8B030D-6E8A-4147-A177-3AD203B41FA5}">
                      <a16:colId xmlns:a16="http://schemas.microsoft.com/office/drawing/2014/main" val="2969245869"/>
                    </a:ext>
                  </a:extLst>
                </a:gridCol>
                <a:gridCol w="1704340">
                  <a:extLst>
                    <a:ext uri="{9D8B030D-6E8A-4147-A177-3AD203B41FA5}">
                      <a16:colId xmlns:a16="http://schemas.microsoft.com/office/drawing/2014/main" val="1178823323"/>
                    </a:ext>
                  </a:extLst>
                </a:gridCol>
                <a:gridCol w="1704340">
                  <a:extLst>
                    <a:ext uri="{9D8B030D-6E8A-4147-A177-3AD203B41FA5}">
                      <a16:colId xmlns:a16="http://schemas.microsoft.com/office/drawing/2014/main" val="2686729798"/>
                    </a:ext>
                  </a:extLst>
                </a:gridCol>
                <a:gridCol w="1704340">
                  <a:extLst>
                    <a:ext uri="{9D8B030D-6E8A-4147-A177-3AD203B41FA5}">
                      <a16:colId xmlns:a16="http://schemas.microsoft.com/office/drawing/2014/main" val="2827187041"/>
                    </a:ext>
                  </a:extLst>
                </a:gridCol>
                <a:gridCol w="1704340">
                  <a:extLst>
                    <a:ext uri="{9D8B030D-6E8A-4147-A177-3AD203B41FA5}">
                      <a16:colId xmlns:a16="http://schemas.microsoft.com/office/drawing/2014/main" val="408064842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Records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Attack Types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Source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Role in ACTIS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22346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NF-CSE-CIC-IDS2018-v2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~17M flows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DDoS, DoS, Brute Force, Web Attack, Infiltration, Botnet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Canadian Institute for Cybersecurity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Nodes A &amp; B (enterprise traffic)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06339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NF-BoT-IoT-v2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~30M flows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DDoS, DoS, Reconnaissance, Theft, Benign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UNSW Sydney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Nodes C &amp; D (IoT traffic)</a:t>
                      </a:r>
                    </a:p>
                  </a:txBody>
                  <a:tcPr marL="95250" marR="95250" marT="47625" marB="476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916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40172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303D71C0-83E8-CD31-C4F0-1A56EA2AF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6AD8E5-B649-4AAE-5C5D-7CAA93055127}"/>
              </a:ext>
            </a:extLst>
          </p:cNvPr>
          <p:cNvSpPr txBox="1"/>
          <p:nvPr/>
        </p:nvSpPr>
        <p:spPr>
          <a:xfrm>
            <a:off x="2286000" y="236425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altLang="en-US" sz="4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diagram of a system architecture&#10;&#10;AI-generated content may be incorrect.">
            <a:extLst>
              <a:ext uri="{FF2B5EF4-FFF2-40B4-BE49-F238E27FC236}">
                <a16:creationId xmlns:a16="http://schemas.microsoft.com/office/drawing/2014/main" id="{2C1A9724-33C8-DD83-7B5E-F2523E316F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626" t="13503" r="-153"/>
          <a:stretch>
            <a:fillRect/>
          </a:stretch>
        </p:blipFill>
        <p:spPr>
          <a:xfrm>
            <a:off x="2178995" y="1047368"/>
            <a:ext cx="4967591" cy="3859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399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5276F5F2-5D5E-A08B-C8DE-EBFA37032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>
            <a:extLst>
              <a:ext uri="{FF2B5EF4-FFF2-40B4-BE49-F238E27FC236}">
                <a16:creationId xmlns:a16="http://schemas.microsoft.com/office/drawing/2014/main" id="{3783AEA3-9515-2D8F-7E9E-AF340397A1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9429" y="117057"/>
            <a:ext cx="4105141" cy="381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53A3D6-939A-820A-0CA6-231902A5CE33}"/>
              </a:ext>
            </a:extLst>
          </p:cNvPr>
          <p:cNvSpPr txBox="1"/>
          <p:nvPr/>
        </p:nvSpPr>
        <p:spPr>
          <a:xfrm>
            <a:off x="179613" y="888746"/>
            <a:ext cx="8784771" cy="4253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Ingestion: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Data network flow records loaded from two Kaggle datasets </a:t>
            </a:r>
          </a:p>
          <a:p>
            <a:pPr lvl="1"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Partitioning: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Data split Non-IID across 4 nodes (A–D) using enterprise and IoT datasets to simulate real-world multi-org heterogeneity.</a:t>
            </a:r>
          </a:p>
          <a:p>
            <a:pPr lvl="1"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25 statistical features derived and added to expand the raw 41-feature vector to 66 dimensions for richer representation.</a:t>
            </a:r>
          </a:p>
          <a:p>
            <a:pPr lvl="1"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IDS Classification: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A 4-layer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DNN (66→256→128→64→N) trained with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BatchNorm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Dropout,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ReLU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stable, regularized intrusion detection.</a:t>
            </a:r>
          </a:p>
          <a:p>
            <a:pPr lvl="1"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Zero-Day Detection: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Separate autoencoders for TCP/UDP/ICMP use dual scoring (classifier uncertainty + reconstruction error) to flag anomalous traffic for escalation.</a:t>
            </a:r>
          </a:p>
          <a:p>
            <a:pPr lvl="1"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Only model weights are shared across 4 nodes over 10 rounds with Gaussian DP noise, continuously improving the global IDS.</a:t>
            </a:r>
          </a:p>
          <a:p>
            <a:pPr lvl="1" algn="just"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Immunity Engine Output: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Detected threats auto-generate Snort + iptables firewall rules that are instantly deployed to all federated nodes</a:t>
            </a:r>
          </a:p>
        </p:txBody>
      </p:sp>
    </p:spTree>
    <p:extLst>
      <p:ext uri="{BB962C8B-B14F-4D97-AF65-F5344CB8AC3E}">
        <p14:creationId xmlns:p14="http://schemas.microsoft.com/office/powerpoint/2010/main" val="1214853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3B33DCF7-0A4D-0E51-294A-A586643FD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>
            <a:extLst>
              <a:ext uri="{FF2B5EF4-FFF2-40B4-BE49-F238E27FC236}">
                <a16:creationId xmlns:a16="http://schemas.microsoft.com/office/drawing/2014/main" id="{6F84584F-F81F-2510-B39C-06D5D4560A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9429" y="117057"/>
            <a:ext cx="4105141" cy="381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details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BA5F50-8430-5D6F-4011-C75F3EC2BA26}"/>
              </a:ext>
            </a:extLst>
          </p:cNvPr>
          <p:cNvSpPr txBox="1"/>
          <p:nvPr/>
        </p:nvSpPr>
        <p:spPr>
          <a:xfrm>
            <a:off x="179613" y="888746"/>
            <a:ext cx="8784771" cy="3654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catches Zero-day attacks</a:t>
            </a:r>
          </a:p>
          <a:p>
            <a:pPr lvl="1" algn="just">
              <a:lnSpc>
                <a:spcPct val="150000"/>
              </a:lnSpc>
            </a:pPr>
            <a:r>
              <a:rPr lang="en-US" dirty="0"/>
              <a:t>A dual-signal anomaly detector that catches attacks the classifier has never seen.</a:t>
            </a:r>
          </a:p>
          <a:p>
            <a:pPr marL="2857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Confidence Score</a:t>
            </a:r>
            <a:r>
              <a:rPr lang="en-US" dirty="0"/>
              <a:t>: Measures entropy of the </a:t>
            </a:r>
            <a:r>
              <a:rPr lang="en-US" dirty="0" err="1"/>
              <a:t>softmax</a:t>
            </a:r>
            <a:r>
              <a:rPr lang="en-US" dirty="0"/>
              <a:t> output. High entropy = model is uncertain = possible unknown attack.</a:t>
            </a:r>
          </a:p>
          <a:p>
            <a:pPr marL="2857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Reconstruction Error</a:t>
            </a:r>
            <a:r>
              <a:rPr lang="en-US" dirty="0"/>
              <a:t>: Per-protocol autoencoders (TCP, UDP, ICMP) trained only on known traffic. Unknown attacks produce high reconstruction error because the autoencoder has never learned their patterns.</a:t>
            </a:r>
          </a:p>
          <a:p>
            <a:pPr lvl="1"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en-US" dirty="0"/>
              <a:t>Protocol-specific autoencoders - Example a UDP autoencoder distinguishes DDoS (malicious UDP floods) from normal UDP traffic far better than a single global autoencoder</a:t>
            </a:r>
          </a:p>
          <a:p>
            <a:pPr lvl="1" algn="just">
              <a:lnSpc>
                <a:spcPct val="15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7751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>
            <a:extLst>
              <a:ext uri="{FF2B5EF4-FFF2-40B4-BE49-F238E27FC236}">
                <a16:creationId xmlns:a16="http://schemas.microsoft.com/office/drawing/2014/main" id="{F2E7B7E9-21CB-4681-BDA3-90D7F3F4E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9427" y="155968"/>
            <a:ext cx="4105141" cy="381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altLang="en-US" sz="2400" dirty="0"/>
              <a:t>Implementation details</a:t>
            </a:r>
            <a:endParaRPr lang="en-US" altLang="en-US" sz="2400" dirty="0"/>
          </a:p>
        </p:txBody>
      </p:sp>
      <p:pic>
        <p:nvPicPr>
          <p:cNvPr id="3" name="Picture 2" descr="A diagram of a network&#10;&#10;AI-generated content may be incorrect.">
            <a:extLst>
              <a:ext uri="{FF2B5EF4-FFF2-40B4-BE49-F238E27FC236}">
                <a16:creationId xmlns:a16="http://schemas.microsoft.com/office/drawing/2014/main" id="{9E5F7923-524F-3BAA-B2B8-2407FDEA1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8591" y="1004207"/>
            <a:ext cx="3726815" cy="372681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378F74DC-7C4F-B44A-B3D7-C7ADC1EC7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>
            <a:extLst>
              <a:ext uri="{FF2B5EF4-FFF2-40B4-BE49-F238E27FC236}">
                <a16:creationId xmlns:a16="http://schemas.microsoft.com/office/drawing/2014/main" id="{580C465C-A0E1-3C6F-2F51-7B09D9D794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9427" y="155968"/>
            <a:ext cx="4105141" cy="381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IN" altLang="en-US" sz="2400" dirty="0"/>
              <a:t>Implementation details</a:t>
            </a:r>
            <a:endParaRPr lang="en-US" altLang="en-US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77962F-7BD6-787B-9007-693BDF6FD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3953" y="519177"/>
            <a:ext cx="4624323" cy="462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7661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D4D71527-7058-0260-C600-40E730810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>
            <a:extLst>
              <a:ext uri="{FF2B5EF4-FFF2-40B4-BE49-F238E27FC236}">
                <a16:creationId xmlns:a16="http://schemas.microsoft.com/office/drawing/2014/main" id="{E4A231EC-EB64-18B2-56C3-F7708FFFF7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7446" y="236994"/>
            <a:ext cx="4769108" cy="381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Experimental Results and Analysis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CF07E1-68D6-FD23-4A68-58771D9E64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1713" y="1025946"/>
            <a:ext cx="5300574" cy="34389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B0C8AD-F13C-566C-78F1-1223EEBE9E77}"/>
              </a:ext>
            </a:extLst>
          </p:cNvPr>
          <p:cNvSpPr txBox="1"/>
          <p:nvPr/>
        </p:nvSpPr>
        <p:spPr>
          <a:xfrm>
            <a:off x="180109" y="4710545"/>
            <a:ext cx="63353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Local only, FL w/o </a:t>
            </a:r>
            <a:r>
              <a:rPr lang="en-US" dirty="0" err="1"/>
              <a:t>Fedprox</a:t>
            </a:r>
            <a:r>
              <a:rPr lang="en-US" dirty="0"/>
              <a:t>, </a:t>
            </a:r>
            <a:r>
              <a:rPr lang="en-US" dirty="0" err="1"/>
              <a:t>FL+Fedprox</a:t>
            </a:r>
            <a:r>
              <a:rPr lang="en-US" dirty="0"/>
              <a:t>, FL+PII, Full(</a:t>
            </a:r>
            <a:r>
              <a:rPr lang="en-US" dirty="0" err="1"/>
              <a:t>FL+PII+RAG+Immunity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523546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608DF2FA-15D0-4F9C-D3FF-52F216DF95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>
            <a:extLst>
              <a:ext uri="{FF2B5EF4-FFF2-40B4-BE49-F238E27FC236}">
                <a16:creationId xmlns:a16="http://schemas.microsoft.com/office/drawing/2014/main" id="{D0C7F43F-1C8D-F8B4-1E1F-7261C65A8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7446" y="236994"/>
            <a:ext cx="4769108" cy="381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Experimental Results and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ECCDF0-BBF3-A9DE-145D-D74A35DBA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742" y="1930399"/>
            <a:ext cx="5794516" cy="2025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8510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>
            <a:extLst>
              <a:ext uri="{FF2B5EF4-FFF2-40B4-BE49-F238E27FC236}">
                <a16:creationId xmlns:a16="http://schemas.microsoft.com/office/drawing/2014/main" id="{D0AD732F-239F-0EA5-6D19-3656A8B7E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7446" y="236994"/>
            <a:ext cx="4769108" cy="3815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Experimental Results and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275603-4D2D-B879-73D1-C4FC243BA2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6671" y="907409"/>
            <a:ext cx="6450657" cy="4134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1590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D3359772-8823-5554-9170-A2E4DA5E5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>
            <a:extLst>
              <a:ext uri="{FF2B5EF4-FFF2-40B4-BE49-F238E27FC236}">
                <a16:creationId xmlns:a16="http://schemas.microsoft.com/office/drawing/2014/main" id="{08CBDA88-A70D-F2E9-FE1C-CAEC2DFDB2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6767" y="334966"/>
            <a:ext cx="5050466" cy="319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Conclusions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7CA973-138C-2A1E-5E8C-9C7956FAC80E}"/>
              </a:ext>
            </a:extLst>
          </p:cNvPr>
          <p:cNvSpPr txBox="1"/>
          <p:nvPr/>
        </p:nvSpPr>
        <p:spPr>
          <a:xfrm>
            <a:off x="199208" y="1198425"/>
            <a:ext cx="8993777" cy="23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Federated Learning improves IDS accuracy by 5–15% over local training without sharing any raw data between organizations.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Per-protocol autoencoders achieve 99.5% zero-day detection rate, outperforming Tri-LLM's 85.6%.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three-layer privacy pipeline guarantees 0% PII leakage with only 1% accuracy cost.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RAG-based intelligence sharing and auto-generated firewall rules enable herd immunity at zero accuracy penalty.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ACTIS is the first system to unify federated learning, zero-day detection, privacy preservation, and agentic RAG into one framework.</a:t>
            </a:r>
          </a:p>
        </p:txBody>
      </p:sp>
    </p:spTree>
    <p:extLst>
      <p:ext uri="{BB962C8B-B14F-4D97-AF65-F5344CB8AC3E}">
        <p14:creationId xmlns:p14="http://schemas.microsoft.com/office/powerpoint/2010/main" val="31355644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>
            <a:extLst>
              <a:ext uri="{FF2B5EF4-FFF2-40B4-BE49-F238E27FC236}">
                <a16:creationId xmlns:a16="http://schemas.microsoft.com/office/drawing/2014/main" id="{D0AD732F-239F-0EA5-6D19-3656A8B7E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6767" y="334966"/>
            <a:ext cx="5050466" cy="319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of work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F799AF-D704-1A6B-1C2D-90B2DAA479A7}"/>
              </a:ext>
            </a:extLst>
          </p:cNvPr>
          <p:cNvSpPr txBox="1"/>
          <p:nvPr/>
        </p:nvSpPr>
        <p:spPr>
          <a:xfrm>
            <a:off x="257991" y="1088042"/>
            <a:ext cx="8628017" cy="2644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 on live enterprise networks with SIEM integration (Splunk/Elastic) for production-grade monitoring.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 secure aggregation using homomorphic encryption so even the server cannot read individual weights.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Scale from 4 nodes to 100+ organizations with asynchronous federated learning and model compression.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Replace autoencoders with VAEs/GANs and add LSTM-based temporal analysis for multi-step attack detection.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locally hosted open-source LLMs (</a:t>
            </a:r>
            <a:r>
              <a:rPr lang="en-US" b="0" i="0" dirty="0" err="1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LLaMA</a:t>
            </a:r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3/Mistral) to eliminate API dependency and enable offline operation.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 threat reports on blockchain for tamper-proof auditability and reputation-based trust scoring.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Deploy lightweight models on edge devices (Raspberry Pi/Jetson) for IoT-specific real-time protection.</a:t>
            </a:r>
          </a:p>
        </p:txBody>
      </p:sp>
    </p:spTree>
    <p:extLst>
      <p:ext uri="{BB962C8B-B14F-4D97-AF65-F5344CB8AC3E}">
        <p14:creationId xmlns:p14="http://schemas.microsoft.com/office/powerpoint/2010/main" val="2988519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692862C0-58EE-2E32-2C60-99C37C774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ED5A8B2-39FB-AE52-C2AE-0CC447A6A067}"/>
              </a:ext>
            </a:extLst>
          </p:cNvPr>
          <p:cNvSpPr txBox="1"/>
          <p:nvPr/>
        </p:nvSpPr>
        <p:spPr>
          <a:xfrm>
            <a:off x="2007649" y="232756"/>
            <a:ext cx="53101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en-US" sz="2000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FB1390-F280-EE51-D533-F9EF31BE1985}"/>
              </a:ext>
            </a:extLst>
          </p:cNvPr>
          <p:cNvSpPr txBox="1"/>
          <p:nvPr/>
        </p:nvSpPr>
        <p:spPr>
          <a:xfrm>
            <a:off x="191579" y="940426"/>
            <a:ext cx="876084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Zhang, Y. Yang, et al., "Tri-LLM Cooperative Federated Zero-Shot Intrusion Detection with Semantic Disagreement and Trust-Aware Aggregation,"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arXiv:2602.00219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Jan 2026.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Anonymous,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ReGAIN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Retrieval-Grounded AI Framework for Network Traffic Analysis,"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arXiv:2512.22223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Dec 2025.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H. Yuan, H. Zheng, et al., "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CyberRAG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An Agentic RAG Cyber Attack Classification and Reporting Tool,"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arXiv:2507.02498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Sep 2025.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I. Tariq et al., "Federated Learning based Network Intrusion Detection using Unbalanced IoT Data,"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12, pp. 10452-10464, 2024.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Z. Wu, M. K. O. Lee et al., "Large Language Models in Cybersecurity: A Systematic Review,"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12, pp. 5042-5060, 2024.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Kim and Y. Cho, "Agent-Based Autonomous Threat Landscape Analysis using LLMs,"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Information Forensics and Security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early access, 2024.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Huang et al., "Evaluating the Privacy of Large Language Model Ecosystems,"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ACM Transactions on Privacy and Security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27, no. 1, 2024.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R. Wang et al., "Empowering Zero-Day Attack Discovery using Context-Aware Generative Pre-trained Transformers,"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Dependable and Secure Computing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21, no. 1, 2024.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 Lin et al., "PII Sanitization in Large Language Models: Methodologies, Datasets, and Challenges,"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Knowledge and Data Engineering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</a:p>
        </p:txBody>
      </p:sp>
    </p:spTree>
    <p:extLst>
      <p:ext uri="{BB962C8B-B14F-4D97-AF65-F5344CB8AC3E}">
        <p14:creationId xmlns:p14="http://schemas.microsoft.com/office/powerpoint/2010/main" val="7007943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D276B80F-E2FA-791C-015E-2F7212E65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6F24DD4-B67E-3879-1A3E-F479FB2D3384}"/>
              </a:ext>
            </a:extLst>
          </p:cNvPr>
          <p:cNvSpPr txBox="1"/>
          <p:nvPr/>
        </p:nvSpPr>
        <p:spPr>
          <a:xfrm>
            <a:off x="2027104" y="167010"/>
            <a:ext cx="531013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altLang="en-US" sz="2000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DADC33-0F40-1A25-FAAA-907B6EDB9FC0}"/>
              </a:ext>
            </a:extLst>
          </p:cNvPr>
          <p:cNvSpPr txBox="1"/>
          <p:nvPr/>
        </p:nvSpPr>
        <p:spPr>
          <a:xfrm>
            <a:off x="191579" y="940426"/>
            <a:ext cx="876084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J. P. Hu et al., "RAG-Sec: Enhancing Zero-Day Vulnerability Analysis using Retrieval-Augmented Generation,"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Information Forensics and Security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19, pp. 2481-2495, 2024.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Zhang, Y. Yang, et al., "Synergizing Federated Learning and Vector Databases for Decentralized Cyber Immunity Orchestration,"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Internet of Things Journal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11, np. 5, 2024.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 Chen et al., "A Federated Learning Approach to Network Intrusion Detection Systems,"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Information Forensics and Security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18, pp. 131-144, 2023.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M. Reynaud, A. Gupta et al., "Collaborative and Privacy-Preserving Intrusion Detection in Edge Computing: A Federated Learning Approach,"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Dependable and Secure Computing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20, no. 2, 2023.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Liu et al., "A Scalable and Privacy-Preserving Federated Learning Framework for Securing IoT Devices,"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Internet of Things Journal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10, no. 9, 2023.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Z. Zhao et al., "Federated Learning with Non-IID Data: A Survey,"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Neural Networks and Learning Systems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2023.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 Huang, L. Zhu, et al., "Dynamic Trust-Aware Federated Learning in Unreliable Environments,"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Information Forensics and Security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18, pp. 433-446, 2023.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 Wang, X. Huang, and Y. Dai, "Differentially Private Vector Embeddings for Secure Information Retrieval,"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 Transactions on Knowledge and Data Engineering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35, no. 4, 2023.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Y. Badi et al., "Quantifying and Mitigating Data Leakage in Vector Embeddings via Differential Privacy," 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ACM Transactions on Privacy and Security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26, no. 2, 2023.</a:t>
            </a:r>
          </a:p>
        </p:txBody>
      </p:sp>
    </p:spTree>
    <p:extLst>
      <p:ext uri="{BB962C8B-B14F-4D97-AF65-F5344CB8AC3E}">
        <p14:creationId xmlns:p14="http://schemas.microsoft.com/office/powerpoint/2010/main" val="2888372501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2658</TotalTime>
  <Words>3136</Words>
  <Application>Microsoft Macintosh PowerPoint</Application>
  <PresentationFormat>On-screen Show (16:9)</PresentationFormat>
  <Paragraphs>261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Cambria</vt:lpstr>
      <vt:lpstr>Cambria Math</vt:lpstr>
      <vt:lpstr>Playfair Display</vt:lpstr>
      <vt:lpstr>Times New Roman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Veerasagar</cp:lastModifiedBy>
  <cp:revision>30</cp:revision>
  <dcterms:modified xsi:type="dcterms:W3CDTF">2026-07-14T17:36:57Z</dcterms:modified>
</cp:coreProperties>
</file>